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y="5143500" cx="9144000"/>
  <p:notesSz cx="6858000" cy="9144000"/>
  <p:embeddedFontLst>
    <p:embeddedFont>
      <p:font typeface="Roboto Mono Light"/>
      <p:regular r:id="rId67"/>
      <p:bold r:id="rId68"/>
      <p:italic r:id="rId69"/>
      <p:boldItalic r:id="rId70"/>
    </p:embeddedFont>
    <p:embeddedFont>
      <p:font typeface="Roboto Mono ExtraLight"/>
      <p:regular r:id="rId71"/>
      <p:bold r:id="rId72"/>
      <p:italic r:id="rId73"/>
      <p:boldItalic r:id="rId74"/>
    </p:embeddedFont>
    <p:embeddedFont>
      <p:font typeface="Helvetica Neue"/>
      <p:regular r:id="rId75"/>
      <p:bold r:id="rId76"/>
      <p:italic r:id="rId77"/>
      <p:boldItalic r:id="rId78"/>
    </p:embeddedFont>
    <p:embeddedFont>
      <p:font typeface="Helvetica Neue Light"/>
      <p:regular r:id="rId79"/>
      <p:bold r:id="rId80"/>
      <p:italic r:id="rId81"/>
      <p:boldItalic r:id="rId82"/>
    </p:embeddedFont>
    <p:embeddedFont>
      <p:font typeface="Roboto Mono"/>
      <p:regular r:id="rId83"/>
      <p:bold r:id="rId84"/>
      <p:italic r:id="rId85"/>
      <p:boldItalic r:id="rId86"/>
    </p:embeddedFont>
    <p:embeddedFont>
      <p:font typeface="Cutive"/>
      <p:regular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ulien Mantea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4B28DB-4BC7-46AB-893A-5D1E6F475B14}">
  <a:tblStyle styleId="{814B28DB-4BC7-46AB-893A-5D1E6F475B1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86C7CE7-5CE3-414C-9FC1-9623DBE3C8F6}"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RobotoMono-bold.fntdata"/><Relationship Id="rId83" Type="http://schemas.openxmlformats.org/officeDocument/2006/relationships/font" Target="fonts/RobotoMono-regular.fntdata"/><Relationship Id="rId42" Type="http://schemas.openxmlformats.org/officeDocument/2006/relationships/slide" Target="slides/slide35.xml"/><Relationship Id="rId86" Type="http://schemas.openxmlformats.org/officeDocument/2006/relationships/font" Target="fonts/RobotoMono-boldItalic.fntdata"/><Relationship Id="rId41" Type="http://schemas.openxmlformats.org/officeDocument/2006/relationships/slide" Target="slides/slide34.xml"/><Relationship Id="rId85" Type="http://schemas.openxmlformats.org/officeDocument/2006/relationships/font" Target="fonts/RobotoMono-italic.fntdata"/><Relationship Id="rId44" Type="http://schemas.openxmlformats.org/officeDocument/2006/relationships/slide" Target="slides/slide37.xml"/><Relationship Id="rId43" Type="http://schemas.openxmlformats.org/officeDocument/2006/relationships/slide" Target="slides/slide36.xml"/><Relationship Id="rId87" Type="http://schemas.openxmlformats.org/officeDocument/2006/relationships/font" Target="fonts/Cutive-regular.fntdata"/><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HelveticaNeueLight-bold.fntdata"/><Relationship Id="rId82" Type="http://schemas.openxmlformats.org/officeDocument/2006/relationships/font" Target="fonts/HelveticaNeueLight-boldItalic.fntdata"/><Relationship Id="rId81" Type="http://schemas.openxmlformats.org/officeDocument/2006/relationships/font" Target="fonts/HelveticaNeue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MonoExtraLight-italic.fntdata"/><Relationship Id="rId72" Type="http://schemas.openxmlformats.org/officeDocument/2006/relationships/font" Target="fonts/RobotoMonoExtraLight-bold.fntdata"/><Relationship Id="rId31" Type="http://schemas.openxmlformats.org/officeDocument/2006/relationships/slide" Target="slides/slide24.xml"/><Relationship Id="rId75" Type="http://schemas.openxmlformats.org/officeDocument/2006/relationships/font" Target="fonts/HelveticaNeue-regular.fntdata"/><Relationship Id="rId30" Type="http://schemas.openxmlformats.org/officeDocument/2006/relationships/slide" Target="slides/slide23.xml"/><Relationship Id="rId74" Type="http://schemas.openxmlformats.org/officeDocument/2006/relationships/font" Target="fonts/RobotoMonoExtraLight-boldItalic.fntdata"/><Relationship Id="rId33" Type="http://schemas.openxmlformats.org/officeDocument/2006/relationships/slide" Target="slides/slide26.xml"/><Relationship Id="rId77" Type="http://schemas.openxmlformats.org/officeDocument/2006/relationships/font" Target="fonts/HelveticaNeue-italic.fntdata"/><Relationship Id="rId32" Type="http://schemas.openxmlformats.org/officeDocument/2006/relationships/slide" Target="slides/slide25.xml"/><Relationship Id="rId76" Type="http://schemas.openxmlformats.org/officeDocument/2006/relationships/font" Target="fonts/HelveticaNeue-bold.fntdata"/><Relationship Id="rId35" Type="http://schemas.openxmlformats.org/officeDocument/2006/relationships/slide" Target="slides/slide28.xml"/><Relationship Id="rId79" Type="http://schemas.openxmlformats.org/officeDocument/2006/relationships/font" Target="fonts/HelveticaNeueLight-regular.fntdata"/><Relationship Id="rId34" Type="http://schemas.openxmlformats.org/officeDocument/2006/relationships/slide" Target="slides/slide27.xml"/><Relationship Id="rId78" Type="http://schemas.openxmlformats.org/officeDocument/2006/relationships/font" Target="fonts/HelveticaNeue-boldItalic.fntdata"/><Relationship Id="rId71" Type="http://schemas.openxmlformats.org/officeDocument/2006/relationships/font" Target="fonts/RobotoMonoExtraLight-regular.fntdata"/><Relationship Id="rId70" Type="http://schemas.openxmlformats.org/officeDocument/2006/relationships/font" Target="fonts/RobotoMonoLight-bol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font" Target="fonts/RobotoMonoLight-bold.fntdata"/><Relationship Id="rId23" Type="http://schemas.openxmlformats.org/officeDocument/2006/relationships/slide" Target="slides/slide16.xml"/><Relationship Id="rId67" Type="http://schemas.openxmlformats.org/officeDocument/2006/relationships/font" Target="fonts/RobotoMonoLight-regular.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RobotoMonoLight-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25T08:32:19.319">
    <p:pos x="6000" y="0"/>
    <p:text>add NS IP link dexcription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example.com"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example.com"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10b883c7ae_1_0: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10b883c7ae_1_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10b883c7ae_1_66: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310b883c7ae_1_66: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g310b883c7ae_1_66: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0b883c7ae_1_23: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310b883c7ae_1_23: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10b883c7ae_1_72:notes"/>
          <p:cNvSpPr/>
          <p:nvPr>
            <p:ph idx="2" type="sldImg"/>
          </p:nvPr>
        </p:nvSpPr>
        <p:spPr>
          <a:xfrm>
            <a:off x="381300" y="685800"/>
            <a:ext cx="6095925" cy="3429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10b883c7ae_1_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10b883c7ae_1_98: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10b883c7ae_1_98: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310b883c7ae_1_98: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0b883c7ae_1_116: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10b883c7ae_1_116: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g310b883c7ae_1_116: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0b883c7ae_1_122: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10b883c7ae_1_122: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10b883c7ae_1_122: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0b883c7ae_1_135: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10b883c7ae_1_135: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10b883c7ae_1_135: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0b883c7ae_1_142: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10b883c7ae_1_142: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g310b883c7ae_1_142: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10b883c7ae_1_187: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10b883c7ae_1_187: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g310b883c7ae_1_187: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0b883c7ae_1_194: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10b883c7ae_1_194: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g310b883c7ae_1_194: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0b883c7ae_0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10b883c7ae_0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10b883c7ae_1_202: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10b883c7ae_1_202: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g310b883c7ae_1_202: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10b883c7ae_1_238: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10b883c7ae_1_238: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330200" lvl="0" marL="457200" rtl="0" algn="l">
              <a:lnSpc>
                <a:spcPct val="115000"/>
              </a:lnSpc>
              <a:spcBef>
                <a:spcPts val="1200"/>
              </a:spcBef>
              <a:spcAft>
                <a:spcPts val="0"/>
              </a:spcAft>
              <a:buClr>
                <a:schemeClr val="dk1"/>
              </a:buClr>
              <a:buSzPts val="1600"/>
              <a:buFont typeface="Helvetica Neue"/>
              <a:buChar char="•"/>
            </a:pPr>
            <a:r>
              <a:rPr lang="fr" sz="1600">
                <a:highlight>
                  <a:schemeClr val="lt1"/>
                </a:highlight>
                <a:latin typeface="Helvetica Neue"/>
                <a:ea typeface="Helvetica Neue"/>
                <a:cs typeface="Helvetica Neue"/>
                <a:sym typeface="Helvetica Neue"/>
              </a:rPr>
              <a:t>Root domain is the highest domain : “.”</a:t>
            </a:r>
            <a:endParaRPr sz="1600">
              <a:highlight>
                <a:schemeClr val="lt1"/>
              </a:highlight>
              <a:latin typeface="Helvetica Neue"/>
              <a:ea typeface="Helvetica Neue"/>
              <a:cs typeface="Helvetica Neue"/>
              <a:sym typeface="Helvetica Neue"/>
            </a:endParaRPr>
          </a:p>
          <a:p>
            <a:pPr indent="-330200" lvl="0" marL="457200" rtl="0" algn="l">
              <a:lnSpc>
                <a:spcPct val="115000"/>
              </a:lnSpc>
              <a:spcBef>
                <a:spcPts val="0"/>
              </a:spcBef>
              <a:spcAft>
                <a:spcPts val="0"/>
              </a:spcAft>
              <a:buClr>
                <a:schemeClr val="dk1"/>
              </a:buClr>
              <a:buSzPts val="1600"/>
              <a:buFont typeface="Helvetica Neue"/>
              <a:buChar char="•"/>
            </a:pPr>
            <a:r>
              <a:rPr lang="fr" sz="1600">
                <a:latin typeface="Helvetica Neue"/>
                <a:ea typeface="Helvetica Neue"/>
                <a:cs typeface="Helvetica Neue"/>
                <a:sym typeface="Helvetica Neue"/>
              </a:rPr>
              <a:t>A </a:t>
            </a:r>
            <a:r>
              <a:rPr b="1" lang="fr" sz="1600">
                <a:latin typeface="Helvetica Neue"/>
                <a:ea typeface="Helvetica Neue"/>
                <a:cs typeface="Helvetica Neue"/>
                <a:sym typeface="Helvetica Neue"/>
              </a:rPr>
              <a:t>top-level domain</a:t>
            </a:r>
            <a:r>
              <a:rPr lang="fr" sz="1600">
                <a:latin typeface="Helvetica Neue"/>
                <a:ea typeface="Helvetica Neue"/>
                <a:cs typeface="Helvetica Neue"/>
                <a:sym typeface="Helvetica Neue"/>
              </a:rPr>
              <a:t>, or </a:t>
            </a:r>
            <a:r>
              <a:rPr b="1" lang="fr" sz="1600">
                <a:latin typeface="Helvetica Neue"/>
                <a:ea typeface="Helvetica Neue"/>
                <a:cs typeface="Helvetica Neue"/>
                <a:sym typeface="Helvetica Neue"/>
              </a:rPr>
              <a:t>TLD</a:t>
            </a:r>
            <a:r>
              <a:rPr lang="fr" sz="1600">
                <a:latin typeface="Helvetica Neue"/>
                <a:ea typeface="Helvetica Neue"/>
                <a:cs typeface="Helvetica Neue"/>
                <a:sym typeface="Helvetica Neue"/>
              </a:rPr>
              <a:t>, is the most general part of the domain. The top-level domain is the furthest portion to the right (as separated by a dot)</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Clr>
                <a:schemeClr val="dk1"/>
              </a:buClr>
              <a:buSzPts val="1600"/>
              <a:buFont typeface="Helvetica Neue"/>
              <a:buChar char="•"/>
            </a:pPr>
            <a:r>
              <a:rPr lang="fr" sz="1600">
                <a:latin typeface="Helvetica Neue"/>
                <a:ea typeface="Helvetica Neue"/>
                <a:cs typeface="Helvetica Neue"/>
                <a:sym typeface="Helvetica Neue"/>
              </a:rPr>
              <a:t>A “</a:t>
            </a:r>
            <a:r>
              <a:rPr b="1" lang="fr" sz="1600">
                <a:latin typeface="Helvetica Neue"/>
                <a:ea typeface="Helvetica Neue"/>
                <a:cs typeface="Helvetica Neue"/>
                <a:sym typeface="Helvetica Neue"/>
              </a:rPr>
              <a:t>subdomain</a:t>
            </a:r>
            <a:r>
              <a:rPr lang="fr" sz="1600">
                <a:latin typeface="Helvetica Neue"/>
                <a:ea typeface="Helvetica Neue"/>
                <a:cs typeface="Helvetica Neue"/>
                <a:sym typeface="Helvetica Neue"/>
              </a:rPr>
              <a:t>” refers to any domain that is part of a larger domain. In this case, “amazon.com” can be said to be a subdomain of “com”. This is typically just called the domain or the “amazon” portion is called a </a:t>
            </a:r>
            <a:r>
              <a:rPr b="1" lang="fr" sz="1600">
                <a:latin typeface="Helvetica Neue"/>
                <a:ea typeface="Helvetica Neue"/>
                <a:cs typeface="Helvetica Neue"/>
                <a:sym typeface="Helvetica Neue"/>
              </a:rPr>
              <a:t>SLD</a:t>
            </a:r>
            <a:r>
              <a:rPr lang="fr" sz="1600">
                <a:latin typeface="Helvetica Neue"/>
                <a:ea typeface="Helvetica Neue"/>
                <a:cs typeface="Helvetica Neue"/>
                <a:sym typeface="Helvetica Neue"/>
              </a:rPr>
              <a:t>, which means second level domain. DNS works in a hierarchy. Each domain can control “subdomains” that are located under it. This is usually what we mean by subdomains. The difference between a host name and a subdomain is that a host defines a computer or resource, while a subdomain extends the parent domain. It is a method of subdividing the domain itself.</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Clr>
                <a:schemeClr val="dk1"/>
              </a:buClr>
              <a:buSzPts val="1600"/>
              <a:buFont typeface="Helvetica Neue"/>
              <a:buChar char="•"/>
            </a:pPr>
            <a:r>
              <a:rPr lang="fr" sz="1600">
                <a:latin typeface="Helvetica Neue"/>
                <a:ea typeface="Helvetica Neue"/>
                <a:cs typeface="Helvetica Neue"/>
                <a:sym typeface="Helvetica Neue"/>
              </a:rPr>
              <a:t>Within a domain, the domain owner can define individual </a:t>
            </a:r>
            <a:r>
              <a:rPr b="1" lang="fr" sz="1600">
                <a:latin typeface="Helvetica Neue"/>
                <a:ea typeface="Helvetica Neue"/>
                <a:cs typeface="Helvetica Neue"/>
                <a:sym typeface="Helvetica Neue"/>
              </a:rPr>
              <a:t>hosts</a:t>
            </a:r>
            <a:r>
              <a:rPr lang="fr" sz="1600">
                <a:latin typeface="Helvetica Neue"/>
                <a:ea typeface="Helvetica Neue"/>
                <a:cs typeface="Helvetica Neue"/>
                <a:sym typeface="Helvetica Neue"/>
              </a:rPr>
              <a:t>, which refer to separate computers or services accessible under a domain</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Clr>
                <a:schemeClr val="dk1"/>
              </a:buClr>
              <a:buSzPts val="1600"/>
              <a:buFont typeface="Helvetica Neue"/>
              <a:buChar char="•"/>
            </a:pPr>
            <a:r>
              <a:rPr lang="fr" sz="1600">
                <a:latin typeface="Helvetica Neue"/>
                <a:ea typeface="Helvetica Neue"/>
                <a:cs typeface="Helvetica Neue"/>
                <a:sym typeface="Helvetica Neue"/>
              </a:rPr>
              <a:t>A </a:t>
            </a:r>
            <a:r>
              <a:rPr b="1" lang="fr" sz="1600">
                <a:latin typeface="Helvetica Neue"/>
                <a:ea typeface="Helvetica Neue"/>
                <a:cs typeface="Helvetica Neue"/>
                <a:sym typeface="Helvetica Neue"/>
              </a:rPr>
              <a:t>Fully Qualified Domain Name </a:t>
            </a:r>
            <a:r>
              <a:rPr lang="fr" sz="1600">
                <a:latin typeface="Helvetica Neue"/>
                <a:ea typeface="Helvetica Neue"/>
                <a:cs typeface="Helvetica Neue"/>
                <a:sym typeface="Helvetica Neue"/>
              </a:rPr>
              <a:t>is an absolute name that specifies its location in relation to the absolute root of the domain name system. This means that it specifies each parent domain including the TLD. </a:t>
            </a:r>
            <a:r>
              <a:rPr b="1" lang="fr" sz="1600">
                <a:latin typeface="Helvetica Neue"/>
                <a:ea typeface="Helvetica Neue"/>
                <a:cs typeface="Helvetica Neue"/>
                <a:sym typeface="Helvetica Neue"/>
              </a:rPr>
              <a:t>A proper FQDN ends with a dot</a:t>
            </a:r>
            <a:r>
              <a:rPr lang="fr" sz="1600">
                <a:latin typeface="Helvetica Neue"/>
                <a:ea typeface="Helvetica Neue"/>
                <a:cs typeface="Helvetica Neue"/>
                <a:sym typeface="Helvetica Neue"/>
              </a:rPr>
              <a:t>, indicating the root of the DNS hierarchy. </a:t>
            </a:r>
            <a:endParaRPr sz="1600">
              <a:latin typeface="Helvetica Neue"/>
              <a:ea typeface="Helvetica Neue"/>
              <a:cs typeface="Helvetica Neue"/>
              <a:sym typeface="Helvetica Neue"/>
            </a:endParaRPr>
          </a:p>
          <a:p>
            <a:pPr indent="0" lvl="0" marL="0" rtl="0" algn="l">
              <a:lnSpc>
                <a:spcPct val="100000"/>
              </a:lnSpc>
              <a:spcBef>
                <a:spcPts val="1200"/>
              </a:spcBef>
              <a:spcAft>
                <a:spcPts val="0"/>
              </a:spcAft>
              <a:buSzPts val="1400"/>
              <a:buNone/>
            </a:pPr>
            <a:r>
              <a:t/>
            </a:r>
            <a:endParaRPr/>
          </a:p>
        </p:txBody>
      </p:sp>
      <p:sp>
        <p:nvSpPr>
          <p:cNvPr id="311" name="Google Shape;311;g310b883c7ae_1_238: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0b883c7ae_1_250: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10b883c7ae_1_250: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10b883c7ae_1_250: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10b883c7ae_1_296: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10b883c7ae_1_296: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g310b883c7ae_1_296: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10b883c7ae_1_305: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10b883c7ae_1_305: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310b883c7ae_1_305: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10b883c7ae_1_315: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10b883c7ae_1_315: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304800" lvl="0" marL="457200" rtl="0" algn="l">
              <a:lnSpc>
                <a:spcPct val="150000"/>
              </a:lnSpc>
              <a:spcBef>
                <a:spcPts val="1200"/>
              </a:spcBef>
              <a:spcAft>
                <a:spcPts val="0"/>
              </a:spcAft>
              <a:buClr>
                <a:schemeClr val="dk1"/>
              </a:buClr>
              <a:buSzPts val="1200"/>
              <a:buFont typeface="Helvetica Neue"/>
              <a:buChar char="•"/>
            </a:pPr>
            <a:r>
              <a:rPr lang="fr">
                <a:latin typeface="Helvetica Neue"/>
                <a:ea typeface="Helvetica Neue"/>
                <a:cs typeface="Helvetica Neue"/>
                <a:sym typeface="Helvetica Neue"/>
              </a:rPr>
              <a:t>A </a:t>
            </a:r>
            <a:r>
              <a:rPr b="1" lang="fr">
                <a:latin typeface="Helvetica Neue"/>
                <a:ea typeface="Helvetica Neue"/>
                <a:cs typeface="Helvetica Neue"/>
                <a:sym typeface="Helvetica Neue"/>
              </a:rPr>
              <a:t>Recursive DNS resolver </a:t>
            </a:r>
            <a:r>
              <a:rPr lang="fr">
                <a:latin typeface="Helvetica Neue"/>
                <a:ea typeface="Helvetica Neue"/>
                <a:cs typeface="Helvetica Neue"/>
                <a:sym typeface="Helvetica Neue"/>
              </a:rPr>
              <a:t>responds to a recursive request from a client and takes the time to track down the DNS record (like a librarian fetching a book for a client querying it with its identifier) </a:t>
            </a:r>
            <a:endParaRPr>
              <a:latin typeface="Helvetica Neue"/>
              <a:ea typeface="Helvetica Neue"/>
              <a:cs typeface="Helvetica Neue"/>
              <a:sym typeface="Helvetica Neue"/>
            </a:endParaRPr>
          </a:p>
          <a:p>
            <a:pPr indent="-304800" lvl="0" marL="457200" rtl="0" algn="l">
              <a:lnSpc>
                <a:spcPct val="150000"/>
              </a:lnSpc>
              <a:spcBef>
                <a:spcPts val="0"/>
              </a:spcBef>
              <a:spcAft>
                <a:spcPts val="0"/>
              </a:spcAft>
              <a:buClr>
                <a:schemeClr val="dk1"/>
              </a:buClr>
              <a:buSzPts val="1200"/>
              <a:buFont typeface="Helvetica Neue"/>
              <a:buChar char="•"/>
            </a:pPr>
            <a:r>
              <a:rPr b="1" lang="fr">
                <a:latin typeface="Helvetica Neue"/>
                <a:ea typeface="Helvetica Neue"/>
                <a:cs typeface="Helvetica Neue"/>
                <a:sym typeface="Helvetica Neue"/>
              </a:rPr>
              <a:t>Root nameserver</a:t>
            </a:r>
            <a:r>
              <a:rPr lang="fr">
                <a:latin typeface="Helvetica Neue"/>
                <a:ea typeface="Helvetica Neue"/>
                <a:cs typeface="Helvetica Neue"/>
                <a:sym typeface="Helvetica Neue"/>
              </a:rPr>
              <a:t> is the first step in translating (resolving) human readable host names into IP addresses. It can be thought of like an index in a library that points to a room with different racks of books.</a:t>
            </a:r>
            <a:endParaRPr>
              <a:latin typeface="Helvetica Neue"/>
              <a:ea typeface="Helvetica Neue"/>
              <a:cs typeface="Helvetica Neue"/>
              <a:sym typeface="Helvetica Neue"/>
            </a:endParaRPr>
          </a:p>
          <a:p>
            <a:pPr indent="-304800" lvl="0" marL="457200" rtl="0" algn="l">
              <a:lnSpc>
                <a:spcPct val="150000"/>
              </a:lnSpc>
              <a:spcBef>
                <a:spcPts val="0"/>
              </a:spcBef>
              <a:spcAft>
                <a:spcPts val="0"/>
              </a:spcAft>
              <a:buClr>
                <a:schemeClr val="dk1"/>
              </a:buClr>
              <a:buSzPts val="1200"/>
              <a:buFont typeface="Helvetica Neue"/>
              <a:buChar char="•"/>
            </a:pPr>
            <a:r>
              <a:rPr b="1" lang="fr">
                <a:latin typeface="Helvetica Neue"/>
                <a:ea typeface="Helvetica Neue"/>
                <a:cs typeface="Helvetica Neue"/>
                <a:sym typeface="Helvetica Neue"/>
              </a:rPr>
              <a:t>TLD nameserver</a:t>
            </a:r>
            <a:r>
              <a:rPr lang="fr">
                <a:latin typeface="Helvetica Neue"/>
                <a:ea typeface="Helvetica Neue"/>
                <a:cs typeface="Helvetica Neue"/>
                <a:sym typeface="Helvetica Neue"/>
              </a:rPr>
              <a:t> can be thought of as finding a specific rack of books in a library. This nameserver is the next step in the search for a specific IP address.</a:t>
            </a:r>
            <a:endParaRPr>
              <a:latin typeface="Helvetica Neue"/>
              <a:ea typeface="Helvetica Neue"/>
              <a:cs typeface="Helvetica Neue"/>
              <a:sym typeface="Helvetica Neue"/>
            </a:endParaRPr>
          </a:p>
          <a:p>
            <a:pPr indent="-304800" lvl="0" marL="457200" rtl="0" algn="l">
              <a:lnSpc>
                <a:spcPct val="150000"/>
              </a:lnSpc>
              <a:spcBef>
                <a:spcPts val="0"/>
              </a:spcBef>
              <a:spcAft>
                <a:spcPts val="0"/>
              </a:spcAft>
              <a:buClr>
                <a:schemeClr val="dk1"/>
              </a:buClr>
              <a:buSzPts val="1200"/>
              <a:buFont typeface="Helvetica Neue"/>
              <a:buChar char="•"/>
            </a:pPr>
            <a:r>
              <a:rPr b="1" lang="fr">
                <a:latin typeface="Helvetica Neue"/>
                <a:ea typeface="Helvetica Neue"/>
                <a:cs typeface="Helvetica Neue"/>
                <a:sym typeface="Helvetica Neue"/>
              </a:rPr>
              <a:t>Authoritative nameserver</a:t>
            </a:r>
            <a:r>
              <a:rPr lang="fr">
                <a:latin typeface="Helvetica Neue"/>
                <a:ea typeface="Helvetica Neue"/>
                <a:cs typeface="Helvetica Neue"/>
                <a:sym typeface="Helvetica Neue"/>
              </a:rPr>
              <a:t> - This final nameserver can be thought of as a dictionary on a rack of books, in which a specific name can be translated into its definition. The authoritative nameserver is the last stop in the nameserver query. If the authoritative name server has access to the requested record, it will return the IP address for the requested hostname back to the DNS Recursor (the librarian) that made the initial request.	</a:t>
            </a:r>
            <a:endParaRPr/>
          </a:p>
        </p:txBody>
      </p:sp>
      <p:sp>
        <p:nvSpPr>
          <p:cNvPr id="383" name="Google Shape;383;g310b883c7ae_1_315: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10b883c7ae_1_321: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10b883c7ae_1_321: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g310b883c7ae_1_321: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10b883c7ae_1_327: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g310b883c7ae_1_327: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g310b883c7ae_1_327: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10b883c7ae_1_335: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310b883c7ae_1_335: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1200"/>
              </a:spcBef>
              <a:spcAft>
                <a:spcPts val="0"/>
              </a:spcAft>
              <a:buClr>
                <a:schemeClr val="dk1"/>
              </a:buClr>
              <a:buSzPts val="1200"/>
              <a:buChar char="●"/>
            </a:pPr>
            <a:r>
              <a:rPr b="1" lang="fr">
                <a:latin typeface="Arial"/>
                <a:ea typeface="Arial"/>
                <a:cs typeface="Arial"/>
                <a:sym typeface="Arial"/>
              </a:rPr>
              <a:t>A or AAAA Record:</a:t>
            </a:r>
            <a:r>
              <a:rPr lang="fr">
                <a:latin typeface="Arial"/>
                <a:ea typeface="Arial"/>
                <a:cs typeface="Arial"/>
                <a:sym typeface="Arial"/>
              </a:rPr>
              <a:t> Your A records should be set to a faster pace TTL as IP address lookups can change frequently if usage of CDN. A standard baseline would be around the 1-hour mark but may need to be adjusted depending on how often changes need to be made on an emergency basis (30 seconds in case of rapid change).</a:t>
            </a:r>
            <a:endParaRPr>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fr">
                <a:latin typeface="Arial"/>
                <a:ea typeface="Arial"/>
                <a:cs typeface="Arial"/>
                <a:sym typeface="Arial"/>
              </a:rPr>
              <a:t>CNAME Record:</a:t>
            </a:r>
            <a:r>
              <a:rPr lang="fr">
                <a:latin typeface="Arial"/>
                <a:ea typeface="Arial"/>
                <a:cs typeface="Arial"/>
                <a:sym typeface="Arial"/>
              </a:rPr>
              <a:t> Your main website URL, for example (</a:t>
            </a:r>
            <a:r>
              <a:rPr lang="fr" u="sng">
                <a:solidFill>
                  <a:schemeClr val="hlink"/>
                </a:solidFill>
                <a:latin typeface="Arial"/>
                <a:ea typeface="Arial"/>
                <a:cs typeface="Arial"/>
                <a:sym typeface="Arial"/>
                <a:hlinkClick r:id="rId2"/>
              </a:rPr>
              <a:t>www.example.com</a:t>
            </a:r>
            <a:r>
              <a:rPr lang="fr">
                <a:latin typeface="Arial"/>
                <a:ea typeface="Arial"/>
                <a:cs typeface="Arial"/>
                <a:sym typeface="Arial"/>
              </a:rPr>
              <a:t>), should usually never change. It is recommended that you set your TTL for something longer than the average session time (for example 10 min).</a:t>
            </a:r>
            <a:endParaRPr>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fr">
                <a:latin typeface="Arial"/>
                <a:ea typeface="Arial"/>
                <a:cs typeface="Arial"/>
                <a:sym typeface="Arial"/>
              </a:rPr>
              <a:t>TXT Record:</a:t>
            </a:r>
            <a:r>
              <a:rPr lang="fr">
                <a:latin typeface="Arial"/>
                <a:ea typeface="Arial"/>
                <a:cs typeface="Arial"/>
                <a:sym typeface="Arial"/>
              </a:rPr>
              <a:t> Widely used for DKIM records, email security and verifying domain ownership. TXT records are rarely changed so anywhere within the 1 – 12-hour timeframe should suffice.</a:t>
            </a:r>
            <a:endParaRPr>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fr">
                <a:latin typeface="Arial"/>
                <a:ea typeface="Arial"/>
                <a:cs typeface="Arial"/>
                <a:sym typeface="Arial"/>
              </a:rPr>
              <a:t>MX Record:</a:t>
            </a:r>
            <a:r>
              <a:rPr lang="fr">
                <a:latin typeface="Arial"/>
                <a:ea typeface="Arial"/>
                <a:cs typeface="Arial"/>
                <a:sym typeface="Arial"/>
              </a:rPr>
              <a:t> Your mail exchange TTL can be set between the 12-24 hour range, but you may want to consider placing it lower in case of emergencies; somewhere in the 1-4 hour range would be useful as well.</a:t>
            </a:r>
            <a:endParaRPr/>
          </a:p>
        </p:txBody>
      </p:sp>
      <p:sp>
        <p:nvSpPr>
          <p:cNvPr id="406" name="Google Shape;406;g310b883c7ae_1_335: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10b883c7ae_1_343: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10b883c7ae_1_343: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1200"/>
              </a:spcBef>
              <a:spcAft>
                <a:spcPts val="0"/>
              </a:spcAft>
              <a:buClr>
                <a:schemeClr val="dk1"/>
              </a:buClr>
              <a:buSzPts val="1200"/>
              <a:buChar char="●"/>
            </a:pPr>
            <a:r>
              <a:rPr b="1" lang="fr">
                <a:latin typeface="Arial"/>
                <a:ea typeface="Arial"/>
                <a:cs typeface="Arial"/>
                <a:sym typeface="Arial"/>
              </a:rPr>
              <a:t>A or AAAA Record:</a:t>
            </a:r>
            <a:r>
              <a:rPr lang="fr">
                <a:latin typeface="Arial"/>
                <a:ea typeface="Arial"/>
                <a:cs typeface="Arial"/>
                <a:sym typeface="Arial"/>
              </a:rPr>
              <a:t> Your A records should be set to a faster pace TTL as IP address lookups can change frequently if usage of CDN. A standard baseline would be around the 1-hour mark but may need to be adjusted depending on how often changes need to be made on an emergency basis (30 seconds in case of rapid change).</a:t>
            </a:r>
            <a:endParaRPr>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fr">
                <a:latin typeface="Arial"/>
                <a:ea typeface="Arial"/>
                <a:cs typeface="Arial"/>
                <a:sym typeface="Arial"/>
              </a:rPr>
              <a:t>CNAME Record:</a:t>
            </a:r>
            <a:r>
              <a:rPr lang="fr">
                <a:latin typeface="Arial"/>
                <a:ea typeface="Arial"/>
                <a:cs typeface="Arial"/>
                <a:sym typeface="Arial"/>
              </a:rPr>
              <a:t> Your main website URL, for example (</a:t>
            </a:r>
            <a:r>
              <a:rPr lang="fr" u="sng">
                <a:solidFill>
                  <a:schemeClr val="hlink"/>
                </a:solidFill>
                <a:latin typeface="Arial"/>
                <a:ea typeface="Arial"/>
                <a:cs typeface="Arial"/>
                <a:sym typeface="Arial"/>
                <a:hlinkClick r:id="rId2"/>
              </a:rPr>
              <a:t>www.example.com</a:t>
            </a:r>
            <a:r>
              <a:rPr lang="fr">
                <a:latin typeface="Arial"/>
                <a:ea typeface="Arial"/>
                <a:cs typeface="Arial"/>
                <a:sym typeface="Arial"/>
              </a:rPr>
              <a:t>), should usually never change. It is recommended that you set your TTL for something longer than the average session time (for example 10 min).</a:t>
            </a:r>
            <a:endParaRPr>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fr">
                <a:latin typeface="Arial"/>
                <a:ea typeface="Arial"/>
                <a:cs typeface="Arial"/>
                <a:sym typeface="Arial"/>
              </a:rPr>
              <a:t>TXT Record:</a:t>
            </a:r>
            <a:r>
              <a:rPr lang="fr">
                <a:latin typeface="Arial"/>
                <a:ea typeface="Arial"/>
                <a:cs typeface="Arial"/>
                <a:sym typeface="Arial"/>
              </a:rPr>
              <a:t> Widely used for DKIM records, email security and verifying domain ownership. TXT records are rarely changed so anywhere within the 1 – 12-hour timeframe should suffice.</a:t>
            </a:r>
            <a:endParaRPr>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fr">
                <a:latin typeface="Arial"/>
                <a:ea typeface="Arial"/>
                <a:cs typeface="Arial"/>
                <a:sym typeface="Arial"/>
              </a:rPr>
              <a:t>MX Record:</a:t>
            </a:r>
            <a:r>
              <a:rPr lang="fr">
                <a:latin typeface="Arial"/>
                <a:ea typeface="Arial"/>
                <a:cs typeface="Arial"/>
                <a:sym typeface="Arial"/>
              </a:rPr>
              <a:t> Your mail exchange TTL can be set between the 12-24 hour range, but you may want to consider placing it lower in case of emergencies; somewhere in the 1-4 hour range would be useful as well.</a:t>
            </a:r>
            <a:endParaRPr/>
          </a:p>
        </p:txBody>
      </p:sp>
      <p:sp>
        <p:nvSpPr>
          <p:cNvPr id="414" name="Google Shape;414;g310b883c7ae_1_343: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10b883c7ae_1_351: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310b883c7ae_1_351: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g310b883c7ae_1_351: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10b883c7ae_1_361: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g310b883c7ae_1_361: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310b883c7ae_1_361: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10b883c7ae_1_371: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10b883c7ae_1_371: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g310b883c7ae_1_371: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10b883c7ae_1_379: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310b883c7ae_1_379: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g310b883c7ae_1_379: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10b883c7ae_1_388: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g310b883c7ae_1_388: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g310b883c7ae_1_388: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10b883c7ae_1_397: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310b883c7ae_1_397: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310b883c7ae_1_397: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10b883c7ae_1_405: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10b883c7ae_1_405: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g310b883c7ae_1_405: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10b883c7ae_1_413: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g310b883c7ae_1_413: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g310b883c7ae_1_413: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10b883c7ae_0_115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310b883c7ae_0_1154: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g310b883c7ae_0_1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10b883c7ae_1_433: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310b883c7ae_1_433: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10b883c7ae_1_433: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10b883c7ae_1_439:notes"/>
          <p:cNvSpPr/>
          <p:nvPr>
            <p:ph idx="2" type="sldImg"/>
          </p:nvPr>
        </p:nvSpPr>
        <p:spPr>
          <a:xfrm>
            <a:off x="406440" y="696960"/>
            <a:ext cx="6197400" cy="34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g310b883c7ae_1_439: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513" name="Google Shape;513;g310b883c7ae_1_439: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10b883c7ae_1_507: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8" name="Google Shape;588;g310b883c7ae_1_507: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589" name="Google Shape;589;g310b883c7ae_1_507: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10b883c7ae_1_535: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g310b883c7ae_1_535: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618" name="Google Shape;618;g310b883c7ae_1_535: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10b883c7ae_1_565: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g310b883c7ae_1_565: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649" name="Google Shape;649;g310b883c7ae_1_565: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10b883c7ae_1_603: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g310b883c7ae_1_603: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688" name="Google Shape;688;g310b883c7ae_1_603: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10b883c7ae_1_610:notes"/>
          <p:cNvSpPr txBox="1"/>
          <p:nvPr>
            <p:ph idx="1" type="body"/>
          </p:nvPr>
        </p:nvSpPr>
        <p:spPr>
          <a:xfrm>
            <a:off x="685800" y="4343400"/>
            <a:ext cx="5486175" cy="41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g310b883c7ae_1_610:notes"/>
          <p:cNvSpPr/>
          <p:nvPr>
            <p:ph idx="2" type="sldImg"/>
          </p:nvPr>
        </p:nvSpPr>
        <p:spPr>
          <a:xfrm>
            <a:off x="380880" y="694800"/>
            <a:ext cx="6095475" cy="342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10b883c7ae_1_660:notes"/>
          <p:cNvSpPr txBox="1"/>
          <p:nvPr>
            <p:ph idx="1" type="body"/>
          </p:nvPr>
        </p:nvSpPr>
        <p:spPr>
          <a:xfrm>
            <a:off x="685800" y="4343400"/>
            <a:ext cx="5486175" cy="41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10b883c7ae_1_660:notes"/>
          <p:cNvSpPr/>
          <p:nvPr>
            <p:ph idx="2" type="sldImg"/>
          </p:nvPr>
        </p:nvSpPr>
        <p:spPr>
          <a:xfrm>
            <a:off x="380880" y="694800"/>
            <a:ext cx="6095475" cy="342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10b883c7ae_1_668:notes"/>
          <p:cNvSpPr txBox="1"/>
          <p:nvPr>
            <p:ph idx="1" type="body"/>
          </p:nvPr>
        </p:nvSpPr>
        <p:spPr>
          <a:xfrm>
            <a:off x="685800" y="4343400"/>
            <a:ext cx="5486175" cy="41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g310b883c7ae_1_668:notes"/>
          <p:cNvSpPr/>
          <p:nvPr>
            <p:ph idx="2" type="sldImg"/>
          </p:nvPr>
        </p:nvSpPr>
        <p:spPr>
          <a:xfrm>
            <a:off x="380880" y="694800"/>
            <a:ext cx="6095475" cy="342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10b883c7ae_1_673:notes"/>
          <p:cNvSpPr txBox="1"/>
          <p:nvPr>
            <p:ph idx="1" type="body"/>
          </p:nvPr>
        </p:nvSpPr>
        <p:spPr>
          <a:xfrm>
            <a:off x="685800" y="4343400"/>
            <a:ext cx="5486175" cy="41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1" name="Google Shape;761;g310b883c7ae_1_673:notes"/>
          <p:cNvSpPr/>
          <p:nvPr>
            <p:ph idx="2" type="sldImg"/>
          </p:nvPr>
        </p:nvSpPr>
        <p:spPr>
          <a:xfrm>
            <a:off x="380880" y="694800"/>
            <a:ext cx="6095475" cy="342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10b883c7ae_1_678: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10b883c7ae_1_678: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g310b883c7ae_1_678: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10b883c7ae_1_686: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g310b883c7ae_1_686: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7" name="Google Shape;777;g310b883c7ae_1_686: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10b883c7ae_1_694: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g310b883c7ae_1_694: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786" name="Google Shape;786;g310b883c7ae_1_694: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10b883c7ae_1_724: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6" name="Google Shape;816;g310b883c7ae_1_724: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SzPts val="2000"/>
              <a:buNone/>
            </a:pPr>
            <a:r>
              <a:t/>
            </a:r>
            <a:endParaRPr b="0" sz="2000" strike="noStrike">
              <a:latin typeface="Arial"/>
              <a:ea typeface="Arial"/>
              <a:cs typeface="Arial"/>
              <a:sym typeface="Arial"/>
            </a:endParaRPr>
          </a:p>
        </p:txBody>
      </p:sp>
      <p:sp>
        <p:nvSpPr>
          <p:cNvPr id="817" name="Google Shape;817;g310b883c7ae_1_724: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10b883c7ae_1_745:notes"/>
          <p:cNvSpPr/>
          <p:nvPr>
            <p:ph idx="2" type="sldImg"/>
          </p:nvPr>
        </p:nvSpPr>
        <p:spPr>
          <a:xfrm>
            <a:off x="406440" y="704880"/>
            <a:ext cx="6197400" cy="34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8" name="Google Shape;838;g310b883c7ae_1_745: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839" name="Google Shape;839;g310b883c7ae_1_745: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10b883c7ae_1_752:notes"/>
          <p:cNvSpPr/>
          <p:nvPr>
            <p:ph idx="2" type="sldImg"/>
          </p:nvPr>
        </p:nvSpPr>
        <p:spPr>
          <a:xfrm>
            <a:off x="406440" y="696960"/>
            <a:ext cx="6197400" cy="34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6" name="Google Shape;846;g310b883c7ae_1_752: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SzPts val="2000"/>
              <a:buNone/>
            </a:pPr>
            <a:r>
              <a:t/>
            </a:r>
            <a:endParaRPr b="0" sz="2000" strike="noStrike">
              <a:latin typeface="Arial"/>
              <a:ea typeface="Arial"/>
              <a:cs typeface="Arial"/>
              <a:sym typeface="Arial"/>
            </a:endParaRPr>
          </a:p>
        </p:txBody>
      </p:sp>
      <p:sp>
        <p:nvSpPr>
          <p:cNvPr id="847" name="Google Shape;847;g310b883c7ae_1_752: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10b883c7ae_1_770: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5" name="Google Shape;865;g310b883c7ae_1_770: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SzPts val="2000"/>
              <a:buNone/>
            </a:pPr>
            <a:r>
              <a:t/>
            </a:r>
            <a:endParaRPr b="0" sz="2000" strike="noStrike">
              <a:latin typeface="Arial"/>
              <a:ea typeface="Arial"/>
              <a:cs typeface="Arial"/>
              <a:sym typeface="Arial"/>
            </a:endParaRPr>
          </a:p>
        </p:txBody>
      </p:sp>
      <p:sp>
        <p:nvSpPr>
          <p:cNvPr id="866" name="Google Shape;866;g310b883c7ae_1_770: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10b883c7ae_1_776:notes"/>
          <p:cNvSpPr txBox="1"/>
          <p:nvPr>
            <p:ph idx="1" type="body"/>
          </p:nvPr>
        </p:nvSpPr>
        <p:spPr>
          <a:xfrm>
            <a:off x="685800" y="4343400"/>
            <a:ext cx="5486175" cy="41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2" name="Google Shape;872;g310b883c7ae_1_776:notes"/>
          <p:cNvSpPr/>
          <p:nvPr>
            <p:ph idx="2" type="sldImg"/>
          </p:nvPr>
        </p:nvSpPr>
        <p:spPr>
          <a:xfrm>
            <a:off x="380880" y="694800"/>
            <a:ext cx="6095475" cy="342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10b883c7ae_1_784: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1" name="Google Shape;881;g310b883c7ae_1_784: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SzPts val="2000"/>
              <a:buNone/>
            </a:pPr>
            <a:r>
              <a:t/>
            </a:r>
            <a:endParaRPr b="0" sz="2000" strike="noStrike">
              <a:latin typeface="Arial"/>
              <a:ea typeface="Arial"/>
              <a:cs typeface="Arial"/>
              <a:sym typeface="Arial"/>
            </a:endParaRPr>
          </a:p>
        </p:txBody>
      </p:sp>
      <p:sp>
        <p:nvSpPr>
          <p:cNvPr id="882" name="Google Shape;882;g310b883c7ae_1_784: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10b883c7ae_1_790:notes"/>
          <p:cNvSpPr/>
          <p:nvPr>
            <p:ph idx="2" type="sldImg"/>
          </p:nvPr>
        </p:nvSpPr>
        <p:spPr>
          <a:xfrm>
            <a:off x="685800" y="1143000"/>
            <a:ext cx="5486175" cy="3086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8" name="Google Shape;888;g310b883c7ae_1_790:notes"/>
          <p:cNvSpPr txBox="1"/>
          <p:nvPr>
            <p:ph idx="1" type="body"/>
          </p:nvPr>
        </p:nvSpPr>
        <p:spPr>
          <a:xfrm>
            <a:off x="685800" y="4400640"/>
            <a:ext cx="5486175"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889" name="Google Shape;889;g310b883c7ae_1_790: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10b883c7ae_1_820:notes"/>
          <p:cNvSpPr/>
          <p:nvPr>
            <p:ph idx="2" type="sldImg"/>
          </p:nvPr>
        </p:nvSpPr>
        <p:spPr>
          <a:xfrm>
            <a:off x="382680" y="149400"/>
            <a:ext cx="6092775" cy="3427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9" name="Google Shape;919;g310b883c7ae_1_820:notes"/>
          <p:cNvSpPr txBox="1"/>
          <p:nvPr>
            <p:ph idx="1" type="body"/>
          </p:nvPr>
        </p:nvSpPr>
        <p:spPr>
          <a:xfrm>
            <a:off x="482040" y="3707280"/>
            <a:ext cx="6141600" cy="41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920" name="Google Shape;920;g310b883c7ae_1_820:notes"/>
          <p:cNvSpPr txBox="1"/>
          <p:nvPr>
            <p:ph idx="12" type="sldNum"/>
          </p:nvPr>
        </p:nvSpPr>
        <p:spPr>
          <a:xfrm>
            <a:off x="3884760" y="8685360"/>
            <a:ext cx="2971575"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10b883c7ae_0_121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g310b883c7ae_0_1216:notes"/>
          <p:cNvSpPr txBox="1"/>
          <p:nvPr>
            <p:ph idx="1" type="body"/>
          </p:nvPr>
        </p:nvSpPr>
        <p:spPr>
          <a:xfrm>
            <a:off x="685800" y="4400549"/>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g310b883c7ae_0_1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10b883c7ae_1_863: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g310b883c7ae_1_863: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fr" sz="1500">
                <a:solidFill>
                  <a:srgbClr val="595959"/>
                </a:solidFill>
                <a:latin typeface="Roboto Mono Light"/>
                <a:ea typeface="Roboto Mono Light"/>
                <a:cs typeface="Roboto Mono Light"/>
                <a:sym typeface="Roboto Mono Light"/>
              </a:rPr>
              <a:t>❯ curl 'https://dns.google.com/resolve?name=eu.nomad.airbus.com' -H "Host: dns.google.com"</a:t>
            </a:r>
            <a:endParaRPr sz="1500">
              <a:solidFill>
                <a:srgbClr val="595959"/>
              </a:solidFill>
              <a:latin typeface="Roboto Mono Light"/>
              <a:ea typeface="Roboto Mono Light"/>
              <a:cs typeface="Roboto Mono Light"/>
              <a:sym typeface="Roboto Mono Light"/>
            </a:endParaRPr>
          </a:p>
          <a:p>
            <a:pPr indent="0" lvl="0" marL="0" rtl="0" algn="l">
              <a:lnSpc>
                <a:spcPct val="100000"/>
              </a:lnSpc>
              <a:spcBef>
                <a:spcPts val="0"/>
              </a:spcBef>
              <a:spcAft>
                <a:spcPts val="0"/>
              </a:spcAft>
              <a:buClr>
                <a:schemeClr val="dk1"/>
              </a:buClr>
              <a:buSzPts val="1100"/>
              <a:buFont typeface="Arial"/>
              <a:buNone/>
            </a:pPr>
            <a:r>
              <a:t/>
            </a:r>
            <a:endParaRPr sz="1500">
              <a:solidFill>
                <a:srgbClr val="595959"/>
              </a:solidFill>
              <a:latin typeface="Roboto Mono Light"/>
              <a:ea typeface="Roboto Mono Light"/>
              <a:cs typeface="Roboto Mono Light"/>
              <a:sym typeface="Roboto Mono Light"/>
            </a:endParaRPr>
          </a:p>
          <a:p>
            <a:pPr indent="0" lvl="0" marL="0" rtl="0" algn="l">
              <a:lnSpc>
                <a:spcPct val="100000"/>
              </a:lnSpc>
              <a:spcBef>
                <a:spcPts val="0"/>
              </a:spcBef>
              <a:spcAft>
                <a:spcPts val="0"/>
              </a:spcAft>
              <a:buClr>
                <a:schemeClr val="dk1"/>
              </a:buClr>
              <a:buSzPts val="1100"/>
              <a:buFont typeface="Arial"/>
              <a:buNone/>
            </a:pPr>
            <a:r>
              <a:rPr lang="fr" sz="1500">
                <a:solidFill>
                  <a:srgbClr val="595959"/>
                </a:solidFill>
                <a:latin typeface="Roboto Mono Light"/>
                <a:ea typeface="Roboto Mono Light"/>
                <a:cs typeface="Roboto Mono Light"/>
                <a:sym typeface="Roboto Mono Light"/>
              </a:rPr>
              <a:t>{"Status":0,"TC":false,"RD":true,"RA":true,"AD":false,"CD":false,"Question":[{"name":"eu.nomad.airbus.com.","type":1}],"Answer":[{"name":"eu.nomad.airbus.com.","type":5,"TTL":60,"data":"eu-nomad.dyn.airbus.com."},{"name":"eu-nomad.dyn.airbus.com.","type":1,"TTL":60,"data":"193.56.36.114"}],"Comment":"Response from 193.56.36.45."}</a:t>
            </a:r>
            <a:endParaRPr sz="1500">
              <a:solidFill>
                <a:srgbClr val="595959"/>
              </a:solidFill>
              <a:latin typeface="Roboto Mono Light"/>
              <a:ea typeface="Roboto Mono Light"/>
              <a:cs typeface="Roboto Mono Light"/>
              <a:sym typeface="Roboto Mono Light"/>
            </a:endParaRPr>
          </a:p>
          <a:p>
            <a:pPr indent="0" lvl="0" marL="0" rtl="0" algn="l">
              <a:lnSpc>
                <a:spcPct val="100000"/>
              </a:lnSpc>
              <a:spcBef>
                <a:spcPts val="0"/>
              </a:spcBef>
              <a:spcAft>
                <a:spcPts val="0"/>
              </a:spcAft>
              <a:buSzPts val="1400"/>
              <a:buNone/>
            </a:pPr>
            <a:r>
              <a:t/>
            </a:r>
            <a:endParaRPr/>
          </a:p>
        </p:txBody>
      </p:sp>
      <p:sp>
        <p:nvSpPr>
          <p:cNvPr id="972" name="Google Shape;972;g310b883c7ae_1_863: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10b883c7ae_1_873: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g310b883c7ae_1_873: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10b883c7ae_1_873: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10b883c7ae_1_881: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g310b883c7ae_1_881: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10b883c7ae_1_881: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10b883c7ae_1_889: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g310b883c7ae_1_889: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10b883c7ae_1_889: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10b883c7ae_1_897: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1" name="Google Shape;1011;g310b883c7ae_1_897: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2" name="Google Shape;1012;g310b883c7ae_1_897:notes"/>
          <p:cNvSpPr txBox="1"/>
          <p:nvPr>
            <p:ph idx="12" type="sldNum"/>
          </p:nvPr>
        </p:nvSpPr>
        <p:spPr>
          <a:xfrm>
            <a:off x="3884613" y="8685213"/>
            <a:ext cx="2971800" cy="458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10b883c7ae_1_904:notes"/>
          <p:cNvSpPr txBox="1"/>
          <p:nvPr>
            <p:ph idx="1" type="body"/>
          </p:nvPr>
        </p:nvSpPr>
        <p:spPr>
          <a:xfrm>
            <a:off x="685800" y="4400549"/>
            <a:ext cx="5486400" cy="36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10b883c7ae_1_904:notes"/>
          <p:cNvSpPr/>
          <p:nvPr>
            <p:ph idx="2" type="sldImg"/>
          </p:nvPr>
        </p:nvSpPr>
        <p:spPr>
          <a:xfrm>
            <a:off x="1885950" y="1143000"/>
            <a:ext cx="3086100" cy="3086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434343"/>
              </a:buClr>
              <a:buSzPts val="2800"/>
              <a:buFont typeface="Helvetica Neue"/>
              <a:buNone/>
              <a:defRPr>
                <a:solidFill>
                  <a:srgbClr val="434343"/>
                </a:solidFill>
                <a:latin typeface="Helvetica Neue"/>
                <a:ea typeface="Helvetica Neue"/>
                <a:cs typeface="Helvetica Neue"/>
                <a:sym typeface="Helvetica Neu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4068590"/>
            <a:ext cx="9144000" cy="10749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52" name="Google Shape;52;p13"/>
          <p:cNvGrpSpPr/>
          <p:nvPr/>
        </p:nvGrpSpPr>
        <p:grpSpPr>
          <a:xfrm>
            <a:off x="0" y="4059017"/>
            <a:ext cx="8994677" cy="0"/>
            <a:chOff x="0" y="3175"/>
            <a:chExt cx="6626" cy="0"/>
          </a:xfrm>
        </p:grpSpPr>
        <p:sp>
          <p:nvSpPr>
            <p:cNvPr id="53" name="Google Shape;53;p13"/>
            <p:cNvSpPr/>
            <p:nvPr/>
          </p:nvSpPr>
          <p:spPr>
            <a:xfrm>
              <a:off x="0" y="3175"/>
              <a:ext cx="66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4" name="Google Shape;54;p13"/>
            <p:cNvSpPr/>
            <p:nvPr/>
          </p:nvSpPr>
          <p:spPr>
            <a:xfrm>
              <a:off x="1826" y="3175"/>
              <a:ext cx="48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55" name="Google Shape;55;p13"/>
          <p:cNvSpPr txBox="1"/>
          <p:nvPr>
            <p:ph type="ctrTitle"/>
          </p:nvPr>
        </p:nvSpPr>
        <p:spPr>
          <a:xfrm>
            <a:off x="2478762" y="2352501"/>
            <a:ext cx="4523400" cy="10386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Clr>
                <a:schemeClr val="dk2"/>
              </a:buClr>
              <a:buSzPts val="2300"/>
              <a:buFont typeface="Arial"/>
              <a:buNone/>
              <a:defRPr sz="2300">
                <a:solidFill>
                  <a:schemeClr val="dk2"/>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6" name="Google Shape;56;p13"/>
          <p:cNvSpPr txBox="1"/>
          <p:nvPr>
            <p:ph idx="1" type="subTitle"/>
          </p:nvPr>
        </p:nvSpPr>
        <p:spPr>
          <a:xfrm>
            <a:off x="2478762" y="3421257"/>
            <a:ext cx="4523400" cy="64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500"/>
              <a:buNone/>
              <a:defRPr sz="1500">
                <a:solidFill>
                  <a:schemeClr val="dk2"/>
                </a:solidFill>
              </a:defRPr>
            </a:lvl1pPr>
            <a:lvl2pPr lvl="1" algn="l">
              <a:lnSpc>
                <a:spcPct val="113000"/>
              </a:lnSpc>
              <a:spcBef>
                <a:spcPts val="0"/>
              </a:spcBef>
              <a:spcAft>
                <a:spcPts val="0"/>
              </a:spcAft>
              <a:buClr>
                <a:srgbClr val="595959"/>
              </a:buClr>
              <a:buSzPts val="1400"/>
              <a:buChar char="–"/>
              <a:defRPr sz="1100"/>
            </a:lvl2pPr>
            <a:lvl3pPr lvl="2" algn="l">
              <a:lnSpc>
                <a:spcPct val="113000"/>
              </a:lnSpc>
              <a:spcBef>
                <a:spcPts val="0"/>
              </a:spcBef>
              <a:spcAft>
                <a:spcPts val="0"/>
              </a:spcAft>
              <a:buClr>
                <a:srgbClr val="595959"/>
              </a:buClr>
              <a:buSzPts val="1400"/>
              <a:buChar char="–"/>
              <a:defRPr sz="1100"/>
            </a:lvl3pPr>
            <a:lvl4pPr lvl="3" algn="l">
              <a:lnSpc>
                <a:spcPct val="113000"/>
              </a:lnSpc>
              <a:spcBef>
                <a:spcPts val="0"/>
              </a:spcBef>
              <a:spcAft>
                <a:spcPts val="0"/>
              </a:spcAft>
              <a:buClr>
                <a:srgbClr val="595959"/>
              </a:buClr>
              <a:buSzPts val="1400"/>
              <a:buChar char="–"/>
              <a:defRPr sz="1100"/>
            </a:lvl4pPr>
            <a:lvl5pPr lvl="4" algn="l">
              <a:lnSpc>
                <a:spcPct val="113000"/>
              </a:lnSpc>
              <a:spcBef>
                <a:spcPts val="0"/>
              </a:spcBef>
              <a:spcAft>
                <a:spcPts val="0"/>
              </a:spcAft>
              <a:buClr>
                <a:srgbClr val="595959"/>
              </a:buClr>
              <a:buSzPts val="1400"/>
              <a:buChar char="–"/>
              <a:defRPr sz="1100"/>
            </a:lvl5pPr>
            <a:lvl6pPr lvl="5" algn="l">
              <a:lnSpc>
                <a:spcPct val="113000"/>
              </a:lnSpc>
              <a:spcBef>
                <a:spcPts val="0"/>
              </a:spcBef>
              <a:spcAft>
                <a:spcPts val="0"/>
              </a:spcAft>
              <a:buClr>
                <a:srgbClr val="595959"/>
              </a:buClr>
              <a:buSzPts val="1400"/>
              <a:buChar char="–"/>
              <a:defRPr sz="1100"/>
            </a:lvl6pPr>
            <a:lvl7pPr lvl="6" algn="l">
              <a:lnSpc>
                <a:spcPct val="113000"/>
              </a:lnSpc>
              <a:spcBef>
                <a:spcPts val="0"/>
              </a:spcBef>
              <a:spcAft>
                <a:spcPts val="0"/>
              </a:spcAft>
              <a:buClr>
                <a:srgbClr val="595959"/>
              </a:buClr>
              <a:buSzPts val="1400"/>
              <a:buChar char="–"/>
              <a:defRPr sz="1100"/>
            </a:lvl7pPr>
            <a:lvl8pPr lvl="7" algn="l">
              <a:lnSpc>
                <a:spcPct val="113000"/>
              </a:lnSpc>
              <a:spcBef>
                <a:spcPts val="0"/>
              </a:spcBef>
              <a:spcAft>
                <a:spcPts val="0"/>
              </a:spcAft>
              <a:buClr>
                <a:srgbClr val="595959"/>
              </a:buClr>
              <a:buSzPts val="1400"/>
              <a:buChar char="–"/>
              <a:defRPr sz="1100"/>
            </a:lvl8pPr>
            <a:lvl9pPr lvl="8" algn="l">
              <a:lnSpc>
                <a:spcPct val="113000"/>
              </a:lnSpc>
              <a:spcBef>
                <a:spcPts val="0"/>
              </a:spcBef>
              <a:spcAft>
                <a:spcPts val="0"/>
              </a:spcAft>
              <a:buClr>
                <a:srgbClr val="595959"/>
              </a:buClr>
              <a:buSzPts val="1400"/>
              <a:buChar char="–"/>
              <a:defRPr sz="1100"/>
            </a:lvl9pPr>
          </a:lstStyle>
          <a:p/>
        </p:txBody>
      </p:sp>
      <p:sp>
        <p:nvSpPr>
          <p:cNvPr id="57" name="Google Shape;57;p13"/>
          <p:cNvSpPr txBox="1"/>
          <p:nvPr>
            <p:ph idx="2" type="subTitle"/>
          </p:nvPr>
        </p:nvSpPr>
        <p:spPr>
          <a:xfrm>
            <a:off x="2498063" y="4415569"/>
            <a:ext cx="3863700" cy="351900"/>
          </a:xfrm>
          <a:prstGeom prst="rect">
            <a:avLst/>
          </a:prstGeom>
          <a:noFill/>
          <a:ln>
            <a:noFill/>
          </a:ln>
        </p:spPr>
        <p:txBody>
          <a:bodyPr anchorCtr="0" anchor="t" bIns="0" lIns="0" spcFirstLastPara="1" rIns="0" wrap="square" tIns="0">
            <a:noAutofit/>
          </a:bodyPr>
          <a:lstStyle>
            <a:lvl1pPr lvl="0" algn="l">
              <a:lnSpc>
                <a:spcPct val="113000"/>
              </a:lnSpc>
              <a:spcBef>
                <a:spcPts val="0"/>
              </a:spcBef>
              <a:spcAft>
                <a:spcPts val="0"/>
              </a:spcAft>
              <a:buClr>
                <a:srgbClr val="FFFFFF"/>
              </a:buClr>
              <a:buSzPts val="1100"/>
              <a:buNone/>
              <a:defRPr sz="1100">
                <a:solidFill>
                  <a:srgbClr val="FFFFFF"/>
                </a:solidFill>
              </a:defRPr>
            </a:lvl1pPr>
            <a:lvl2pPr lvl="1" algn="l">
              <a:lnSpc>
                <a:spcPct val="113000"/>
              </a:lnSpc>
              <a:spcBef>
                <a:spcPts val="0"/>
              </a:spcBef>
              <a:spcAft>
                <a:spcPts val="0"/>
              </a:spcAft>
              <a:buSzPts val="1100"/>
              <a:buNone/>
              <a:defRPr sz="1100"/>
            </a:lvl2pPr>
            <a:lvl3pPr lvl="2" algn="l">
              <a:lnSpc>
                <a:spcPct val="113000"/>
              </a:lnSpc>
              <a:spcBef>
                <a:spcPts val="0"/>
              </a:spcBef>
              <a:spcAft>
                <a:spcPts val="0"/>
              </a:spcAft>
              <a:buSzPts val="1100"/>
              <a:buNone/>
              <a:defRPr sz="1100"/>
            </a:lvl3pPr>
            <a:lvl4pPr lvl="3" algn="l">
              <a:lnSpc>
                <a:spcPct val="113000"/>
              </a:lnSpc>
              <a:spcBef>
                <a:spcPts val="0"/>
              </a:spcBef>
              <a:spcAft>
                <a:spcPts val="0"/>
              </a:spcAft>
              <a:buSzPts val="1100"/>
              <a:buNone/>
              <a:defRPr sz="1100"/>
            </a:lvl4pPr>
            <a:lvl5pPr lvl="4" algn="l">
              <a:lnSpc>
                <a:spcPct val="113000"/>
              </a:lnSpc>
              <a:spcBef>
                <a:spcPts val="0"/>
              </a:spcBef>
              <a:spcAft>
                <a:spcPts val="0"/>
              </a:spcAft>
              <a:buSzPts val="1100"/>
              <a:buNone/>
              <a:defRPr sz="1100"/>
            </a:lvl5pPr>
            <a:lvl6pPr lvl="5" algn="l">
              <a:lnSpc>
                <a:spcPct val="113000"/>
              </a:lnSpc>
              <a:spcBef>
                <a:spcPts val="0"/>
              </a:spcBef>
              <a:spcAft>
                <a:spcPts val="0"/>
              </a:spcAft>
              <a:buSzPts val="1100"/>
              <a:buNone/>
              <a:defRPr sz="1100"/>
            </a:lvl6pPr>
            <a:lvl7pPr lvl="6" algn="l">
              <a:lnSpc>
                <a:spcPct val="113000"/>
              </a:lnSpc>
              <a:spcBef>
                <a:spcPts val="0"/>
              </a:spcBef>
              <a:spcAft>
                <a:spcPts val="0"/>
              </a:spcAft>
              <a:buSzPts val="1100"/>
              <a:buNone/>
              <a:defRPr sz="1100"/>
            </a:lvl7pPr>
            <a:lvl8pPr lvl="7" algn="l">
              <a:lnSpc>
                <a:spcPct val="113000"/>
              </a:lnSpc>
              <a:spcBef>
                <a:spcPts val="0"/>
              </a:spcBef>
              <a:spcAft>
                <a:spcPts val="0"/>
              </a:spcAft>
              <a:buSzPts val="1100"/>
              <a:buNone/>
              <a:defRPr sz="1100"/>
            </a:lvl8pPr>
            <a:lvl9pPr lvl="8" algn="l">
              <a:lnSpc>
                <a:spcPct val="113000"/>
              </a:lnSpc>
              <a:spcBef>
                <a:spcPts val="0"/>
              </a:spcBef>
              <a:spcAft>
                <a:spcPts val="0"/>
              </a:spcAft>
              <a:buSzPts val="1100"/>
              <a:buNone/>
              <a:defRPr sz="11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three columns">
  <p:cSld name="Header and three columns">
    <p:spTree>
      <p:nvGrpSpPr>
        <p:cNvPr id="58" name="Shape 58"/>
        <p:cNvGrpSpPr/>
        <p:nvPr/>
      </p:nvGrpSpPr>
      <p:grpSpPr>
        <a:xfrm>
          <a:off x="0" y="0"/>
          <a:ext cx="0" cy="0"/>
          <a:chOff x="0" y="0"/>
          <a:chExt cx="0" cy="0"/>
        </a:xfrm>
      </p:grpSpPr>
      <p:sp>
        <p:nvSpPr>
          <p:cNvPr id="59" name="Google Shape;59;p14"/>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900"/>
              <a:buFont typeface="Arial"/>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60" name="Google Shape;60;p14"/>
          <p:cNvSpPr txBox="1"/>
          <p:nvPr>
            <p:ph idx="1" type="body"/>
          </p:nvPr>
        </p:nvSpPr>
        <p:spPr>
          <a:xfrm>
            <a:off x="359569" y="1174499"/>
            <a:ext cx="2700000" cy="3233100"/>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sz="1100"/>
            </a:lvl1pPr>
            <a:lvl2pPr indent="-317500" lvl="1" marL="914400" algn="l">
              <a:lnSpc>
                <a:spcPct val="113000"/>
              </a:lnSpc>
              <a:spcBef>
                <a:spcPts val="0"/>
              </a:spcBef>
              <a:spcAft>
                <a:spcPts val="0"/>
              </a:spcAft>
              <a:buClr>
                <a:srgbClr val="595959"/>
              </a:buClr>
              <a:buSzPts val="1400"/>
              <a:buChar char="–"/>
              <a:defRPr sz="1100"/>
            </a:lvl2pPr>
            <a:lvl3pPr indent="-317500" lvl="2" marL="1371600" algn="l">
              <a:lnSpc>
                <a:spcPct val="113000"/>
              </a:lnSpc>
              <a:spcBef>
                <a:spcPts val="0"/>
              </a:spcBef>
              <a:spcAft>
                <a:spcPts val="0"/>
              </a:spcAft>
              <a:buClr>
                <a:srgbClr val="595959"/>
              </a:buClr>
              <a:buSzPts val="1400"/>
              <a:buChar char="–"/>
              <a:defRPr sz="1100"/>
            </a:lvl3pPr>
            <a:lvl4pPr indent="-317500" lvl="3" marL="1828800" algn="l">
              <a:lnSpc>
                <a:spcPct val="113000"/>
              </a:lnSpc>
              <a:spcBef>
                <a:spcPts val="0"/>
              </a:spcBef>
              <a:spcAft>
                <a:spcPts val="0"/>
              </a:spcAft>
              <a:buClr>
                <a:srgbClr val="595959"/>
              </a:buClr>
              <a:buSzPts val="1400"/>
              <a:buChar char="–"/>
              <a:defRPr sz="1100"/>
            </a:lvl4pPr>
            <a:lvl5pPr indent="-317500" lvl="4" marL="2286000" algn="l">
              <a:lnSpc>
                <a:spcPct val="113000"/>
              </a:lnSpc>
              <a:spcBef>
                <a:spcPts val="0"/>
              </a:spcBef>
              <a:spcAft>
                <a:spcPts val="0"/>
              </a:spcAft>
              <a:buClr>
                <a:srgbClr val="595959"/>
              </a:buClr>
              <a:buSzPts val="1400"/>
              <a:buChar char="–"/>
              <a:defRPr sz="1100"/>
            </a:lvl5pPr>
            <a:lvl6pPr indent="-317500" lvl="5" marL="2743200" algn="l">
              <a:lnSpc>
                <a:spcPct val="113000"/>
              </a:lnSpc>
              <a:spcBef>
                <a:spcPts val="0"/>
              </a:spcBef>
              <a:spcAft>
                <a:spcPts val="0"/>
              </a:spcAft>
              <a:buClr>
                <a:srgbClr val="595959"/>
              </a:buClr>
              <a:buSzPts val="1400"/>
              <a:buChar char="–"/>
              <a:defRPr sz="1100"/>
            </a:lvl6pPr>
            <a:lvl7pPr indent="-317500" lvl="6" marL="3200400" algn="l">
              <a:lnSpc>
                <a:spcPct val="113000"/>
              </a:lnSpc>
              <a:spcBef>
                <a:spcPts val="0"/>
              </a:spcBef>
              <a:spcAft>
                <a:spcPts val="0"/>
              </a:spcAft>
              <a:buClr>
                <a:srgbClr val="595959"/>
              </a:buClr>
              <a:buSzPts val="1400"/>
              <a:buChar char="–"/>
              <a:defRPr sz="1100"/>
            </a:lvl7pPr>
            <a:lvl8pPr indent="-317500" lvl="7" marL="3657600" algn="l">
              <a:lnSpc>
                <a:spcPct val="113000"/>
              </a:lnSpc>
              <a:spcBef>
                <a:spcPts val="0"/>
              </a:spcBef>
              <a:spcAft>
                <a:spcPts val="0"/>
              </a:spcAft>
              <a:buClr>
                <a:srgbClr val="595959"/>
              </a:buClr>
              <a:buSzPts val="1400"/>
              <a:buChar char="–"/>
              <a:defRPr sz="1100"/>
            </a:lvl8pPr>
            <a:lvl9pPr indent="-317500" lvl="8" marL="4114800" algn="l">
              <a:lnSpc>
                <a:spcPct val="113000"/>
              </a:lnSpc>
              <a:spcBef>
                <a:spcPts val="0"/>
              </a:spcBef>
              <a:spcAft>
                <a:spcPts val="0"/>
              </a:spcAft>
              <a:buClr>
                <a:srgbClr val="595959"/>
              </a:buClr>
              <a:buSzPts val="1400"/>
              <a:buChar char="–"/>
              <a:defRPr sz="1100"/>
            </a:lvl9pPr>
          </a:lstStyle>
          <a:p/>
        </p:txBody>
      </p:sp>
      <p:sp>
        <p:nvSpPr>
          <p:cNvPr id="61" name="Google Shape;61;p14"/>
          <p:cNvSpPr txBox="1"/>
          <p:nvPr>
            <p:ph idx="2" type="body"/>
          </p:nvPr>
        </p:nvSpPr>
        <p:spPr>
          <a:xfrm>
            <a:off x="3221063" y="1174499"/>
            <a:ext cx="2700000" cy="3233100"/>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sz="1100"/>
            </a:lvl1pPr>
            <a:lvl2pPr indent="-317500" lvl="1" marL="914400" algn="l">
              <a:lnSpc>
                <a:spcPct val="113000"/>
              </a:lnSpc>
              <a:spcBef>
                <a:spcPts val="0"/>
              </a:spcBef>
              <a:spcAft>
                <a:spcPts val="0"/>
              </a:spcAft>
              <a:buClr>
                <a:srgbClr val="595959"/>
              </a:buClr>
              <a:buSzPts val="1400"/>
              <a:buChar char="–"/>
              <a:defRPr sz="1100"/>
            </a:lvl2pPr>
            <a:lvl3pPr indent="-317500" lvl="2" marL="1371600" algn="l">
              <a:lnSpc>
                <a:spcPct val="113000"/>
              </a:lnSpc>
              <a:spcBef>
                <a:spcPts val="0"/>
              </a:spcBef>
              <a:spcAft>
                <a:spcPts val="0"/>
              </a:spcAft>
              <a:buClr>
                <a:srgbClr val="595959"/>
              </a:buClr>
              <a:buSzPts val="1400"/>
              <a:buChar char="–"/>
              <a:defRPr sz="1100"/>
            </a:lvl3pPr>
            <a:lvl4pPr indent="-317500" lvl="3" marL="1828800" algn="l">
              <a:lnSpc>
                <a:spcPct val="113000"/>
              </a:lnSpc>
              <a:spcBef>
                <a:spcPts val="0"/>
              </a:spcBef>
              <a:spcAft>
                <a:spcPts val="0"/>
              </a:spcAft>
              <a:buClr>
                <a:srgbClr val="595959"/>
              </a:buClr>
              <a:buSzPts val="1400"/>
              <a:buChar char="–"/>
              <a:defRPr sz="1100"/>
            </a:lvl4pPr>
            <a:lvl5pPr indent="-317500" lvl="4" marL="2286000" algn="l">
              <a:lnSpc>
                <a:spcPct val="113000"/>
              </a:lnSpc>
              <a:spcBef>
                <a:spcPts val="0"/>
              </a:spcBef>
              <a:spcAft>
                <a:spcPts val="0"/>
              </a:spcAft>
              <a:buClr>
                <a:srgbClr val="595959"/>
              </a:buClr>
              <a:buSzPts val="1400"/>
              <a:buChar char="–"/>
              <a:defRPr sz="1100"/>
            </a:lvl5pPr>
            <a:lvl6pPr indent="-317500" lvl="5" marL="2743200" algn="l">
              <a:lnSpc>
                <a:spcPct val="113000"/>
              </a:lnSpc>
              <a:spcBef>
                <a:spcPts val="0"/>
              </a:spcBef>
              <a:spcAft>
                <a:spcPts val="0"/>
              </a:spcAft>
              <a:buClr>
                <a:srgbClr val="595959"/>
              </a:buClr>
              <a:buSzPts val="1400"/>
              <a:buChar char="–"/>
              <a:defRPr sz="1100"/>
            </a:lvl6pPr>
            <a:lvl7pPr indent="-317500" lvl="6" marL="3200400" algn="l">
              <a:lnSpc>
                <a:spcPct val="113000"/>
              </a:lnSpc>
              <a:spcBef>
                <a:spcPts val="0"/>
              </a:spcBef>
              <a:spcAft>
                <a:spcPts val="0"/>
              </a:spcAft>
              <a:buClr>
                <a:srgbClr val="595959"/>
              </a:buClr>
              <a:buSzPts val="1400"/>
              <a:buChar char="–"/>
              <a:defRPr sz="1100"/>
            </a:lvl7pPr>
            <a:lvl8pPr indent="-317500" lvl="7" marL="3657600" algn="l">
              <a:lnSpc>
                <a:spcPct val="113000"/>
              </a:lnSpc>
              <a:spcBef>
                <a:spcPts val="0"/>
              </a:spcBef>
              <a:spcAft>
                <a:spcPts val="0"/>
              </a:spcAft>
              <a:buClr>
                <a:srgbClr val="595959"/>
              </a:buClr>
              <a:buSzPts val="1400"/>
              <a:buChar char="–"/>
              <a:defRPr sz="1100"/>
            </a:lvl8pPr>
            <a:lvl9pPr indent="-317500" lvl="8" marL="4114800" algn="l">
              <a:lnSpc>
                <a:spcPct val="113000"/>
              </a:lnSpc>
              <a:spcBef>
                <a:spcPts val="0"/>
              </a:spcBef>
              <a:spcAft>
                <a:spcPts val="0"/>
              </a:spcAft>
              <a:buClr>
                <a:srgbClr val="595959"/>
              </a:buClr>
              <a:buSzPts val="1400"/>
              <a:buChar char="–"/>
              <a:defRPr sz="1100"/>
            </a:lvl9pPr>
          </a:lstStyle>
          <a:p/>
        </p:txBody>
      </p:sp>
      <p:sp>
        <p:nvSpPr>
          <p:cNvPr id="62" name="Google Shape;62;p14"/>
          <p:cNvSpPr txBox="1"/>
          <p:nvPr>
            <p:ph idx="3" type="body"/>
          </p:nvPr>
        </p:nvSpPr>
        <p:spPr>
          <a:xfrm>
            <a:off x="6087822" y="1176934"/>
            <a:ext cx="2700000" cy="3230700"/>
          </a:xfrm>
          <a:prstGeom prst="rect">
            <a:avLst/>
          </a:prstGeom>
          <a:noFill/>
          <a:ln>
            <a:noFill/>
          </a:ln>
        </p:spPr>
        <p:txBody>
          <a:bodyPr anchorCtr="0" anchor="t" bIns="0" lIns="0" spcFirstLastPara="1" rIns="0" wrap="square" tIns="0">
            <a:noAutofit/>
          </a:bodyPr>
          <a:lstStyle>
            <a:lvl1pPr indent="-317500" lvl="0" marL="457200" algn="l">
              <a:lnSpc>
                <a:spcPct val="113000"/>
              </a:lnSpc>
              <a:spcBef>
                <a:spcPts val="0"/>
              </a:spcBef>
              <a:spcAft>
                <a:spcPts val="0"/>
              </a:spcAft>
              <a:buClr>
                <a:srgbClr val="595959"/>
              </a:buClr>
              <a:buSzPts val="1400"/>
              <a:buChar char="•"/>
              <a:defRPr sz="1100"/>
            </a:lvl1pPr>
            <a:lvl2pPr indent="-317500" lvl="1" marL="914400" algn="l">
              <a:lnSpc>
                <a:spcPct val="113000"/>
              </a:lnSpc>
              <a:spcBef>
                <a:spcPts val="0"/>
              </a:spcBef>
              <a:spcAft>
                <a:spcPts val="0"/>
              </a:spcAft>
              <a:buClr>
                <a:srgbClr val="595959"/>
              </a:buClr>
              <a:buSzPts val="1400"/>
              <a:buChar char="–"/>
              <a:defRPr sz="1100"/>
            </a:lvl2pPr>
            <a:lvl3pPr indent="-317500" lvl="2" marL="1371600" algn="l">
              <a:lnSpc>
                <a:spcPct val="113000"/>
              </a:lnSpc>
              <a:spcBef>
                <a:spcPts val="0"/>
              </a:spcBef>
              <a:spcAft>
                <a:spcPts val="0"/>
              </a:spcAft>
              <a:buClr>
                <a:srgbClr val="595959"/>
              </a:buClr>
              <a:buSzPts val="1400"/>
              <a:buChar char="–"/>
              <a:defRPr sz="1100"/>
            </a:lvl3pPr>
            <a:lvl4pPr indent="-317500" lvl="3" marL="1828800" algn="l">
              <a:lnSpc>
                <a:spcPct val="113000"/>
              </a:lnSpc>
              <a:spcBef>
                <a:spcPts val="0"/>
              </a:spcBef>
              <a:spcAft>
                <a:spcPts val="0"/>
              </a:spcAft>
              <a:buClr>
                <a:srgbClr val="595959"/>
              </a:buClr>
              <a:buSzPts val="1400"/>
              <a:buChar char="–"/>
              <a:defRPr sz="1100"/>
            </a:lvl4pPr>
            <a:lvl5pPr indent="-317500" lvl="4" marL="2286000" algn="l">
              <a:lnSpc>
                <a:spcPct val="113000"/>
              </a:lnSpc>
              <a:spcBef>
                <a:spcPts val="0"/>
              </a:spcBef>
              <a:spcAft>
                <a:spcPts val="0"/>
              </a:spcAft>
              <a:buClr>
                <a:srgbClr val="595959"/>
              </a:buClr>
              <a:buSzPts val="1400"/>
              <a:buChar char="–"/>
              <a:defRPr sz="1100"/>
            </a:lvl5pPr>
            <a:lvl6pPr indent="-317500" lvl="5" marL="2743200" algn="l">
              <a:lnSpc>
                <a:spcPct val="113000"/>
              </a:lnSpc>
              <a:spcBef>
                <a:spcPts val="0"/>
              </a:spcBef>
              <a:spcAft>
                <a:spcPts val="0"/>
              </a:spcAft>
              <a:buClr>
                <a:srgbClr val="595959"/>
              </a:buClr>
              <a:buSzPts val="1400"/>
              <a:buChar char="–"/>
              <a:defRPr sz="1100"/>
            </a:lvl6pPr>
            <a:lvl7pPr indent="-317500" lvl="6" marL="3200400" algn="l">
              <a:lnSpc>
                <a:spcPct val="113000"/>
              </a:lnSpc>
              <a:spcBef>
                <a:spcPts val="0"/>
              </a:spcBef>
              <a:spcAft>
                <a:spcPts val="0"/>
              </a:spcAft>
              <a:buClr>
                <a:srgbClr val="595959"/>
              </a:buClr>
              <a:buSzPts val="1400"/>
              <a:buChar char="–"/>
              <a:defRPr sz="1100"/>
            </a:lvl7pPr>
            <a:lvl8pPr indent="-317500" lvl="7" marL="3657600" algn="l">
              <a:lnSpc>
                <a:spcPct val="113000"/>
              </a:lnSpc>
              <a:spcBef>
                <a:spcPts val="0"/>
              </a:spcBef>
              <a:spcAft>
                <a:spcPts val="0"/>
              </a:spcAft>
              <a:buClr>
                <a:srgbClr val="595959"/>
              </a:buClr>
              <a:buSzPts val="1400"/>
              <a:buChar char="–"/>
              <a:defRPr sz="1100"/>
            </a:lvl8pPr>
            <a:lvl9pPr indent="-317500" lvl="8" marL="4114800" algn="l">
              <a:lnSpc>
                <a:spcPct val="113000"/>
              </a:lnSpc>
              <a:spcBef>
                <a:spcPts val="0"/>
              </a:spcBef>
              <a:spcAft>
                <a:spcPts val="0"/>
              </a:spcAft>
              <a:buClr>
                <a:srgbClr val="595959"/>
              </a:buClr>
              <a:buSzPts val="1400"/>
              <a:buChar char="–"/>
              <a:defRPr sz="11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Leer">
    <p:spTree>
      <p:nvGrpSpPr>
        <p:cNvPr id="63" name="Shape 63"/>
        <p:cNvGrpSpPr/>
        <p:nvPr/>
      </p:nvGrpSpPr>
      <p:grpSpPr>
        <a:xfrm>
          <a:off x="0" y="0"/>
          <a:ext cx="0" cy="0"/>
          <a:chOff x="0" y="0"/>
          <a:chExt cx="0" cy="0"/>
        </a:xfrm>
      </p:grpSpPr>
      <p:sp>
        <p:nvSpPr>
          <p:cNvPr id="64" name="Google Shape;64;p15"/>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600"/>
              <a:buFont typeface="Arial"/>
              <a:buNone/>
              <a:defRPr b="0" i="0" sz="6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wide sidebar">
  <p:cSld name="Content and wide sidebar">
    <p:bg>
      <p:bgPr>
        <a:solidFill>
          <a:schemeClr val="lt1"/>
        </a:solidFill>
      </p:bgPr>
    </p:bg>
    <p:spTree>
      <p:nvGrpSpPr>
        <p:cNvPr id="65" name="Shape 65"/>
        <p:cNvGrpSpPr/>
        <p:nvPr/>
      </p:nvGrpSpPr>
      <p:grpSpPr>
        <a:xfrm>
          <a:off x="0" y="0"/>
          <a:ext cx="0" cy="0"/>
          <a:chOff x="0" y="0"/>
          <a:chExt cx="0" cy="0"/>
        </a:xfrm>
      </p:grpSpPr>
      <p:grpSp>
        <p:nvGrpSpPr>
          <p:cNvPr id="66" name="Google Shape;66;p16"/>
          <p:cNvGrpSpPr/>
          <p:nvPr/>
        </p:nvGrpSpPr>
        <p:grpSpPr>
          <a:xfrm>
            <a:off x="5119383" y="1527535"/>
            <a:ext cx="4024575" cy="21835"/>
            <a:chOff x="9639300" y="2417713"/>
            <a:chExt cx="5366100" cy="29113"/>
          </a:xfrm>
        </p:grpSpPr>
        <p:cxnSp>
          <p:nvCxnSpPr>
            <p:cNvPr id="67" name="Google Shape;67;p16"/>
            <p:cNvCxnSpPr/>
            <p:nvPr/>
          </p:nvCxnSpPr>
          <p:spPr>
            <a:xfrm>
              <a:off x="9639300" y="2417713"/>
              <a:ext cx="5366100" cy="0"/>
            </a:xfrm>
            <a:prstGeom prst="straightConnector1">
              <a:avLst/>
            </a:prstGeom>
            <a:solidFill>
              <a:schemeClr val="lt1"/>
            </a:solidFill>
            <a:ln cap="flat" cmpd="sng" w="25400">
              <a:solidFill>
                <a:schemeClr val="dk1"/>
              </a:solidFill>
              <a:prstDash val="solid"/>
              <a:miter lim="800000"/>
              <a:headEnd len="sm" w="sm" type="none"/>
              <a:tailEnd len="sm" w="sm" type="none"/>
            </a:ln>
          </p:spPr>
        </p:cxnSp>
        <p:cxnSp>
          <p:nvCxnSpPr>
            <p:cNvPr id="68" name="Google Shape;68;p16"/>
            <p:cNvCxnSpPr/>
            <p:nvPr/>
          </p:nvCxnSpPr>
          <p:spPr>
            <a:xfrm>
              <a:off x="9639300" y="2446826"/>
              <a:ext cx="1291200" cy="0"/>
            </a:xfrm>
            <a:prstGeom prst="straightConnector1">
              <a:avLst/>
            </a:prstGeom>
            <a:solidFill>
              <a:schemeClr val="lt1"/>
            </a:solidFill>
            <a:ln cap="flat" cmpd="sng" w="76200">
              <a:solidFill>
                <a:schemeClr val="dk1"/>
              </a:solidFill>
              <a:prstDash val="solid"/>
              <a:miter lim="800000"/>
              <a:headEnd len="sm" w="sm" type="none"/>
              <a:tailEnd len="sm" w="sm" type="none"/>
            </a:ln>
          </p:spPr>
        </p:cxnSp>
      </p:grpSp>
      <p:sp>
        <p:nvSpPr>
          <p:cNvPr id="69" name="Google Shape;69;p16"/>
          <p:cNvSpPr txBox="1"/>
          <p:nvPr>
            <p:ph idx="1" type="body"/>
          </p:nvPr>
        </p:nvSpPr>
        <p:spPr>
          <a:xfrm>
            <a:off x="359100" y="491400"/>
            <a:ext cx="4212000" cy="675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SzPts val="1900"/>
              <a:buFont typeface="Helvetica Neue"/>
              <a:buNone/>
              <a:defRPr sz="1900">
                <a:latin typeface="Helvetica Neue"/>
                <a:ea typeface="Helvetica Neue"/>
                <a:cs typeface="Helvetica Neue"/>
                <a:sym typeface="Helvetica Neue"/>
              </a:defRPr>
            </a:lvl1pPr>
            <a:lvl2pPr indent="-400050" lvl="1" marL="914400" algn="l">
              <a:lnSpc>
                <a:spcPct val="113000"/>
              </a:lnSpc>
              <a:spcBef>
                <a:spcPts val="0"/>
              </a:spcBef>
              <a:spcAft>
                <a:spcPts val="0"/>
              </a:spcAft>
              <a:buSzPts val="2700"/>
              <a:buFont typeface="Helvetica Neue"/>
              <a:buChar char="–"/>
              <a:defRPr sz="2700">
                <a:latin typeface="Helvetica Neue"/>
                <a:ea typeface="Helvetica Neue"/>
                <a:cs typeface="Helvetica Neue"/>
                <a:sym typeface="Helvetica Neue"/>
              </a:defRPr>
            </a:lvl2pPr>
            <a:lvl3pPr indent="-400050" lvl="2" marL="1371600" algn="l">
              <a:lnSpc>
                <a:spcPct val="113000"/>
              </a:lnSpc>
              <a:spcBef>
                <a:spcPts val="0"/>
              </a:spcBef>
              <a:spcAft>
                <a:spcPts val="0"/>
              </a:spcAft>
              <a:buSzPts val="2700"/>
              <a:buFont typeface="Helvetica Neue"/>
              <a:buChar char="–"/>
              <a:defRPr sz="2700">
                <a:latin typeface="Helvetica Neue"/>
                <a:ea typeface="Helvetica Neue"/>
                <a:cs typeface="Helvetica Neue"/>
                <a:sym typeface="Helvetica Neue"/>
              </a:defRPr>
            </a:lvl3pPr>
            <a:lvl4pPr indent="-400050" lvl="3" marL="1828800" algn="l">
              <a:lnSpc>
                <a:spcPct val="113000"/>
              </a:lnSpc>
              <a:spcBef>
                <a:spcPts val="0"/>
              </a:spcBef>
              <a:spcAft>
                <a:spcPts val="0"/>
              </a:spcAft>
              <a:buSzPts val="2700"/>
              <a:buFont typeface="Helvetica Neue"/>
              <a:buChar char="–"/>
              <a:defRPr sz="2700">
                <a:latin typeface="Helvetica Neue"/>
                <a:ea typeface="Helvetica Neue"/>
                <a:cs typeface="Helvetica Neue"/>
                <a:sym typeface="Helvetica Neue"/>
              </a:defRPr>
            </a:lvl4pPr>
            <a:lvl5pPr indent="-400050" lvl="4" marL="2286000" algn="l">
              <a:lnSpc>
                <a:spcPct val="113000"/>
              </a:lnSpc>
              <a:spcBef>
                <a:spcPts val="0"/>
              </a:spcBef>
              <a:spcAft>
                <a:spcPts val="0"/>
              </a:spcAft>
              <a:buSzPts val="2700"/>
              <a:buFont typeface="Helvetica Neue"/>
              <a:buChar char="–"/>
              <a:defRPr sz="2700">
                <a:latin typeface="Helvetica Neue"/>
                <a:ea typeface="Helvetica Neue"/>
                <a:cs typeface="Helvetica Neue"/>
                <a:sym typeface="Helvetica Neue"/>
              </a:defRPr>
            </a:lvl5pPr>
            <a:lvl6pPr indent="-317500" lvl="5" marL="27432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6pPr>
            <a:lvl7pPr indent="-317500" lvl="6" marL="32004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7pPr>
            <a:lvl8pPr indent="-317500" lvl="7" marL="36576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8pPr>
            <a:lvl9pPr indent="-317500" lvl="8" marL="41148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9pPr>
          </a:lstStyle>
          <a:p/>
        </p:txBody>
      </p:sp>
      <p:sp>
        <p:nvSpPr>
          <p:cNvPr id="70" name="Google Shape;70;p16"/>
          <p:cNvSpPr txBox="1"/>
          <p:nvPr>
            <p:ph type="title"/>
          </p:nvPr>
        </p:nvSpPr>
        <p:spPr>
          <a:xfrm>
            <a:off x="5119384" y="204519"/>
            <a:ext cx="3836400" cy="1188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2"/>
              </a:buClr>
              <a:buSzPts val="3200"/>
              <a:buFont typeface="Helvetica Neue"/>
              <a:buNone/>
              <a:defRPr sz="3200">
                <a:solidFill>
                  <a:schemeClr val="dk2"/>
                </a:solidFill>
                <a:latin typeface="Helvetica Neue"/>
                <a:ea typeface="Helvetica Neue"/>
                <a:cs typeface="Helvetica Neue"/>
                <a:sym typeface="Helvetica Neue"/>
              </a:defRPr>
            </a:lvl1pPr>
            <a:lvl2pPr lvl="1"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2pPr>
            <a:lvl3pPr lvl="2"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3pPr>
            <a:lvl4pPr lvl="3"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4pPr>
            <a:lvl5pPr lvl="4"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5pPr>
            <a:lvl6pPr lvl="5"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6pPr>
            <a:lvl7pPr lvl="6"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7pPr>
            <a:lvl8pPr lvl="7"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8pPr>
            <a:lvl9pPr lvl="8" algn="l">
              <a:lnSpc>
                <a:spcPct val="100000"/>
              </a:lnSpc>
              <a:spcBef>
                <a:spcPts val="0"/>
              </a:spcBef>
              <a:spcAft>
                <a:spcPts val="0"/>
              </a:spcAft>
              <a:buSzPts val="1100"/>
              <a:buFont typeface="Helvetica Neue"/>
              <a:buNone/>
              <a:defRPr sz="1100">
                <a:latin typeface="Helvetica Neue"/>
                <a:ea typeface="Helvetica Neue"/>
                <a:cs typeface="Helvetica Neue"/>
                <a:sym typeface="Helvetica Neue"/>
              </a:defRPr>
            </a:lvl9pPr>
          </a:lstStyle>
          <a:p/>
        </p:txBody>
      </p:sp>
      <p:sp>
        <p:nvSpPr>
          <p:cNvPr id="71" name="Google Shape;71;p16"/>
          <p:cNvSpPr txBox="1"/>
          <p:nvPr>
            <p:ph idx="2" type="body"/>
          </p:nvPr>
        </p:nvSpPr>
        <p:spPr>
          <a:xfrm>
            <a:off x="5119388" y="1782375"/>
            <a:ext cx="3078000" cy="3171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SzPts val="1100"/>
              <a:buFont typeface="Helvetica Neue"/>
              <a:buNone/>
              <a:defRPr sz="1100">
                <a:latin typeface="Helvetica Neue"/>
                <a:ea typeface="Helvetica Neue"/>
                <a:cs typeface="Helvetica Neue"/>
                <a:sym typeface="Helvetica Neue"/>
              </a:defRPr>
            </a:lvl1pPr>
            <a:lvl2pPr indent="-317500" lvl="1" marL="9144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2pPr>
            <a:lvl3pPr indent="-317500" lvl="2" marL="13716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3pPr>
            <a:lvl4pPr indent="-317500" lvl="3" marL="18288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4pPr>
            <a:lvl5pPr indent="-317500" lvl="4" marL="22860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5pPr>
            <a:lvl6pPr indent="-317500" lvl="5" marL="27432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6pPr>
            <a:lvl7pPr indent="-317500" lvl="6" marL="32004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7pPr>
            <a:lvl8pPr indent="-317500" lvl="7" marL="36576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8pPr>
            <a:lvl9pPr indent="-317500" lvl="8" marL="4114800" algn="l">
              <a:lnSpc>
                <a:spcPct val="113000"/>
              </a:lnSpc>
              <a:spcBef>
                <a:spcPts val="0"/>
              </a:spcBef>
              <a:spcAft>
                <a:spcPts val="0"/>
              </a:spcAft>
              <a:buSzPts val="1400"/>
              <a:buFont typeface="Helvetica Neue"/>
              <a:buChar char="–"/>
              <a:defRPr sz="1100">
                <a:latin typeface="Helvetica Neue"/>
                <a:ea typeface="Helvetica Neue"/>
                <a:cs typeface="Helvetica Neue"/>
                <a:sym typeface="Helvetica Neu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_1">
    <p:spTree>
      <p:nvGrpSpPr>
        <p:cNvPr id="72" name="Shape 72"/>
        <p:cNvGrpSpPr/>
        <p:nvPr/>
      </p:nvGrpSpPr>
      <p:grpSpPr>
        <a:xfrm>
          <a:off x="0" y="0"/>
          <a:ext cx="0" cy="0"/>
          <a:chOff x="0" y="0"/>
          <a:chExt cx="0" cy="0"/>
        </a:xfrm>
      </p:grpSpPr>
      <p:sp>
        <p:nvSpPr>
          <p:cNvPr id="73" name="Google Shape;73;p17"/>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14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74" name="Google Shape;74;p17"/>
          <p:cNvSpPr txBox="1"/>
          <p:nvPr>
            <p:ph idx="10" type="dt"/>
          </p:nvPr>
        </p:nvSpPr>
        <p:spPr>
          <a:xfrm>
            <a:off x="575100" y="4833000"/>
            <a:ext cx="869400" cy="162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5" name="Google Shape;75;p17"/>
          <p:cNvSpPr txBox="1"/>
          <p:nvPr>
            <p:ph idx="11" type="ftr"/>
          </p:nvPr>
        </p:nvSpPr>
        <p:spPr>
          <a:xfrm>
            <a:off x="1676700" y="4833000"/>
            <a:ext cx="6226200" cy="162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6" name="Google Shape;76;p17"/>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
              <a:t>‹#›</a:t>
            </a:fld>
            <a:endParaRPr/>
          </a:p>
        </p:txBody>
      </p:sp>
      <p:sp>
        <p:nvSpPr>
          <p:cNvPr id="77" name="Google Shape;77;p17"/>
          <p:cNvSpPr txBox="1"/>
          <p:nvPr>
            <p:ph idx="1" type="body"/>
          </p:nvPr>
        </p:nvSpPr>
        <p:spPr>
          <a:xfrm>
            <a:off x="6487003" y="249157"/>
            <a:ext cx="2450100" cy="108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600"/>
              <a:buNone/>
              <a:defRPr sz="600">
                <a:solidFill>
                  <a:srgbClr val="FF0000"/>
                </a:solidFill>
              </a:defRPr>
            </a:lvl1pPr>
            <a:lvl2pPr indent="-317500" lvl="1" marL="914400" algn="l">
              <a:lnSpc>
                <a:spcPct val="113000"/>
              </a:lnSpc>
              <a:spcBef>
                <a:spcPts val="0"/>
              </a:spcBef>
              <a:spcAft>
                <a:spcPts val="0"/>
              </a:spcAft>
              <a:buClr>
                <a:srgbClr val="595959"/>
              </a:buClr>
              <a:buSzPts val="1400"/>
              <a:buChar char="–"/>
              <a:defRPr sz="1100"/>
            </a:lvl2pPr>
            <a:lvl3pPr indent="-317500" lvl="2" marL="1371600" algn="l">
              <a:lnSpc>
                <a:spcPct val="113000"/>
              </a:lnSpc>
              <a:spcBef>
                <a:spcPts val="0"/>
              </a:spcBef>
              <a:spcAft>
                <a:spcPts val="0"/>
              </a:spcAft>
              <a:buClr>
                <a:srgbClr val="595959"/>
              </a:buClr>
              <a:buSzPts val="1400"/>
              <a:buChar char="–"/>
              <a:defRPr sz="1100"/>
            </a:lvl3pPr>
            <a:lvl4pPr indent="-317500" lvl="3" marL="1828800" algn="l">
              <a:lnSpc>
                <a:spcPct val="113000"/>
              </a:lnSpc>
              <a:spcBef>
                <a:spcPts val="0"/>
              </a:spcBef>
              <a:spcAft>
                <a:spcPts val="0"/>
              </a:spcAft>
              <a:buClr>
                <a:srgbClr val="595959"/>
              </a:buClr>
              <a:buSzPts val="1400"/>
              <a:buChar char="–"/>
              <a:defRPr sz="1100"/>
            </a:lvl4pPr>
            <a:lvl5pPr indent="-317500" lvl="4" marL="2286000" algn="l">
              <a:lnSpc>
                <a:spcPct val="113000"/>
              </a:lnSpc>
              <a:spcBef>
                <a:spcPts val="0"/>
              </a:spcBef>
              <a:spcAft>
                <a:spcPts val="0"/>
              </a:spcAft>
              <a:buClr>
                <a:srgbClr val="595959"/>
              </a:buClr>
              <a:buSzPts val="1400"/>
              <a:buChar char="–"/>
              <a:defRPr sz="1100"/>
            </a:lvl5pPr>
            <a:lvl6pPr indent="-317500" lvl="5" marL="2743200" algn="l">
              <a:lnSpc>
                <a:spcPct val="113000"/>
              </a:lnSpc>
              <a:spcBef>
                <a:spcPts val="0"/>
              </a:spcBef>
              <a:spcAft>
                <a:spcPts val="0"/>
              </a:spcAft>
              <a:buClr>
                <a:srgbClr val="595959"/>
              </a:buClr>
              <a:buSzPts val="1400"/>
              <a:buChar char="–"/>
              <a:defRPr sz="1100"/>
            </a:lvl6pPr>
            <a:lvl7pPr indent="-317500" lvl="6" marL="3200400" algn="l">
              <a:lnSpc>
                <a:spcPct val="113000"/>
              </a:lnSpc>
              <a:spcBef>
                <a:spcPts val="0"/>
              </a:spcBef>
              <a:spcAft>
                <a:spcPts val="0"/>
              </a:spcAft>
              <a:buClr>
                <a:srgbClr val="595959"/>
              </a:buClr>
              <a:buSzPts val="1400"/>
              <a:buChar char="–"/>
              <a:defRPr sz="1100"/>
            </a:lvl7pPr>
            <a:lvl8pPr indent="-317500" lvl="7" marL="3657600" algn="l">
              <a:lnSpc>
                <a:spcPct val="113000"/>
              </a:lnSpc>
              <a:spcBef>
                <a:spcPts val="0"/>
              </a:spcBef>
              <a:spcAft>
                <a:spcPts val="0"/>
              </a:spcAft>
              <a:buClr>
                <a:srgbClr val="595959"/>
              </a:buClr>
              <a:buSzPts val="1400"/>
              <a:buChar char="–"/>
              <a:defRPr sz="1100"/>
            </a:lvl8pPr>
            <a:lvl9pPr indent="-317500" lvl="8" marL="4114800" algn="l">
              <a:lnSpc>
                <a:spcPct val="113000"/>
              </a:lnSpc>
              <a:spcBef>
                <a:spcPts val="0"/>
              </a:spcBef>
              <a:spcAft>
                <a:spcPts val="0"/>
              </a:spcAft>
              <a:buClr>
                <a:srgbClr val="595959"/>
              </a:buClr>
              <a:buSzPts val="1400"/>
              <a:buChar char="–"/>
              <a:defRPr sz="11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nd wide sidebar 1" showMasterSp="0">
  <p:cSld name="Picture and wide sidebar_1">
    <p:bg>
      <p:bgPr>
        <a:solidFill>
          <a:srgbClr val="D8D8D8"/>
        </a:solidFill>
      </p:bgPr>
    </p:bg>
    <p:spTree>
      <p:nvGrpSpPr>
        <p:cNvPr id="78" name="Shape 78"/>
        <p:cNvGrpSpPr/>
        <p:nvPr/>
      </p:nvGrpSpPr>
      <p:grpSpPr>
        <a:xfrm>
          <a:off x="0" y="0"/>
          <a:ext cx="0" cy="0"/>
          <a:chOff x="0" y="0"/>
          <a:chExt cx="0" cy="0"/>
        </a:xfrm>
      </p:grpSpPr>
      <p:grpSp>
        <p:nvGrpSpPr>
          <p:cNvPr id="79" name="Google Shape;79;p18"/>
          <p:cNvGrpSpPr/>
          <p:nvPr/>
        </p:nvGrpSpPr>
        <p:grpSpPr>
          <a:xfrm>
            <a:off x="1807589" y="2726890"/>
            <a:ext cx="7335459" cy="22612"/>
            <a:chOff x="9639300" y="2417713"/>
            <a:chExt cx="5366100" cy="29113"/>
          </a:xfrm>
        </p:grpSpPr>
        <p:cxnSp>
          <p:nvCxnSpPr>
            <p:cNvPr id="80" name="Google Shape;80;p18"/>
            <p:cNvCxnSpPr/>
            <p:nvPr/>
          </p:nvCxnSpPr>
          <p:spPr>
            <a:xfrm>
              <a:off x="9639300" y="2417713"/>
              <a:ext cx="53661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81" name="Google Shape;81;p18"/>
            <p:cNvCxnSpPr/>
            <p:nvPr/>
          </p:nvCxnSpPr>
          <p:spPr>
            <a:xfrm flipH="1" rot="10800000">
              <a:off x="9639300" y="2433626"/>
              <a:ext cx="2645700" cy="1320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82" name="Google Shape;82;p18"/>
          <p:cNvSpPr txBox="1"/>
          <p:nvPr>
            <p:ph type="title"/>
          </p:nvPr>
        </p:nvSpPr>
        <p:spPr>
          <a:xfrm>
            <a:off x="1807833" y="1439735"/>
            <a:ext cx="3817800" cy="1188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700"/>
              <a:buFont typeface="Arial"/>
              <a:buNone/>
              <a:defRPr sz="2700">
                <a:solidFill>
                  <a:schemeClr val="lt1"/>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83" name="Google Shape;83;p18"/>
          <p:cNvSpPr txBox="1"/>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fr" sz="600" u="none" cap="none" strike="noStrike">
                <a:solidFill>
                  <a:srgbClr val="888888"/>
                </a:solidFill>
                <a:latin typeface="Arial"/>
                <a:ea typeface="Arial"/>
                <a:cs typeface="Arial"/>
                <a:sym typeface="Arial"/>
              </a:rPr>
              <a:t>‹#›</a:t>
            </a:fld>
            <a:endParaRPr b="0" i="0" sz="600" u="none" cap="none" strike="noStrike">
              <a:solidFill>
                <a:srgbClr val="888888"/>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6.png"/><Relationship Id="rId13" Type="http://schemas.openxmlformats.org/officeDocument/2006/relationships/image" Target="../media/image14.png"/><Relationship Id="rId12" Type="http://schemas.openxmlformats.org/officeDocument/2006/relationships/image" Target="../media/image7.png"/><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1.png"/><Relationship Id="rId9" Type="http://schemas.openxmlformats.org/officeDocument/2006/relationships/image" Target="../media/image8.png"/><Relationship Id="rId14" Type="http://schemas.openxmlformats.org/officeDocument/2006/relationships/image" Target="../media/image41.png"/><Relationship Id="rId5" Type="http://schemas.openxmlformats.org/officeDocument/2006/relationships/image" Target="../media/image18.png"/><Relationship Id="rId6" Type="http://schemas.openxmlformats.org/officeDocument/2006/relationships/image" Target="../media/image5.png"/><Relationship Id="rId7" Type="http://schemas.openxmlformats.org/officeDocument/2006/relationships/image" Target="../media/image33.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1" Type="http://schemas.openxmlformats.org/officeDocument/2006/relationships/hyperlink" Target="https://blog.verisign.com/domain-names/q2-2024-domain-name-industry-brief-quarterly-report/" TargetMode="External"/><Relationship Id="rId10" Type="http://schemas.openxmlformats.org/officeDocument/2006/relationships/hyperlink" Target="https://data.iana.org/TLD/tlds-alpha-by-domain.txt" TargetMode="External"/><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hyperlink" Target="https://www.internic.net/domain/named.root" TargetMode="External"/><Relationship Id="rId9" Type="http://schemas.openxmlformats.org/officeDocument/2006/relationships/hyperlink" Target="https://data.iana.org/TLD/tlds-alpha-by-domain.txt" TargetMode="External"/><Relationship Id="rId5" Type="http://schemas.openxmlformats.org/officeDocument/2006/relationships/hyperlink" Target="https://data.iana.org/TLD/tlds-alpha-by-domain.txt" TargetMode="External"/><Relationship Id="rId6" Type="http://schemas.openxmlformats.org/officeDocument/2006/relationships/hyperlink" Target="https://data.iana.org/TLD/tlds-alpha-by-domain.txt" TargetMode="External"/><Relationship Id="rId7" Type="http://schemas.openxmlformats.org/officeDocument/2006/relationships/hyperlink" Target="https://data.iana.org/TLD/tlds-alpha-by-domain.txt" TargetMode="External"/><Relationship Id="rId8" Type="http://schemas.openxmlformats.org/officeDocument/2006/relationships/hyperlink" Target="https://data.iana.org/TLD/tlds-alpha-by-domain.tx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iana.org/assignments/special-use-domain-names/special-use-domain-names.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hyperlink" Target="https://en.wikipedia.org/wiki/List_of_DNS_record_types" TargetMode="External"/><Relationship Id="rId4" Type="http://schemas.openxmlformats.org/officeDocument/2006/relationships/hyperlink" Target="https://howdns.works/ep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omments" Target="../comments/commen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hyperlink" Target="https://sequencediagram.org/index.html#initialData=FAFwliA2CmAECqBnaAnWARAcgZVgJWkQHtIBXcIgO2GADMqQBDAd0KIFtoBWYyMAE1i0AjAAYAnBmgA3MAGNodBizaceJAUIBMAZh35oc0ikRhpcLNiWUmrYmt6bau-XiJEQGHNdurujwWc9WAAVABl0WAA6OQ5YTEZOWGxUcxMfFXt-DUCXWGgAD0SABxgYuIBBcgALIhQIRnBzL1wUlDTEGmB0GXloAFoAPgIjEzMLHAAuZhmowpKy2PZYAH5gRjkmxotehRpGACMiAtgiNINR02bLSewmFE8iWlgUQ2MridwARVJUAE8hHV8kV2KVoOV2DQRu9xi0hm4PC1JsJEJ4AI6-FB-SawGbMOYgsEQ9abMzbfDuTyWElbEBwaFja7eBkfFoAHn6CKpUwItFQKEYkFgICI0SW8SsNH40A2tPplJaULejM+Q3CkQh8UScDaHUmWlRsAx-xxeIJC3BSxpZLpoQiYriCSSutQnWALNhlg56odyydOtSrsmvP5guFovmoMWjqs0tlNrgPs1-uSgfSHqZ2CGkaJ4qqIFq9SYTU+qfaQZ0KEExqxptmOejkPj0nJDctlRqdQaJZaZY67uVrK9-Tbmvzhe7npwfaDFUoiFYKBxFVx9cJjdgwgAbAB2KLiAAcUV0x50wDjpJbttHec7RcaU9aac6F7lFxhmfWRxOZ1Q75VSIAKKUIITwvIOj6wD8-zdLs0AchmnyTHOC6oMuq74jecTbnuh6nqeUoype5I9LIChA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ctrl.blog/entry/dns-client-ttl.html" TargetMode="Externa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40.png"/><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35.png"/><Relationship Id="rId4" Type="http://schemas.openxmlformats.org/officeDocument/2006/relationships/image" Target="../media/image46.png"/><Relationship Id="rId9" Type="http://schemas.openxmlformats.org/officeDocument/2006/relationships/image" Target="../media/image48.png"/><Relationship Id="rId5" Type="http://schemas.openxmlformats.org/officeDocument/2006/relationships/image" Target="../media/image38.png"/><Relationship Id="rId6" Type="http://schemas.openxmlformats.org/officeDocument/2006/relationships/image" Target="../media/image34.png"/><Relationship Id="rId7" Type="http://schemas.openxmlformats.org/officeDocument/2006/relationships/image" Target="../media/image42.png"/><Relationship Id="rId8"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43.png"/><Relationship Id="rId4" Type="http://schemas.openxmlformats.org/officeDocument/2006/relationships/image" Target="../media/image62.png"/><Relationship Id="rId5" Type="http://schemas.openxmlformats.org/officeDocument/2006/relationships/image" Target="../media/image50.png"/><Relationship Id="rId6" Type="http://schemas.openxmlformats.org/officeDocument/2006/relationships/image" Target="../media/image54.png"/><Relationship Id="rId7"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43.png"/><Relationship Id="rId4" Type="http://schemas.openxmlformats.org/officeDocument/2006/relationships/image" Target="../media/image62.png"/><Relationship Id="rId5" Type="http://schemas.openxmlformats.org/officeDocument/2006/relationships/image" Target="../media/image50.png"/><Relationship Id="rId6" Type="http://schemas.openxmlformats.org/officeDocument/2006/relationships/image" Target="../media/image54.png"/><Relationship Id="rId7"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49.png"/><Relationship Id="rId4" Type="http://schemas.openxmlformats.org/officeDocument/2006/relationships/image" Target="../media/image71.png"/><Relationship Id="rId5" Type="http://schemas.openxmlformats.org/officeDocument/2006/relationships/image" Target="../media/image58.png"/><Relationship Id="rId6" Type="http://schemas.openxmlformats.org/officeDocument/2006/relationships/image" Target="../media/image55.png"/><Relationship Id="rId7" Type="http://schemas.openxmlformats.org/officeDocument/2006/relationships/image" Target="../media/image80.png"/><Relationship Id="rId8"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52.png"/><Relationship Id="rId4" Type="http://schemas.openxmlformats.org/officeDocument/2006/relationships/image" Target="../media/image64.png"/><Relationship Id="rId5" Type="http://schemas.openxmlformats.org/officeDocument/2006/relationships/image" Target="../media/image81.png"/><Relationship Id="rId6" Type="http://schemas.openxmlformats.org/officeDocument/2006/relationships/image" Target="../media/image6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 Id="rId4" Type="http://schemas.openxmlformats.org/officeDocument/2006/relationships/image" Target="../media/image7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8.png"/><Relationship Id="rId4" Type="http://schemas.openxmlformats.org/officeDocument/2006/relationships/image" Target="../media/image7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43.png"/><Relationship Id="rId4" Type="http://schemas.openxmlformats.org/officeDocument/2006/relationships/image" Target="../media/image62.png"/><Relationship Id="rId5" Type="http://schemas.openxmlformats.org/officeDocument/2006/relationships/image" Target="../media/image50.png"/><Relationship Id="rId6" Type="http://schemas.openxmlformats.org/officeDocument/2006/relationships/image" Target="../media/image54.png"/><Relationship Id="rId7"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71.png"/><Relationship Id="rId4" Type="http://schemas.openxmlformats.org/officeDocument/2006/relationships/image" Target="../media/image65.png"/><Relationship Id="rId5" Type="http://schemas.openxmlformats.org/officeDocument/2006/relationships/image" Target="../media/image58.png"/><Relationship Id="rId6" Type="http://schemas.openxmlformats.org/officeDocument/2006/relationships/image" Target="../media/image7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6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72.png"/><Relationship Id="rId4" Type="http://schemas.openxmlformats.org/officeDocument/2006/relationships/image" Target="../media/image76.png"/><Relationship Id="rId5" Type="http://schemas.openxmlformats.org/officeDocument/2006/relationships/image" Target="../media/image6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hyperlink" Target="https://books.google.com/ngram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43.png"/><Relationship Id="rId4" Type="http://schemas.openxmlformats.org/officeDocument/2006/relationships/image" Target="../media/image62.png"/><Relationship Id="rId5" Type="http://schemas.openxmlformats.org/officeDocument/2006/relationships/image" Target="../media/image50.png"/><Relationship Id="rId6" Type="http://schemas.openxmlformats.org/officeDocument/2006/relationships/image" Target="../media/image54.png"/><Relationship Id="rId7"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 Id="rId3" Type="http://schemas.openxmlformats.org/officeDocument/2006/relationships/hyperlink" Target="https://http3-explained.haxx.se/en/why-quic" TargetMode="External"/><Relationship Id="rId4" Type="http://schemas.openxmlformats.org/officeDocument/2006/relationships/image" Target="../media/image70.png"/><Relationship Id="rId5" Type="http://schemas.openxmlformats.org/officeDocument/2006/relationships/image" Target="../media/image7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5.xml"/><Relationship Id="rId3" Type="http://schemas.openxmlformats.org/officeDocument/2006/relationships/image" Target="../media/image70.png"/><Relationship Id="rId4" Type="http://schemas.openxmlformats.org/officeDocument/2006/relationships/image" Target="../media/image7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7.xml"/><Relationship Id="rId3" Type="http://schemas.openxmlformats.org/officeDocument/2006/relationships/image" Target="../media/image7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rfcs.io/dns" TargetMode="External"/><Relationship Id="rId4" Type="http://schemas.openxmlformats.org/officeDocument/2006/relationships/hyperlink" Target="http://unixwiz.net/techtips/iguide-kaminsky-dns-vuln.html" TargetMode="External"/><Relationship Id="rId5" Type="http://schemas.openxmlformats.org/officeDocument/2006/relationships/hyperlink" Target="https://www.zytrax.com/books/dn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 Id="rId3"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7" name="Shape 87"/>
        <p:cNvGrpSpPr/>
        <p:nvPr/>
      </p:nvGrpSpPr>
      <p:grpSpPr>
        <a:xfrm>
          <a:off x="0" y="0"/>
          <a:ext cx="0" cy="0"/>
          <a:chOff x="0" y="0"/>
          <a:chExt cx="0" cy="0"/>
        </a:xfrm>
      </p:grpSpPr>
      <p:sp>
        <p:nvSpPr>
          <p:cNvPr id="88" name="Google Shape;88;p19"/>
          <p:cNvSpPr txBox="1"/>
          <p:nvPr>
            <p:ph idx="2" type="subTitle"/>
          </p:nvPr>
        </p:nvSpPr>
        <p:spPr>
          <a:xfrm>
            <a:off x="2498079" y="4415575"/>
            <a:ext cx="5079900" cy="351900"/>
          </a:xfrm>
          <a:prstGeom prst="rect">
            <a:avLst/>
          </a:prstGeom>
          <a:noFill/>
          <a:ln>
            <a:noFill/>
          </a:ln>
        </p:spPr>
        <p:txBody>
          <a:bodyPr anchorCtr="0" anchor="t" bIns="0" lIns="0" spcFirstLastPara="1" rIns="0" wrap="square" tIns="0">
            <a:noAutofit/>
          </a:bodyPr>
          <a:lstStyle/>
          <a:p>
            <a:pPr indent="0" lvl="0" marL="0" rtl="0" algn="l">
              <a:lnSpc>
                <a:spcPct val="113000"/>
              </a:lnSpc>
              <a:spcBef>
                <a:spcPts val="0"/>
              </a:spcBef>
              <a:spcAft>
                <a:spcPts val="0"/>
              </a:spcAft>
              <a:buSzPts val="1100"/>
              <a:buNone/>
            </a:pPr>
            <a:r>
              <a:rPr lang="fr" sz="2400"/>
              <a:t>Julien MANTEAU -</a:t>
            </a:r>
            <a:r>
              <a:rPr lang="fr" sz="2400"/>
              <a:t> 2025</a:t>
            </a:r>
            <a:endParaRPr sz="2400"/>
          </a:p>
        </p:txBody>
      </p:sp>
      <p:pic>
        <p:nvPicPr>
          <p:cNvPr id="89" name="Google Shape;89;p19"/>
          <p:cNvPicPr preferRelativeResize="0"/>
          <p:nvPr/>
        </p:nvPicPr>
        <p:blipFill>
          <a:blip r:embed="rId3">
            <a:alphaModFix/>
          </a:blip>
          <a:stretch>
            <a:fillRect/>
          </a:stretch>
        </p:blipFill>
        <p:spPr>
          <a:xfrm>
            <a:off x="0" y="0"/>
            <a:ext cx="9144003" cy="4106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2600"/>
              <a:buNone/>
            </a:pPr>
            <a:r>
              <a:rPr lang="fr" sz="3000"/>
              <a:t>Objectives</a:t>
            </a:r>
            <a:endParaRPr sz="3000"/>
          </a:p>
        </p:txBody>
      </p:sp>
      <p:sp>
        <p:nvSpPr>
          <p:cNvPr id="96" name="Google Shape;96;p20"/>
          <p:cNvSpPr txBox="1"/>
          <p:nvPr>
            <p:ph idx="1" type="body"/>
          </p:nvPr>
        </p:nvSpPr>
        <p:spPr>
          <a:xfrm>
            <a:off x="387900" y="1228675"/>
            <a:ext cx="8520600" cy="3416400"/>
          </a:xfrm>
          <a:prstGeom prst="rect">
            <a:avLst/>
          </a:prstGeom>
          <a:noFill/>
          <a:ln>
            <a:noFill/>
          </a:ln>
        </p:spPr>
        <p:txBody>
          <a:bodyPr anchorCtr="0" anchor="t" bIns="0" lIns="0" spcFirstLastPara="1" rIns="0" wrap="square" tIns="0">
            <a:noAutofit/>
          </a:bodyPr>
          <a:lstStyle/>
          <a:p>
            <a:pPr indent="-311150" lvl="0" marL="342900" rtl="0" algn="l">
              <a:lnSpc>
                <a:spcPct val="150000"/>
              </a:lnSpc>
              <a:spcBef>
                <a:spcPts val="900"/>
              </a:spcBef>
              <a:spcAft>
                <a:spcPts val="0"/>
              </a:spcAft>
              <a:buClr>
                <a:srgbClr val="666666"/>
              </a:buClr>
              <a:buSzPts val="2300"/>
              <a:buFont typeface="Helvetica Neue"/>
              <a:buChar char="•"/>
            </a:pPr>
            <a:r>
              <a:rPr lang="fr" sz="2300">
                <a:solidFill>
                  <a:srgbClr val="666666"/>
                </a:solidFill>
                <a:latin typeface="Helvetica Neue"/>
                <a:ea typeface="Helvetica Neue"/>
                <a:cs typeface="Helvetica Neue"/>
                <a:sym typeface="Helvetica Neue"/>
              </a:rPr>
              <a:t>Describe the principles of the DNS</a:t>
            </a:r>
            <a:endParaRPr sz="2300">
              <a:solidFill>
                <a:srgbClr val="666666"/>
              </a:solidFill>
              <a:latin typeface="Helvetica Neue"/>
              <a:ea typeface="Helvetica Neue"/>
              <a:cs typeface="Helvetica Neue"/>
              <a:sym typeface="Helvetica Neue"/>
            </a:endParaRPr>
          </a:p>
          <a:p>
            <a:pPr indent="-311150" lvl="0" marL="342900" rtl="0" algn="l">
              <a:lnSpc>
                <a:spcPct val="150000"/>
              </a:lnSpc>
              <a:spcBef>
                <a:spcPts val="0"/>
              </a:spcBef>
              <a:spcAft>
                <a:spcPts val="0"/>
              </a:spcAft>
              <a:buClr>
                <a:srgbClr val="666666"/>
              </a:buClr>
              <a:buSzPts val="2300"/>
              <a:buFont typeface="Helvetica Neue"/>
              <a:buChar char="•"/>
            </a:pPr>
            <a:r>
              <a:rPr lang="fr" sz="2300">
                <a:solidFill>
                  <a:srgbClr val="666666"/>
                </a:solidFill>
                <a:latin typeface="Helvetica Neue"/>
                <a:ea typeface="Helvetica Neue"/>
                <a:cs typeface="Helvetica Neue"/>
                <a:sym typeface="Helvetica Neue"/>
              </a:rPr>
              <a:t>Describe how the DNS data are handled and organized</a:t>
            </a:r>
            <a:endParaRPr sz="2300">
              <a:solidFill>
                <a:srgbClr val="666666"/>
              </a:solidFill>
              <a:latin typeface="Helvetica Neue"/>
              <a:ea typeface="Helvetica Neue"/>
              <a:cs typeface="Helvetica Neue"/>
              <a:sym typeface="Helvetica Neue"/>
            </a:endParaRPr>
          </a:p>
          <a:p>
            <a:pPr indent="-311150" lvl="0" marL="342900" rtl="0" algn="l">
              <a:lnSpc>
                <a:spcPct val="150000"/>
              </a:lnSpc>
              <a:spcBef>
                <a:spcPts val="0"/>
              </a:spcBef>
              <a:spcAft>
                <a:spcPts val="0"/>
              </a:spcAft>
              <a:buClr>
                <a:srgbClr val="666666"/>
              </a:buClr>
              <a:buSzPts val="2300"/>
              <a:buFont typeface="Helvetica Neue"/>
              <a:buChar char="•"/>
            </a:pPr>
            <a:r>
              <a:rPr lang="fr" sz="2300">
                <a:solidFill>
                  <a:srgbClr val="666666"/>
                </a:solidFill>
                <a:latin typeface="Helvetica Neue"/>
                <a:ea typeface="Helvetica Neue"/>
                <a:cs typeface="Helvetica Neue"/>
                <a:sym typeface="Helvetica Neue"/>
              </a:rPr>
              <a:t>Identify the various types of name servers and how a DNS resolution is done</a:t>
            </a:r>
            <a:endParaRPr sz="2300">
              <a:solidFill>
                <a:srgbClr val="666666"/>
              </a:solidFill>
              <a:latin typeface="Helvetica Neue"/>
              <a:ea typeface="Helvetica Neue"/>
              <a:cs typeface="Helvetica Neue"/>
              <a:sym typeface="Helvetica Neue"/>
            </a:endParaRPr>
          </a:p>
          <a:p>
            <a:pPr indent="-311150" lvl="0" marL="342900" rtl="0" algn="l">
              <a:lnSpc>
                <a:spcPct val="150000"/>
              </a:lnSpc>
              <a:spcBef>
                <a:spcPts val="0"/>
              </a:spcBef>
              <a:spcAft>
                <a:spcPts val="0"/>
              </a:spcAft>
              <a:buClr>
                <a:srgbClr val="666666"/>
              </a:buClr>
              <a:buSzPts val="2300"/>
              <a:buFont typeface="Helvetica Neue"/>
              <a:buChar char="•"/>
            </a:pPr>
            <a:r>
              <a:rPr lang="fr" sz="2300">
                <a:solidFill>
                  <a:srgbClr val="666666"/>
                </a:solidFill>
                <a:latin typeface="Helvetica Neue"/>
                <a:ea typeface="Helvetica Neue"/>
                <a:cs typeface="Helvetica Neue"/>
                <a:sym typeface="Helvetica Neue"/>
              </a:rPr>
              <a:t>Describe the key DNS operations</a:t>
            </a:r>
            <a:endParaRPr sz="2300">
              <a:solidFill>
                <a:srgbClr val="666666"/>
              </a:solidFill>
              <a:latin typeface="Helvetica Neue"/>
              <a:ea typeface="Helvetica Neue"/>
              <a:cs typeface="Helvetica Neue"/>
              <a:sym typeface="Helvetica Neue"/>
            </a:endParaRPr>
          </a:p>
          <a:p>
            <a:pPr indent="-311150" lvl="0" marL="342900" rtl="0" algn="l">
              <a:lnSpc>
                <a:spcPct val="150000"/>
              </a:lnSpc>
              <a:spcBef>
                <a:spcPts val="0"/>
              </a:spcBef>
              <a:spcAft>
                <a:spcPts val="0"/>
              </a:spcAft>
              <a:buClr>
                <a:srgbClr val="666666"/>
              </a:buClr>
              <a:buSzPts val="2300"/>
              <a:buFont typeface="Helvetica Neue"/>
              <a:buChar char="•"/>
            </a:pPr>
            <a:r>
              <a:rPr lang="fr" sz="2300">
                <a:solidFill>
                  <a:srgbClr val="666666"/>
                </a:solidFill>
                <a:latin typeface="Helvetica Neue"/>
                <a:ea typeface="Helvetica Neue"/>
                <a:cs typeface="Helvetica Neue"/>
                <a:sym typeface="Helvetica Neue"/>
              </a:rPr>
              <a:t>Describe the role of DNS in killchain</a:t>
            </a:r>
            <a:endParaRPr sz="2300">
              <a:solidFill>
                <a:srgbClr val="666666"/>
              </a:solidFill>
              <a:latin typeface="Helvetica Neue"/>
              <a:ea typeface="Helvetica Neue"/>
              <a:cs typeface="Helvetica Neue"/>
              <a:sym typeface="Helvetica Neue"/>
            </a:endParaRPr>
          </a:p>
          <a:p>
            <a:pPr indent="-311150" lvl="0" marL="342900" rtl="0" algn="l">
              <a:lnSpc>
                <a:spcPct val="150000"/>
              </a:lnSpc>
              <a:spcBef>
                <a:spcPts val="0"/>
              </a:spcBef>
              <a:spcAft>
                <a:spcPts val="0"/>
              </a:spcAft>
              <a:buClr>
                <a:srgbClr val="666666"/>
              </a:buClr>
              <a:buSzPts val="2300"/>
              <a:buFont typeface="Helvetica Neue"/>
              <a:buChar char="•"/>
            </a:pPr>
            <a:r>
              <a:rPr lang="fr" sz="2300">
                <a:solidFill>
                  <a:srgbClr val="666666"/>
                </a:solidFill>
                <a:latin typeface="Helvetica Neue"/>
                <a:ea typeface="Helvetica Neue"/>
                <a:cs typeface="Helvetica Neue"/>
                <a:sym typeface="Helvetica Neue"/>
              </a:rPr>
              <a:t>Identify the malicious usages of DNS</a:t>
            </a:r>
            <a:endParaRPr sz="2300">
              <a:solidFill>
                <a:srgbClr val="666666"/>
              </a:solidFill>
              <a:latin typeface="Helvetica Neue"/>
              <a:ea typeface="Helvetica Neue"/>
              <a:cs typeface="Helvetica Neue"/>
              <a:sym typeface="Helvetica Neue"/>
            </a:endParaRPr>
          </a:p>
          <a:p>
            <a:pPr indent="0" lvl="0" marL="0" rtl="0" algn="l">
              <a:lnSpc>
                <a:spcPct val="150000"/>
              </a:lnSpc>
              <a:spcBef>
                <a:spcPts val="900"/>
              </a:spcBef>
              <a:spcAft>
                <a:spcPts val="0"/>
              </a:spcAft>
              <a:buSzPts val="1100"/>
              <a:buNone/>
            </a:pPr>
            <a:r>
              <a:t/>
            </a:r>
            <a:endParaRPr sz="1700">
              <a:solidFill>
                <a:schemeClr val="dk1"/>
              </a:solidFill>
              <a:latin typeface="Helvetica Neue"/>
              <a:ea typeface="Helvetica Neue"/>
              <a:cs typeface="Helvetica Neue"/>
              <a:sym typeface="Helvetica Neue"/>
            </a:endParaRPr>
          </a:p>
          <a:p>
            <a:pPr indent="0" lvl="0" marL="0" rtl="0" algn="l">
              <a:lnSpc>
                <a:spcPct val="150000"/>
              </a:lnSpc>
              <a:spcBef>
                <a:spcPts val="900"/>
              </a:spcBef>
              <a:spcAft>
                <a:spcPts val="900"/>
              </a:spcAft>
              <a:buSzPts val="1100"/>
              <a:buNone/>
            </a:pPr>
            <a:r>
              <a:t/>
            </a:r>
            <a:endParaRPr sz="1700">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59100" y="491400"/>
            <a:ext cx="8424000" cy="2949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b="1" lang="fr" sz="1500">
                <a:solidFill>
                  <a:schemeClr val="dk2"/>
                </a:solidFill>
              </a:rPr>
              <a:t>Teacher Presentation: </a:t>
            </a:r>
            <a:r>
              <a:rPr b="1" lang="fr" sz="1500">
                <a:solidFill>
                  <a:schemeClr val="dk2"/>
                </a:solidFill>
              </a:rPr>
              <a:t>Julien MANTEAU</a:t>
            </a:r>
            <a:endParaRPr b="1" sz="1500">
              <a:solidFill>
                <a:schemeClr val="dk2"/>
              </a:solidFill>
            </a:endParaRPr>
          </a:p>
          <a:p>
            <a:pPr indent="0" lvl="0" marL="0" rtl="0" algn="l">
              <a:lnSpc>
                <a:spcPct val="110000"/>
              </a:lnSpc>
              <a:spcBef>
                <a:spcPts val="0"/>
              </a:spcBef>
              <a:spcAft>
                <a:spcPts val="0"/>
              </a:spcAft>
              <a:buClr>
                <a:schemeClr val="dk2"/>
              </a:buClr>
              <a:buSzPts val="1900"/>
              <a:buFont typeface="Arial"/>
              <a:buNone/>
            </a:pPr>
            <a:r>
              <a:t/>
            </a:r>
            <a:endParaRPr/>
          </a:p>
        </p:txBody>
      </p:sp>
      <p:sp>
        <p:nvSpPr>
          <p:cNvPr id="102" name="Google Shape;102;p21"/>
          <p:cNvSpPr txBox="1"/>
          <p:nvPr>
            <p:ph idx="1" type="body"/>
          </p:nvPr>
        </p:nvSpPr>
        <p:spPr>
          <a:xfrm>
            <a:off x="400575" y="895069"/>
            <a:ext cx="8847000" cy="40182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SzPts val="1400"/>
              <a:buNone/>
            </a:pPr>
            <a:r>
              <a:t/>
            </a:r>
            <a:endParaRPr sz="1100"/>
          </a:p>
          <a:p>
            <a:pPr indent="-254000" lvl="0" marL="342900" rtl="0" algn="l">
              <a:lnSpc>
                <a:spcPct val="150000"/>
              </a:lnSpc>
              <a:spcBef>
                <a:spcPts val="0"/>
              </a:spcBef>
              <a:spcAft>
                <a:spcPts val="0"/>
              </a:spcAft>
              <a:buSzPts val="1400"/>
              <a:buChar char="•"/>
            </a:pPr>
            <a:r>
              <a:rPr lang="fr" sz="1400"/>
              <a:t>Network &amp; Telecom Engineer (ENSEEIHT)</a:t>
            </a:r>
            <a:endParaRPr sz="1400"/>
          </a:p>
          <a:p>
            <a:pPr indent="0" lvl="0" marL="0" rtl="0" algn="l">
              <a:lnSpc>
                <a:spcPct val="150000"/>
              </a:lnSpc>
              <a:spcBef>
                <a:spcPts val="0"/>
              </a:spcBef>
              <a:spcAft>
                <a:spcPts val="0"/>
              </a:spcAft>
              <a:buSzPts val="1400"/>
              <a:buNone/>
            </a:pPr>
            <a:r>
              <a:t/>
            </a:r>
            <a:endParaRPr sz="1200"/>
          </a:p>
          <a:p>
            <a:pPr indent="0" lvl="0" marL="0" rtl="0" algn="l">
              <a:lnSpc>
                <a:spcPct val="150000"/>
              </a:lnSpc>
              <a:spcBef>
                <a:spcPts val="0"/>
              </a:spcBef>
              <a:spcAft>
                <a:spcPts val="0"/>
              </a:spcAft>
              <a:buSzPts val="1400"/>
              <a:buNone/>
            </a:pPr>
            <a:r>
              <a:t/>
            </a:r>
            <a:endParaRPr sz="1200"/>
          </a:p>
          <a:p>
            <a:pPr indent="0" lvl="0" marL="0" rtl="0" algn="l">
              <a:lnSpc>
                <a:spcPct val="150000"/>
              </a:lnSpc>
              <a:spcBef>
                <a:spcPts val="0"/>
              </a:spcBef>
              <a:spcAft>
                <a:spcPts val="0"/>
              </a:spcAft>
              <a:buSzPts val="1400"/>
              <a:buNone/>
            </a:pPr>
            <a:r>
              <a:t/>
            </a:r>
            <a:endParaRPr sz="1200"/>
          </a:p>
          <a:p>
            <a:pPr indent="0" lvl="0" marL="0" rtl="0" algn="l">
              <a:lnSpc>
                <a:spcPct val="150000"/>
              </a:lnSpc>
              <a:spcBef>
                <a:spcPts val="0"/>
              </a:spcBef>
              <a:spcAft>
                <a:spcPts val="0"/>
              </a:spcAft>
              <a:buSzPts val="1400"/>
              <a:buNone/>
            </a:pPr>
            <a:r>
              <a:t/>
            </a:r>
            <a:endParaRPr sz="1200"/>
          </a:p>
          <a:p>
            <a:pPr indent="0" lvl="0" marL="0" rtl="0" algn="l">
              <a:lnSpc>
                <a:spcPct val="150000"/>
              </a:lnSpc>
              <a:spcBef>
                <a:spcPts val="0"/>
              </a:spcBef>
              <a:spcAft>
                <a:spcPts val="0"/>
              </a:spcAft>
              <a:buSzPts val="1400"/>
              <a:buNone/>
            </a:pPr>
            <a:r>
              <a:t/>
            </a:r>
            <a:endParaRPr sz="1200"/>
          </a:p>
          <a:p>
            <a:pPr indent="0" lvl="0" marL="0" rtl="0" algn="l">
              <a:lnSpc>
                <a:spcPct val="150000"/>
              </a:lnSpc>
              <a:spcBef>
                <a:spcPts val="0"/>
              </a:spcBef>
              <a:spcAft>
                <a:spcPts val="0"/>
              </a:spcAft>
              <a:buSzPts val="1400"/>
              <a:buNone/>
            </a:pPr>
            <a:r>
              <a:t/>
            </a:r>
            <a:endParaRPr sz="1200"/>
          </a:p>
          <a:p>
            <a:pPr indent="0" lvl="0" marL="0" rtl="0" algn="l">
              <a:lnSpc>
                <a:spcPct val="150000"/>
              </a:lnSpc>
              <a:spcBef>
                <a:spcPts val="0"/>
              </a:spcBef>
              <a:spcAft>
                <a:spcPts val="0"/>
              </a:spcAft>
              <a:buSzPts val="1400"/>
              <a:buNone/>
            </a:pPr>
            <a:r>
              <a:t/>
            </a:r>
            <a:endParaRPr sz="1200"/>
          </a:p>
          <a:p>
            <a:pPr indent="0" lvl="0" marL="0" rtl="0" algn="l">
              <a:lnSpc>
                <a:spcPct val="150000"/>
              </a:lnSpc>
              <a:spcBef>
                <a:spcPts val="0"/>
              </a:spcBef>
              <a:spcAft>
                <a:spcPts val="0"/>
              </a:spcAft>
              <a:buSzPts val="1400"/>
              <a:buNone/>
            </a:pPr>
            <a:r>
              <a:t/>
            </a:r>
            <a:endParaRPr sz="1200"/>
          </a:p>
          <a:p>
            <a:pPr indent="-254000" lvl="0" marL="342900" rtl="0" algn="l">
              <a:lnSpc>
                <a:spcPct val="150000"/>
              </a:lnSpc>
              <a:spcBef>
                <a:spcPts val="0"/>
              </a:spcBef>
              <a:spcAft>
                <a:spcPts val="0"/>
              </a:spcAft>
              <a:buSzPts val="1400"/>
              <a:buChar char="•"/>
            </a:pPr>
            <a:r>
              <a:rPr lang="fr" sz="1400"/>
              <a:t>Lecturer at Bézier then Blagnac IUT in “Réseaux Télécoms” from 2010 to 2020</a:t>
            </a:r>
            <a:endParaRPr sz="1400"/>
          </a:p>
          <a:p>
            <a:pPr indent="-254000" lvl="0" marL="342900" rtl="0" algn="l">
              <a:lnSpc>
                <a:spcPct val="150000"/>
              </a:lnSpc>
              <a:spcBef>
                <a:spcPts val="0"/>
              </a:spcBef>
              <a:spcAft>
                <a:spcPts val="0"/>
              </a:spcAft>
              <a:buSzPts val="1400"/>
              <a:buChar char="•"/>
            </a:pPr>
            <a:r>
              <a:rPr lang="fr" sz="1400"/>
              <a:t>Leader on Airbus CyberDiploma cursus setup and teacher/lecturer since 2021</a:t>
            </a:r>
            <a:endParaRPr sz="1400"/>
          </a:p>
          <a:p>
            <a:pPr indent="-254000" lvl="0" marL="342900" rtl="0" algn="l">
              <a:lnSpc>
                <a:spcPct val="150000"/>
              </a:lnSpc>
              <a:spcBef>
                <a:spcPts val="0"/>
              </a:spcBef>
              <a:spcAft>
                <a:spcPts val="0"/>
              </a:spcAft>
              <a:buSzPts val="1400"/>
              <a:buChar char="•"/>
            </a:pPr>
            <a:r>
              <a:rPr lang="fr" sz="1400"/>
              <a:t>Hobbies:</a:t>
            </a:r>
            <a:endParaRPr sz="1400"/>
          </a:p>
          <a:p>
            <a:pPr indent="0" lvl="0" marL="0" rtl="0" algn="l">
              <a:lnSpc>
                <a:spcPct val="150000"/>
              </a:lnSpc>
              <a:spcBef>
                <a:spcPts val="0"/>
              </a:spcBef>
              <a:spcAft>
                <a:spcPts val="0"/>
              </a:spcAft>
              <a:buSzPts val="1400"/>
              <a:buNone/>
            </a:pPr>
            <a:r>
              <a:t/>
            </a:r>
            <a:endParaRPr sz="1200"/>
          </a:p>
        </p:txBody>
      </p:sp>
      <p:pic>
        <p:nvPicPr>
          <p:cNvPr id="103" name="Google Shape;103;p21"/>
          <p:cNvPicPr preferRelativeResize="0"/>
          <p:nvPr/>
        </p:nvPicPr>
        <p:blipFill rotWithShape="1">
          <a:blip r:embed="rId3">
            <a:alphaModFix/>
          </a:blip>
          <a:srcRect b="0" l="0" r="0" t="0"/>
          <a:stretch/>
        </p:blipFill>
        <p:spPr>
          <a:xfrm>
            <a:off x="1717650" y="4444610"/>
            <a:ext cx="325868" cy="236441"/>
          </a:xfrm>
          <a:prstGeom prst="rect">
            <a:avLst/>
          </a:prstGeom>
          <a:noFill/>
          <a:ln>
            <a:noFill/>
          </a:ln>
        </p:spPr>
      </p:pic>
      <p:pic>
        <p:nvPicPr>
          <p:cNvPr id="104" name="Google Shape;104;p21"/>
          <p:cNvPicPr preferRelativeResize="0"/>
          <p:nvPr/>
        </p:nvPicPr>
        <p:blipFill rotWithShape="1">
          <a:blip r:embed="rId4">
            <a:alphaModFix/>
          </a:blip>
          <a:srcRect b="0" l="0" r="0" t="0"/>
          <a:stretch/>
        </p:blipFill>
        <p:spPr>
          <a:xfrm>
            <a:off x="3720575" y="4388833"/>
            <a:ext cx="367113" cy="297909"/>
          </a:xfrm>
          <a:prstGeom prst="rect">
            <a:avLst/>
          </a:prstGeom>
          <a:noFill/>
          <a:ln>
            <a:noFill/>
          </a:ln>
        </p:spPr>
      </p:pic>
      <p:pic>
        <p:nvPicPr>
          <p:cNvPr id="105" name="Google Shape;105;p21"/>
          <p:cNvPicPr preferRelativeResize="0"/>
          <p:nvPr/>
        </p:nvPicPr>
        <p:blipFill rotWithShape="1">
          <a:blip r:embed="rId5">
            <a:alphaModFix/>
          </a:blip>
          <a:srcRect b="0" l="0" r="0" t="0"/>
          <a:stretch/>
        </p:blipFill>
        <p:spPr>
          <a:xfrm>
            <a:off x="3106418" y="4403088"/>
            <a:ext cx="325868" cy="287770"/>
          </a:xfrm>
          <a:prstGeom prst="rect">
            <a:avLst/>
          </a:prstGeom>
          <a:noFill/>
          <a:ln>
            <a:noFill/>
          </a:ln>
        </p:spPr>
      </p:pic>
      <p:pic>
        <p:nvPicPr>
          <p:cNvPr id="106" name="Google Shape;106;p21"/>
          <p:cNvPicPr preferRelativeResize="0"/>
          <p:nvPr/>
        </p:nvPicPr>
        <p:blipFill rotWithShape="1">
          <a:blip r:embed="rId6">
            <a:alphaModFix/>
          </a:blip>
          <a:srcRect b="0" l="0" r="0" t="0"/>
          <a:stretch/>
        </p:blipFill>
        <p:spPr>
          <a:xfrm>
            <a:off x="2261253" y="4339069"/>
            <a:ext cx="465572" cy="397425"/>
          </a:xfrm>
          <a:prstGeom prst="rect">
            <a:avLst/>
          </a:prstGeom>
          <a:noFill/>
          <a:ln>
            <a:noFill/>
          </a:ln>
        </p:spPr>
      </p:pic>
      <p:sp>
        <p:nvSpPr>
          <p:cNvPr id="107" name="Google Shape;107;p21"/>
          <p:cNvSpPr/>
          <p:nvPr/>
        </p:nvSpPr>
        <p:spPr>
          <a:xfrm>
            <a:off x="5461372" y="1484551"/>
            <a:ext cx="1226545" cy="896375"/>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noFill/>
          <a:ln cap="flat" cmpd="sng" w="19050">
            <a:solidFill>
              <a:srgbClr val="F5340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08" name="Google Shape;108;p21"/>
          <p:cNvSpPr/>
          <p:nvPr/>
        </p:nvSpPr>
        <p:spPr>
          <a:xfrm>
            <a:off x="1184252" y="2559199"/>
            <a:ext cx="6694798" cy="57550"/>
          </a:xfrm>
          <a:custGeom>
            <a:rect b="b" l="l" r="r" t="t"/>
            <a:pathLst>
              <a:path extrusionOk="0" h="211" w="22549">
                <a:moveTo>
                  <a:pt x="0" y="1"/>
                </a:moveTo>
                <a:lnTo>
                  <a:pt x="0" y="210"/>
                </a:lnTo>
                <a:lnTo>
                  <a:pt x="22548" y="210"/>
                </a:lnTo>
                <a:lnTo>
                  <a:pt x="22548" y="1"/>
                </a:lnTo>
                <a:close/>
              </a:path>
            </a:pathLst>
          </a:custGeom>
          <a:solidFill>
            <a:srgbClr val="EFEFE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09" name="Google Shape;109;p21"/>
          <p:cNvSpPr txBox="1"/>
          <p:nvPr/>
        </p:nvSpPr>
        <p:spPr>
          <a:xfrm>
            <a:off x="5835827" y="2869325"/>
            <a:ext cx="477600" cy="192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200"/>
              <a:buFont typeface="Geo"/>
              <a:buNone/>
            </a:pPr>
            <a:r>
              <a:rPr b="1" i="0" lang="fr" sz="1200" u="none" cap="none" strike="noStrike">
                <a:solidFill>
                  <a:srgbClr val="FFFFFF"/>
                </a:solidFill>
                <a:latin typeface="Arial"/>
                <a:ea typeface="Arial"/>
                <a:cs typeface="Arial"/>
                <a:sym typeface="Arial"/>
              </a:rPr>
              <a:t>2019</a:t>
            </a:r>
            <a:endParaRPr b="1" i="0" sz="1400" u="none" cap="none" strike="noStrike">
              <a:solidFill>
                <a:srgbClr val="FFFFFF"/>
              </a:solidFill>
              <a:latin typeface="Arial"/>
              <a:ea typeface="Arial"/>
              <a:cs typeface="Arial"/>
              <a:sym typeface="Arial"/>
            </a:endParaRPr>
          </a:p>
        </p:txBody>
      </p:sp>
      <p:sp>
        <p:nvSpPr>
          <p:cNvPr id="110" name="Google Shape;110;p21"/>
          <p:cNvSpPr/>
          <p:nvPr/>
        </p:nvSpPr>
        <p:spPr>
          <a:xfrm>
            <a:off x="4222120" y="2800181"/>
            <a:ext cx="1226286" cy="763555"/>
          </a:xfrm>
          <a:custGeom>
            <a:rect b="b" l="l" r="r" t="t"/>
            <a:pathLst>
              <a:path extrusionOk="0" h="5225" w="4732">
                <a:moveTo>
                  <a:pt x="2366" y="0"/>
                </a:moveTo>
                <a:lnTo>
                  <a:pt x="2058" y="469"/>
                </a:lnTo>
                <a:lnTo>
                  <a:pt x="358" y="469"/>
                </a:lnTo>
                <a:cubicBezTo>
                  <a:pt x="350" y="468"/>
                  <a:pt x="343" y="468"/>
                  <a:pt x="336" y="468"/>
                </a:cubicBezTo>
                <a:cubicBezTo>
                  <a:pt x="149" y="468"/>
                  <a:pt x="0" y="623"/>
                  <a:pt x="0" y="801"/>
                </a:cubicBezTo>
                <a:lnTo>
                  <a:pt x="0" y="4892"/>
                </a:lnTo>
                <a:cubicBezTo>
                  <a:pt x="0" y="5077"/>
                  <a:pt x="148" y="5225"/>
                  <a:pt x="333" y="5225"/>
                </a:cubicBezTo>
                <a:lnTo>
                  <a:pt x="4387" y="5225"/>
                </a:lnTo>
                <a:cubicBezTo>
                  <a:pt x="4572" y="5225"/>
                  <a:pt x="4732" y="5077"/>
                  <a:pt x="4732" y="4892"/>
                </a:cubicBezTo>
                <a:lnTo>
                  <a:pt x="4732" y="801"/>
                </a:lnTo>
                <a:cubicBezTo>
                  <a:pt x="4732" y="616"/>
                  <a:pt x="4572" y="469"/>
                  <a:pt x="4387" y="469"/>
                </a:cubicBezTo>
                <a:lnTo>
                  <a:pt x="2674" y="469"/>
                </a:lnTo>
                <a:lnTo>
                  <a:pt x="2366" y="0"/>
                </a:lnTo>
                <a:close/>
              </a:path>
            </a:pathLst>
          </a:custGeom>
          <a:noFill/>
          <a:ln cap="flat" cmpd="sng" w="19050">
            <a:solidFill>
              <a:srgbClr val="78001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11" name="Google Shape;111;p21"/>
          <p:cNvSpPr txBox="1"/>
          <p:nvPr/>
        </p:nvSpPr>
        <p:spPr>
          <a:xfrm>
            <a:off x="4300000" y="3270934"/>
            <a:ext cx="1081800" cy="211800"/>
          </a:xfrm>
          <a:prstGeom prst="rect">
            <a:avLst/>
          </a:prstGeom>
          <a:noFill/>
          <a:ln>
            <a:noFill/>
          </a:ln>
        </p:spPr>
        <p:txBody>
          <a:bodyPr anchorCtr="0" anchor="ctr" bIns="68575" lIns="68575" spcFirstLastPara="1" rIns="68575" wrap="square" tIns="68575">
            <a:noAutofit/>
          </a:bodyPr>
          <a:lstStyle/>
          <a:p>
            <a:pPr indent="0" lvl="0" marL="0" marR="0" rtl="0" algn="ctr">
              <a:lnSpc>
                <a:spcPct val="115000"/>
              </a:lnSpc>
              <a:spcBef>
                <a:spcPts val="0"/>
              </a:spcBef>
              <a:spcAft>
                <a:spcPts val="1200"/>
              </a:spcAft>
              <a:buClr>
                <a:srgbClr val="78001B"/>
              </a:buClr>
              <a:buSzPts val="1200"/>
              <a:buFont typeface="Georgia"/>
              <a:buNone/>
            </a:pPr>
            <a:r>
              <a:rPr b="1" i="0" lang="fr" sz="900" u="none" cap="none" strike="noStrike">
                <a:solidFill>
                  <a:srgbClr val="78001B"/>
                </a:solidFill>
                <a:latin typeface="Arial"/>
                <a:ea typeface="Arial"/>
                <a:cs typeface="Arial"/>
                <a:sym typeface="Arial"/>
              </a:rPr>
              <a:t>Cloud Solution Architect</a:t>
            </a:r>
            <a:endParaRPr b="1" i="0" sz="900" u="none" cap="none" strike="noStrike">
              <a:solidFill>
                <a:srgbClr val="78001B"/>
              </a:solidFill>
              <a:latin typeface="Arial"/>
              <a:ea typeface="Arial"/>
              <a:cs typeface="Arial"/>
              <a:sym typeface="Arial"/>
            </a:endParaRPr>
          </a:p>
        </p:txBody>
      </p:sp>
      <p:sp>
        <p:nvSpPr>
          <p:cNvPr id="112" name="Google Shape;112;p21"/>
          <p:cNvSpPr/>
          <p:nvPr/>
        </p:nvSpPr>
        <p:spPr>
          <a:xfrm>
            <a:off x="1996511" y="2800180"/>
            <a:ext cx="1324270" cy="763555"/>
          </a:xfrm>
          <a:custGeom>
            <a:rect b="b" l="l" r="r" t="t"/>
            <a:pathLst>
              <a:path extrusionOk="0" h="5225" w="4733">
                <a:moveTo>
                  <a:pt x="2367" y="0"/>
                </a:moveTo>
                <a:lnTo>
                  <a:pt x="2059" y="469"/>
                </a:lnTo>
                <a:lnTo>
                  <a:pt x="346" y="469"/>
                </a:lnTo>
                <a:cubicBezTo>
                  <a:pt x="161" y="469"/>
                  <a:pt x="1" y="616"/>
                  <a:pt x="1" y="801"/>
                </a:cubicBezTo>
                <a:lnTo>
                  <a:pt x="1" y="4892"/>
                </a:lnTo>
                <a:cubicBezTo>
                  <a:pt x="1" y="5077"/>
                  <a:pt x="161" y="5225"/>
                  <a:pt x="346" y="5225"/>
                </a:cubicBezTo>
                <a:lnTo>
                  <a:pt x="4400" y="5225"/>
                </a:lnTo>
                <a:cubicBezTo>
                  <a:pt x="4584" y="5225"/>
                  <a:pt x="4732" y="5077"/>
                  <a:pt x="4732" y="4892"/>
                </a:cubicBezTo>
                <a:lnTo>
                  <a:pt x="4732" y="801"/>
                </a:lnTo>
                <a:cubicBezTo>
                  <a:pt x="4732" y="616"/>
                  <a:pt x="4584" y="469"/>
                  <a:pt x="4400" y="469"/>
                </a:cubicBezTo>
                <a:lnTo>
                  <a:pt x="2687" y="469"/>
                </a:lnTo>
                <a:lnTo>
                  <a:pt x="2367" y="0"/>
                </a:lnTo>
                <a:close/>
              </a:path>
            </a:pathLst>
          </a:custGeom>
          <a:noFill/>
          <a:ln cap="flat" cmpd="sng" w="19050">
            <a:solidFill>
              <a:srgbClr val="F4792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13" name="Google Shape;113;p21"/>
          <p:cNvSpPr txBox="1"/>
          <p:nvPr/>
        </p:nvSpPr>
        <p:spPr>
          <a:xfrm>
            <a:off x="1885070" y="3241143"/>
            <a:ext cx="1538700" cy="211800"/>
          </a:xfrm>
          <a:prstGeom prst="rect">
            <a:avLst/>
          </a:prstGeom>
          <a:noFill/>
          <a:ln>
            <a:noFill/>
          </a:ln>
        </p:spPr>
        <p:txBody>
          <a:bodyPr anchorCtr="0" anchor="ctr" bIns="68575" lIns="68575" spcFirstLastPara="1" rIns="68575" wrap="square" tIns="68575">
            <a:noAutofit/>
          </a:bodyPr>
          <a:lstStyle/>
          <a:p>
            <a:pPr indent="0" lvl="0" marL="0" marR="0" rtl="0" algn="ctr">
              <a:lnSpc>
                <a:spcPct val="115000"/>
              </a:lnSpc>
              <a:spcBef>
                <a:spcPts val="0"/>
              </a:spcBef>
              <a:spcAft>
                <a:spcPts val="1200"/>
              </a:spcAft>
              <a:buClr>
                <a:srgbClr val="FEAA31"/>
              </a:buClr>
              <a:buSzPts val="1200"/>
              <a:buFont typeface="Georgia"/>
              <a:buNone/>
            </a:pPr>
            <a:r>
              <a:rPr b="1" i="0" lang="fr" sz="900" u="none" cap="none" strike="noStrike">
                <a:solidFill>
                  <a:srgbClr val="F47920"/>
                </a:solidFill>
                <a:latin typeface="Arial"/>
                <a:ea typeface="Arial"/>
                <a:cs typeface="Arial"/>
                <a:sym typeface="Arial"/>
              </a:rPr>
              <a:t>France Network Service Delivery Manager</a:t>
            </a:r>
            <a:endParaRPr b="1" i="0" sz="900" u="none" cap="none" strike="noStrike">
              <a:solidFill>
                <a:srgbClr val="F47920"/>
              </a:solidFill>
              <a:latin typeface="Arial"/>
              <a:ea typeface="Arial"/>
              <a:cs typeface="Arial"/>
              <a:sym typeface="Arial"/>
            </a:endParaRPr>
          </a:p>
        </p:txBody>
      </p:sp>
      <p:sp>
        <p:nvSpPr>
          <p:cNvPr id="114" name="Google Shape;114;p21"/>
          <p:cNvSpPr/>
          <p:nvPr/>
        </p:nvSpPr>
        <p:spPr>
          <a:xfrm>
            <a:off x="968411" y="1484552"/>
            <a:ext cx="1226286" cy="896375"/>
          </a:xfrm>
          <a:custGeom>
            <a:rect b="b" l="l" r="r" t="t"/>
            <a:pathLst>
              <a:path extrusionOk="0" h="5225" w="4732">
                <a:moveTo>
                  <a:pt x="346" y="0"/>
                </a:moveTo>
                <a:cubicBezTo>
                  <a:pt x="148" y="0"/>
                  <a:pt x="1" y="148"/>
                  <a:pt x="1" y="333"/>
                </a:cubicBezTo>
                <a:lnTo>
                  <a:pt x="1" y="4423"/>
                </a:lnTo>
                <a:cubicBezTo>
                  <a:pt x="1" y="4608"/>
                  <a:pt x="148" y="4756"/>
                  <a:pt x="346" y="4756"/>
                </a:cubicBezTo>
                <a:lnTo>
                  <a:pt x="2046" y="4756"/>
                </a:lnTo>
                <a:lnTo>
                  <a:pt x="2366" y="5224"/>
                </a:lnTo>
                <a:lnTo>
                  <a:pt x="2687" y="4756"/>
                </a:lnTo>
                <a:lnTo>
                  <a:pt x="4387" y="4756"/>
                </a:lnTo>
                <a:cubicBezTo>
                  <a:pt x="4572" y="4756"/>
                  <a:pt x="4732" y="4608"/>
                  <a:pt x="4732" y="4423"/>
                </a:cubicBezTo>
                <a:lnTo>
                  <a:pt x="4732" y="333"/>
                </a:lnTo>
                <a:cubicBezTo>
                  <a:pt x="4732" y="148"/>
                  <a:pt x="4584" y="0"/>
                  <a:pt x="4387" y="0"/>
                </a:cubicBezTo>
                <a:close/>
              </a:path>
            </a:pathLst>
          </a:custGeom>
          <a:noFill/>
          <a:ln cap="flat" cmpd="sng" w="19050">
            <a:solidFill>
              <a:srgbClr val="01879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15" name="Google Shape;115;p21"/>
          <p:cNvSpPr txBox="1"/>
          <p:nvPr/>
        </p:nvSpPr>
        <p:spPr>
          <a:xfrm>
            <a:off x="920044" y="1949824"/>
            <a:ext cx="1324500" cy="211800"/>
          </a:xfrm>
          <a:prstGeom prst="rect">
            <a:avLst/>
          </a:prstGeom>
          <a:noFill/>
          <a:ln>
            <a:noFill/>
          </a:ln>
        </p:spPr>
        <p:txBody>
          <a:bodyPr anchorCtr="0" anchor="ctr" bIns="68575" lIns="68575" spcFirstLastPara="1" rIns="68575" wrap="square" tIns="68575">
            <a:noAutofit/>
          </a:bodyPr>
          <a:lstStyle/>
          <a:p>
            <a:pPr indent="0" lvl="0" marL="0" marR="0" rtl="0" algn="ctr">
              <a:lnSpc>
                <a:spcPct val="115000"/>
              </a:lnSpc>
              <a:spcBef>
                <a:spcPts val="0"/>
              </a:spcBef>
              <a:spcAft>
                <a:spcPts val="1200"/>
              </a:spcAft>
              <a:buClr>
                <a:srgbClr val="018790"/>
              </a:buClr>
              <a:buSzPts val="1200"/>
              <a:buFont typeface="Georgia"/>
              <a:buNone/>
            </a:pPr>
            <a:r>
              <a:rPr b="1" i="0" lang="fr" sz="900" u="none" cap="none" strike="noStrike">
                <a:solidFill>
                  <a:srgbClr val="018790"/>
                </a:solidFill>
                <a:latin typeface="Arial"/>
                <a:ea typeface="Arial"/>
                <a:cs typeface="Arial"/>
                <a:sym typeface="Arial"/>
              </a:rPr>
              <a:t>Systems &amp; Network Security Engineer</a:t>
            </a:r>
            <a:endParaRPr b="1" i="0" sz="900" u="none" cap="none" strike="noStrike">
              <a:solidFill>
                <a:srgbClr val="018790"/>
              </a:solidFill>
              <a:latin typeface="Arial"/>
              <a:ea typeface="Arial"/>
              <a:cs typeface="Arial"/>
              <a:sym typeface="Arial"/>
            </a:endParaRPr>
          </a:p>
        </p:txBody>
      </p:sp>
      <p:sp>
        <p:nvSpPr>
          <p:cNvPr id="116" name="Google Shape;116;p21"/>
          <p:cNvSpPr/>
          <p:nvPr/>
        </p:nvSpPr>
        <p:spPr>
          <a:xfrm>
            <a:off x="3123153" y="1484551"/>
            <a:ext cx="1223188" cy="896375"/>
          </a:xfrm>
          <a:custGeom>
            <a:rect b="b" l="l" r="r" t="t"/>
            <a:pathLst>
              <a:path extrusionOk="0" h="5225" w="4720">
                <a:moveTo>
                  <a:pt x="333" y="0"/>
                </a:moveTo>
                <a:cubicBezTo>
                  <a:pt x="148" y="0"/>
                  <a:pt x="1" y="148"/>
                  <a:pt x="1" y="333"/>
                </a:cubicBezTo>
                <a:lnTo>
                  <a:pt x="1" y="4423"/>
                </a:lnTo>
                <a:cubicBezTo>
                  <a:pt x="1" y="4608"/>
                  <a:pt x="148" y="4756"/>
                  <a:pt x="333" y="4756"/>
                </a:cubicBezTo>
                <a:lnTo>
                  <a:pt x="2046" y="4756"/>
                </a:lnTo>
                <a:lnTo>
                  <a:pt x="2354" y="5224"/>
                </a:lnTo>
                <a:lnTo>
                  <a:pt x="2674" y="4756"/>
                </a:lnTo>
                <a:lnTo>
                  <a:pt x="4387" y="4756"/>
                </a:lnTo>
                <a:cubicBezTo>
                  <a:pt x="4572" y="4756"/>
                  <a:pt x="4720" y="4608"/>
                  <a:pt x="4720" y="4423"/>
                </a:cubicBezTo>
                <a:lnTo>
                  <a:pt x="4720" y="333"/>
                </a:lnTo>
                <a:cubicBezTo>
                  <a:pt x="4720" y="148"/>
                  <a:pt x="4572" y="0"/>
                  <a:pt x="4387" y="0"/>
                </a:cubicBezTo>
                <a:close/>
              </a:path>
            </a:pathLst>
          </a:custGeom>
          <a:noFill/>
          <a:ln cap="flat" cmpd="sng" w="19050">
            <a:solidFill>
              <a:srgbClr val="1DCDC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17" name="Google Shape;117;p21"/>
          <p:cNvSpPr txBox="1"/>
          <p:nvPr/>
        </p:nvSpPr>
        <p:spPr>
          <a:xfrm>
            <a:off x="3190520" y="1965520"/>
            <a:ext cx="1081800" cy="211800"/>
          </a:xfrm>
          <a:prstGeom prst="rect">
            <a:avLst/>
          </a:prstGeom>
          <a:noFill/>
          <a:ln>
            <a:noFill/>
          </a:ln>
        </p:spPr>
        <p:txBody>
          <a:bodyPr anchorCtr="0" anchor="ctr" bIns="68575" lIns="68575" spcFirstLastPara="1" rIns="68575" wrap="square" tIns="68575">
            <a:noAutofit/>
          </a:bodyPr>
          <a:lstStyle/>
          <a:p>
            <a:pPr indent="0" lvl="0" marL="0" marR="0" rtl="0" algn="ctr">
              <a:lnSpc>
                <a:spcPct val="115000"/>
              </a:lnSpc>
              <a:spcBef>
                <a:spcPts val="0"/>
              </a:spcBef>
              <a:spcAft>
                <a:spcPts val="1200"/>
              </a:spcAft>
              <a:buClr>
                <a:srgbClr val="1DCDC3"/>
              </a:buClr>
              <a:buSzPts val="1200"/>
              <a:buFont typeface="Georgia"/>
              <a:buNone/>
            </a:pPr>
            <a:r>
              <a:rPr b="1" i="0" lang="fr" sz="900" u="none" cap="none" strike="noStrike">
                <a:solidFill>
                  <a:srgbClr val="1DCDC3"/>
                </a:solidFill>
                <a:latin typeface="Arial"/>
                <a:ea typeface="Arial"/>
                <a:cs typeface="Arial"/>
                <a:sym typeface="Arial"/>
              </a:rPr>
              <a:t>LAN Global Technical Leader</a:t>
            </a:r>
            <a:endParaRPr b="1" i="0" sz="900" u="none" cap="none" strike="noStrike">
              <a:solidFill>
                <a:srgbClr val="1DCDC3"/>
              </a:solidFill>
              <a:latin typeface="Arial"/>
              <a:ea typeface="Arial"/>
              <a:cs typeface="Arial"/>
              <a:sym typeface="Arial"/>
            </a:endParaRPr>
          </a:p>
        </p:txBody>
      </p:sp>
      <p:sp>
        <p:nvSpPr>
          <p:cNvPr id="118" name="Google Shape;118;p21"/>
          <p:cNvSpPr txBox="1"/>
          <p:nvPr/>
        </p:nvSpPr>
        <p:spPr>
          <a:xfrm>
            <a:off x="5498886" y="1945844"/>
            <a:ext cx="1151100" cy="211800"/>
          </a:xfrm>
          <a:prstGeom prst="rect">
            <a:avLst/>
          </a:prstGeom>
          <a:noFill/>
          <a:ln>
            <a:noFill/>
          </a:ln>
        </p:spPr>
        <p:txBody>
          <a:bodyPr anchorCtr="0" anchor="ctr" bIns="68575" lIns="68575" spcFirstLastPara="1" rIns="68575" wrap="square" tIns="68575">
            <a:noAutofit/>
          </a:bodyPr>
          <a:lstStyle/>
          <a:p>
            <a:pPr indent="0" lvl="0" marL="0" marR="0" rtl="0" algn="ctr">
              <a:lnSpc>
                <a:spcPct val="115000"/>
              </a:lnSpc>
              <a:spcBef>
                <a:spcPts val="0"/>
              </a:spcBef>
              <a:spcAft>
                <a:spcPts val="1200"/>
              </a:spcAft>
              <a:buClr>
                <a:srgbClr val="F5340B"/>
              </a:buClr>
              <a:buSzPts val="1200"/>
              <a:buFont typeface="Georgia"/>
              <a:buNone/>
            </a:pPr>
            <a:r>
              <a:rPr b="1" i="0" lang="fr" sz="900" u="none" cap="none" strike="noStrike">
                <a:solidFill>
                  <a:srgbClr val="F5340B"/>
                </a:solidFill>
                <a:latin typeface="Arial"/>
                <a:ea typeface="Arial"/>
                <a:cs typeface="Arial"/>
                <a:sym typeface="Arial"/>
              </a:rPr>
              <a:t>Connectivity Solution Architect</a:t>
            </a:r>
            <a:endParaRPr b="1" i="0" sz="900" u="none" cap="none" strike="noStrike">
              <a:solidFill>
                <a:srgbClr val="F5340B"/>
              </a:solidFill>
              <a:latin typeface="Arial"/>
              <a:ea typeface="Arial"/>
              <a:cs typeface="Arial"/>
              <a:sym typeface="Arial"/>
            </a:endParaRPr>
          </a:p>
        </p:txBody>
      </p:sp>
      <p:sp>
        <p:nvSpPr>
          <p:cNvPr id="119" name="Google Shape;119;p21"/>
          <p:cNvSpPr/>
          <p:nvPr/>
        </p:nvSpPr>
        <p:spPr>
          <a:xfrm>
            <a:off x="5919641" y="2428788"/>
            <a:ext cx="310200" cy="310200"/>
          </a:xfrm>
          <a:prstGeom prst="ellipse">
            <a:avLst/>
          </a:prstGeom>
          <a:solidFill>
            <a:srgbClr val="F5340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20" name="Google Shape;120;p21"/>
          <p:cNvSpPr txBox="1"/>
          <p:nvPr/>
        </p:nvSpPr>
        <p:spPr>
          <a:xfrm>
            <a:off x="5894210" y="2484031"/>
            <a:ext cx="360900" cy="1995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400"/>
              <a:buFont typeface="Geo"/>
              <a:buNone/>
            </a:pPr>
            <a:r>
              <a:t/>
            </a:r>
            <a:endParaRPr b="1" i="0" sz="1400" u="none" cap="none" strike="noStrike">
              <a:solidFill>
                <a:srgbClr val="FFFFFF"/>
              </a:solidFill>
              <a:latin typeface="Arial"/>
              <a:ea typeface="Arial"/>
              <a:cs typeface="Arial"/>
              <a:sym typeface="Arial"/>
            </a:endParaRPr>
          </a:p>
        </p:txBody>
      </p:sp>
      <p:sp>
        <p:nvSpPr>
          <p:cNvPr id="121" name="Google Shape;121;p21"/>
          <p:cNvSpPr/>
          <p:nvPr/>
        </p:nvSpPr>
        <p:spPr>
          <a:xfrm>
            <a:off x="4680232" y="2428788"/>
            <a:ext cx="310200" cy="310200"/>
          </a:xfrm>
          <a:prstGeom prst="ellipse">
            <a:avLst/>
          </a:prstGeom>
          <a:solidFill>
            <a:srgbClr val="78001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22" name="Google Shape;122;p21"/>
          <p:cNvSpPr/>
          <p:nvPr/>
        </p:nvSpPr>
        <p:spPr>
          <a:xfrm>
            <a:off x="3579710" y="2428788"/>
            <a:ext cx="310200" cy="310200"/>
          </a:xfrm>
          <a:prstGeom prst="ellipse">
            <a:avLst/>
          </a:prstGeom>
          <a:solidFill>
            <a:srgbClr val="1DCDC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23" name="Google Shape;123;p21"/>
          <p:cNvSpPr txBox="1"/>
          <p:nvPr/>
        </p:nvSpPr>
        <p:spPr>
          <a:xfrm>
            <a:off x="3554279" y="2484031"/>
            <a:ext cx="360900" cy="1995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400"/>
              <a:buFont typeface="Geo"/>
              <a:buNone/>
            </a:pPr>
            <a:r>
              <a:t/>
            </a:r>
            <a:endParaRPr b="1" i="0" sz="1400" u="none" cap="none" strike="noStrike">
              <a:solidFill>
                <a:srgbClr val="FFFFFF"/>
              </a:solidFill>
              <a:latin typeface="Arial"/>
              <a:ea typeface="Arial"/>
              <a:cs typeface="Arial"/>
              <a:sym typeface="Arial"/>
            </a:endParaRPr>
          </a:p>
        </p:txBody>
      </p:sp>
      <p:sp>
        <p:nvSpPr>
          <p:cNvPr id="124" name="Google Shape;124;p21"/>
          <p:cNvSpPr/>
          <p:nvPr/>
        </p:nvSpPr>
        <p:spPr>
          <a:xfrm>
            <a:off x="1427147" y="2428788"/>
            <a:ext cx="310200" cy="310200"/>
          </a:xfrm>
          <a:prstGeom prst="ellipse">
            <a:avLst/>
          </a:prstGeom>
          <a:solidFill>
            <a:srgbClr val="01879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25" name="Google Shape;125;p21"/>
          <p:cNvSpPr txBox="1"/>
          <p:nvPr/>
        </p:nvSpPr>
        <p:spPr>
          <a:xfrm>
            <a:off x="1401716" y="2484031"/>
            <a:ext cx="360900" cy="1995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400"/>
              <a:buFont typeface="Geo"/>
              <a:buNone/>
            </a:pPr>
            <a:r>
              <a:t/>
            </a:r>
            <a:endParaRPr b="1" i="0" sz="1400" u="none" cap="none" strike="noStrike">
              <a:solidFill>
                <a:srgbClr val="FFFFFF"/>
              </a:solidFill>
              <a:latin typeface="Arial"/>
              <a:ea typeface="Arial"/>
              <a:cs typeface="Arial"/>
              <a:sym typeface="Arial"/>
            </a:endParaRPr>
          </a:p>
        </p:txBody>
      </p:sp>
      <p:sp>
        <p:nvSpPr>
          <p:cNvPr id="126" name="Google Shape;126;p21"/>
          <p:cNvSpPr/>
          <p:nvPr/>
        </p:nvSpPr>
        <p:spPr>
          <a:xfrm>
            <a:off x="2503424" y="2428788"/>
            <a:ext cx="310200" cy="310200"/>
          </a:xfrm>
          <a:prstGeom prst="ellipse">
            <a:avLst/>
          </a:prstGeom>
          <a:solidFill>
            <a:srgbClr val="FEAA3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27" name="Google Shape;127;p21"/>
          <p:cNvSpPr txBox="1"/>
          <p:nvPr/>
        </p:nvSpPr>
        <p:spPr>
          <a:xfrm>
            <a:off x="2477992" y="2484031"/>
            <a:ext cx="360900" cy="1995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400"/>
              <a:buFont typeface="Geo"/>
              <a:buNone/>
            </a:pPr>
            <a:r>
              <a:t/>
            </a:r>
            <a:endParaRPr b="1" i="0" sz="1400" u="none" cap="none" strike="noStrike">
              <a:solidFill>
                <a:srgbClr val="FFFFFF"/>
              </a:solidFill>
              <a:latin typeface="Arial"/>
              <a:ea typeface="Arial"/>
              <a:cs typeface="Arial"/>
              <a:sym typeface="Arial"/>
            </a:endParaRPr>
          </a:p>
        </p:txBody>
      </p:sp>
      <p:pic>
        <p:nvPicPr>
          <p:cNvPr id="128" name="Google Shape;128;p21"/>
          <p:cNvPicPr preferRelativeResize="0"/>
          <p:nvPr/>
        </p:nvPicPr>
        <p:blipFill rotWithShape="1">
          <a:blip r:embed="rId7">
            <a:alphaModFix/>
          </a:blip>
          <a:srcRect b="0" l="0" r="0" t="0"/>
          <a:stretch/>
        </p:blipFill>
        <p:spPr>
          <a:xfrm>
            <a:off x="5919111" y="1582488"/>
            <a:ext cx="310071" cy="304200"/>
          </a:xfrm>
          <a:prstGeom prst="rect">
            <a:avLst/>
          </a:prstGeom>
          <a:noFill/>
          <a:ln>
            <a:noFill/>
          </a:ln>
        </p:spPr>
      </p:pic>
      <p:pic>
        <p:nvPicPr>
          <p:cNvPr descr="Tektegra" id="129" name="Google Shape;129;p21"/>
          <p:cNvPicPr preferRelativeResize="0"/>
          <p:nvPr/>
        </p:nvPicPr>
        <p:blipFill rotWithShape="1">
          <a:blip r:embed="rId8">
            <a:alphaModFix/>
          </a:blip>
          <a:srcRect b="0" l="0" r="0" t="0"/>
          <a:stretch/>
        </p:blipFill>
        <p:spPr>
          <a:xfrm>
            <a:off x="2497168" y="2877377"/>
            <a:ext cx="310071" cy="310070"/>
          </a:xfrm>
          <a:prstGeom prst="rect">
            <a:avLst/>
          </a:prstGeom>
          <a:noFill/>
          <a:ln>
            <a:noFill/>
          </a:ln>
        </p:spPr>
      </p:pic>
      <p:pic>
        <p:nvPicPr>
          <p:cNvPr id="130" name="Google Shape;130;p21"/>
          <p:cNvPicPr preferRelativeResize="0"/>
          <p:nvPr/>
        </p:nvPicPr>
        <p:blipFill rotWithShape="1">
          <a:blip r:embed="rId9">
            <a:alphaModFix/>
          </a:blip>
          <a:srcRect b="0" l="0" r="0" t="0"/>
          <a:stretch/>
        </p:blipFill>
        <p:spPr>
          <a:xfrm>
            <a:off x="4685876" y="2927282"/>
            <a:ext cx="310072" cy="261975"/>
          </a:xfrm>
          <a:prstGeom prst="rect">
            <a:avLst/>
          </a:prstGeom>
          <a:noFill/>
          <a:ln>
            <a:noFill/>
          </a:ln>
        </p:spPr>
      </p:pic>
      <p:pic>
        <p:nvPicPr>
          <p:cNvPr id="131" name="Google Shape;131;p21"/>
          <p:cNvPicPr preferRelativeResize="0"/>
          <p:nvPr/>
        </p:nvPicPr>
        <p:blipFill rotWithShape="1">
          <a:blip r:embed="rId10">
            <a:alphaModFix/>
          </a:blip>
          <a:srcRect b="0" l="0" r="0" t="0"/>
          <a:stretch/>
        </p:blipFill>
        <p:spPr>
          <a:xfrm>
            <a:off x="3579743" y="1579387"/>
            <a:ext cx="310072" cy="310381"/>
          </a:xfrm>
          <a:prstGeom prst="rect">
            <a:avLst/>
          </a:prstGeom>
          <a:noFill/>
          <a:ln>
            <a:noFill/>
          </a:ln>
        </p:spPr>
      </p:pic>
      <p:pic>
        <p:nvPicPr>
          <p:cNvPr id="132" name="Google Shape;132;p21"/>
          <p:cNvPicPr preferRelativeResize="0"/>
          <p:nvPr/>
        </p:nvPicPr>
        <p:blipFill rotWithShape="1">
          <a:blip r:embed="rId11">
            <a:alphaModFix/>
          </a:blip>
          <a:srcRect b="0" l="0" r="0" t="0"/>
          <a:stretch/>
        </p:blipFill>
        <p:spPr>
          <a:xfrm>
            <a:off x="1426517" y="1526977"/>
            <a:ext cx="310071" cy="310071"/>
          </a:xfrm>
          <a:prstGeom prst="rect">
            <a:avLst/>
          </a:prstGeom>
          <a:noFill/>
          <a:ln>
            <a:noFill/>
          </a:ln>
        </p:spPr>
      </p:pic>
      <p:pic>
        <p:nvPicPr>
          <p:cNvPr id="133" name="Google Shape;133;p21"/>
          <p:cNvPicPr preferRelativeResize="0"/>
          <p:nvPr/>
        </p:nvPicPr>
        <p:blipFill rotWithShape="1">
          <a:blip r:embed="rId12">
            <a:alphaModFix/>
          </a:blip>
          <a:srcRect b="0" l="0" r="0" t="0"/>
          <a:stretch/>
        </p:blipFill>
        <p:spPr>
          <a:xfrm>
            <a:off x="4375988" y="4354229"/>
            <a:ext cx="367106" cy="367106"/>
          </a:xfrm>
          <a:prstGeom prst="rect">
            <a:avLst/>
          </a:prstGeom>
          <a:noFill/>
          <a:ln>
            <a:noFill/>
          </a:ln>
        </p:spPr>
      </p:pic>
      <p:pic>
        <p:nvPicPr>
          <p:cNvPr id="134" name="Google Shape;134;p21"/>
          <p:cNvPicPr preferRelativeResize="0"/>
          <p:nvPr/>
        </p:nvPicPr>
        <p:blipFill rotWithShape="1">
          <a:blip r:embed="rId13">
            <a:alphaModFix/>
          </a:blip>
          <a:srcRect b="0" l="0" r="0" t="0"/>
          <a:stretch/>
        </p:blipFill>
        <p:spPr>
          <a:xfrm>
            <a:off x="5031394" y="4402275"/>
            <a:ext cx="360899" cy="360899"/>
          </a:xfrm>
          <a:prstGeom prst="rect">
            <a:avLst/>
          </a:prstGeom>
          <a:noFill/>
          <a:ln>
            <a:noFill/>
          </a:ln>
        </p:spPr>
      </p:pic>
      <p:sp>
        <p:nvSpPr>
          <p:cNvPr id="135" name="Google Shape;135;p21"/>
          <p:cNvSpPr/>
          <p:nvPr/>
        </p:nvSpPr>
        <p:spPr>
          <a:xfrm>
            <a:off x="6587720" y="2834568"/>
            <a:ext cx="1226286" cy="763555"/>
          </a:xfrm>
          <a:custGeom>
            <a:rect b="b" l="l" r="r" t="t"/>
            <a:pathLst>
              <a:path extrusionOk="0" h="5225" w="4732">
                <a:moveTo>
                  <a:pt x="2366" y="0"/>
                </a:moveTo>
                <a:lnTo>
                  <a:pt x="2058" y="469"/>
                </a:lnTo>
                <a:lnTo>
                  <a:pt x="358" y="469"/>
                </a:lnTo>
                <a:cubicBezTo>
                  <a:pt x="350" y="468"/>
                  <a:pt x="343" y="468"/>
                  <a:pt x="336" y="468"/>
                </a:cubicBezTo>
                <a:cubicBezTo>
                  <a:pt x="149" y="468"/>
                  <a:pt x="0" y="623"/>
                  <a:pt x="0" y="801"/>
                </a:cubicBezTo>
                <a:lnTo>
                  <a:pt x="0" y="4892"/>
                </a:lnTo>
                <a:cubicBezTo>
                  <a:pt x="0" y="5077"/>
                  <a:pt x="148" y="5225"/>
                  <a:pt x="333" y="5225"/>
                </a:cubicBezTo>
                <a:lnTo>
                  <a:pt x="4387" y="5225"/>
                </a:lnTo>
                <a:cubicBezTo>
                  <a:pt x="4572" y="5225"/>
                  <a:pt x="4732" y="5077"/>
                  <a:pt x="4732" y="4892"/>
                </a:cubicBezTo>
                <a:lnTo>
                  <a:pt x="4732" y="801"/>
                </a:lnTo>
                <a:cubicBezTo>
                  <a:pt x="4732" y="616"/>
                  <a:pt x="4572" y="469"/>
                  <a:pt x="4387" y="469"/>
                </a:cubicBezTo>
                <a:lnTo>
                  <a:pt x="2674" y="469"/>
                </a:lnTo>
                <a:lnTo>
                  <a:pt x="2366" y="0"/>
                </a:lnTo>
                <a:close/>
              </a:path>
            </a:pathLst>
          </a:custGeom>
          <a:noFill/>
          <a:ln cap="flat" cmpd="sng" w="1905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
        <p:nvSpPr>
          <p:cNvPr id="136" name="Google Shape;136;p21"/>
          <p:cNvSpPr txBox="1"/>
          <p:nvPr/>
        </p:nvSpPr>
        <p:spPr>
          <a:xfrm>
            <a:off x="6593500" y="3266772"/>
            <a:ext cx="1223100" cy="211800"/>
          </a:xfrm>
          <a:prstGeom prst="rect">
            <a:avLst/>
          </a:prstGeom>
          <a:noFill/>
          <a:ln>
            <a:noFill/>
          </a:ln>
        </p:spPr>
        <p:txBody>
          <a:bodyPr anchorCtr="0" anchor="ctr" bIns="68575" lIns="68575" spcFirstLastPara="1" rIns="68575" wrap="square" tIns="68575">
            <a:noAutofit/>
          </a:bodyPr>
          <a:lstStyle/>
          <a:p>
            <a:pPr indent="0" lvl="0" marL="0" marR="0" rtl="0" algn="ctr">
              <a:lnSpc>
                <a:spcPct val="115000"/>
              </a:lnSpc>
              <a:spcBef>
                <a:spcPts val="0"/>
              </a:spcBef>
              <a:spcAft>
                <a:spcPts val="1200"/>
              </a:spcAft>
              <a:buClr>
                <a:srgbClr val="78001B"/>
              </a:buClr>
              <a:buSzPts val="1200"/>
              <a:buFont typeface="Georgia"/>
              <a:buNone/>
            </a:pPr>
            <a:r>
              <a:rPr b="1" lang="fr" sz="900">
                <a:solidFill>
                  <a:srgbClr val="1155CC"/>
                </a:solidFill>
              </a:rPr>
              <a:t>Public &amp; Private Cloud Principal Architect</a:t>
            </a:r>
            <a:endParaRPr b="1" i="0" sz="900" u="none" cap="none" strike="noStrike">
              <a:solidFill>
                <a:srgbClr val="1155CC"/>
              </a:solidFill>
              <a:latin typeface="Arial"/>
              <a:ea typeface="Arial"/>
              <a:cs typeface="Arial"/>
              <a:sym typeface="Arial"/>
            </a:endParaRPr>
          </a:p>
        </p:txBody>
      </p:sp>
      <p:sp>
        <p:nvSpPr>
          <p:cNvPr id="137" name="Google Shape;137;p21"/>
          <p:cNvSpPr txBox="1"/>
          <p:nvPr/>
        </p:nvSpPr>
        <p:spPr>
          <a:xfrm>
            <a:off x="7020401" y="2518418"/>
            <a:ext cx="360900" cy="1995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400"/>
              <a:buFont typeface="Geo"/>
              <a:buNone/>
            </a:pPr>
            <a:r>
              <a:t/>
            </a:r>
            <a:endParaRPr b="1" i="0" sz="1400" u="none" cap="none" strike="noStrike">
              <a:solidFill>
                <a:srgbClr val="FFFFFF"/>
              </a:solidFill>
              <a:latin typeface="Arial"/>
              <a:ea typeface="Arial"/>
              <a:cs typeface="Arial"/>
              <a:sym typeface="Arial"/>
            </a:endParaRPr>
          </a:p>
        </p:txBody>
      </p:sp>
      <p:pic>
        <p:nvPicPr>
          <p:cNvPr id="138" name="Google Shape;138;p21"/>
          <p:cNvPicPr preferRelativeResize="0"/>
          <p:nvPr/>
        </p:nvPicPr>
        <p:blipFill rotWithShape="1">
          <a:blip r:embed="rId14">
            <a:alphaModFix/>
          </a:blip>
          <a:srcRect b="0" l="0" r="0" t="0"/>
          <a:stretch/>
        </p:blipFill>
        <p:spPr>
          <a:xfrm>
            <a:off x="7057302" y="2885698"/>
            <a:ext cx="310072" cy="261975"/>
          </a:xfrm>
          <a:prstGeom prst="rect">
            <a:avLst/>
          </a:prstGeom>
          <a:noFill/>
          <a:ln>
            <a:noFill/>
          </a:ln>
        </p:spPr>
      </p:pic>
      <p:sp>
        <p:nvSpPr>
          <p:cNvPr id="139" name="Google Shape;139;p21"/>
          <p:cNvSpPr/>
          <p:nvPr/>
        </p:nvSpPr>
        <p:spPr>
          <a:xfrm>
            <a:off x="7045757" y="2432863"/>
            <a:ext cx="310200" cy="3102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FFFFFF"/>
              </a:buClr>
              <a:buSzPts val="1400"/>
              <a:buFont typeface="Calibri"/>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p:nvPr/>
        </p:nvSpPr>
        <p:spPr>
          <a:xfrm>
            <a:off x="1661656" y="1529744"/>
            <a:ext cx="489600" cy="489600"/>
          </a:xfrm>
          <a:prstGeom prst="ellipse">
            <a:avLst/>
          </a:prstGeom>
          <a:solidFill>
            <a:schemeClr val="lt1"/>
          </a:solidFill>
          <a:ln cap="flat" cmpd="sng" w="28575">
            <a:solidFill>
              <a:srgbClr val="00AAC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p:txBody>
      </p:sp>
      <p:grpSp>
        <p:nvGrpSpPr>
          <p:cNvPr id="145" name="Google Shape;145;p22"/>
          <p:cNvGrpSpPr/>
          <p:nvPr/>
        </p:nvGrpSpPr>
        <p:grpSpPr>
          <a:xfrm>
            <a:off x="2178676" y="1318535"/>
            <a:ext cx="4553199" cy="885995"/>
            <a:chOff x="1594448" y="747879"/>
            <a:chExt cx="6070932" cy="1181327"/>
          </a:xfrm>
        </p:grpSpPr>
        <p:sp>
          <p:nvSpPr>
            <p:cNvPr id="146" name="Google Shape;146;p22"/>
            <p:cNvSpPr txBox="1"/>
            <p:nvPr/>
          </p:nvSpPr>
          <p:spPr>
            <a:xfrm>
              <a:off x="1594448" y="747879"/>
              <a:ext cx="3488700" cy="605400"/>
            </a:xfrm>
            <a:prstGeom prst="rect">
              <a:avLst/>
            </a:prstGeom>
            <a:noFill/>
            <a:ln>
              <a:noFill/>
            </a:ln>
          </p:spPr>
          <p:txBody>
            <a:bodyPr anchorCtr="0" anchor="t" bIns="34275" lIns="81000" spcFirstLastPara="1" rIns="81000"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fr" sz="2500" u="none" cap="none" strike="noStrike">
                  <a:solidFill>
                    <a:srgbClr val="262626"/>
                  </a:solidFill>
                  <a:latin typeface="Arial"/>
                  <a:ea typeface="Arial"/>
                  <a:cs typeface="Arial"/>
                  <a:sym typeface="Arial"/>
                </a:rPr>
                <a:t>DNS Overview</a:t>
              </a:r>
              <a:endParaRPr b="1" i="0" sz="2500" u="none" cap="none" strike="noStrike">
                <a:solidFill>
                  <a:srgbClr val="262626"/>
                </a:solidFill>
                <a:latin typeface="Arial"/>
                <a:ea typeface="Arial"/>
                <a:cs typeface="Arial"/>
                <a:sym typeface="Arial"/>
              </a:endParaRPr>
            </a:p>
          </p:txBody>
        </p:sp>
        <p:sp>
          <p:nvSpPr>
            <p:cNvPr id="147" name="Google Shape;147;p22"/>
            <p:cNvSpPr txBox="1"/>
            <p:nvPr/>
          </p:nvSpPr>
          <p:spPr>
            <a:xfrm>
              <a:off x="1639580" y="1446806"/>
              <a:ext cx="6025800" cy="48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0" i="0" lang="fr" sz="1900" u="none" cap="none" strike="noStrike">
                  <a:solidFill>
                    <a:srgbClr val="262626"/>
                  </a:solidFill>
                  <a:latin typeface="Arial"/>
                  <a:ea typeface="Arial"/>
                  <a:cs typeface="Arial"/>
                  <a:sym typeface="Arial"/>
                </a:rPr>
                <a:t>What is the Domain Name System ?</a:t>
              </a:r>
              <a:endParaRPr b="0" i="0" sz="1900" u="none" cap="none" strike="noStrike">
                <a:solidFill>
                  <a:srgbClr val="262626"/>
                </a:solidFill>
                <a:latin typeface="Arial"/>
                <a:ea typeface="Arial"/>
                <a:cs typeface="Arial"/>
                <a:sym typeface="Arial"/>
              </a:endParaRPr>
            </a:p>
          </p:txBody>
        </p:sp>
      </p:grpSp>
      <p:cxnSp>
        <p:nvCxnSpPr>
          <p:cNvPr id="148" name="Google Shape;148;p22"/>
          <p:cNvCxnSpPr/>
          <p:nvPr/>
        </p:nvCxnSpPr>
        <p:spPr>
          <a:xfrm flipH="1" rot="10800000">
            <a:off x="2151236" y="1759595"/>
            <a:ext cx="3246525" cy="20025"/>
          </a:xfrm>
          <a:prstGeom prst="straightConnector1">
            <a:avLst/>
          </a:prstGeom>
          <a:noFill/>
          <a:ln cap="flat" cmpd="sng" w="25400">
            <a:solidFill>
              <a:srgbClr val="00AAC7"/>
            </a:solidFill>
            <a:prstDash val="solid"/>
            <a:miter lim="800000"/>
            <a:headEnd len="sm" w="sm" type="none"/>
            <a:tailEnd len="med" w="med" type="oval"/>
          </a:ln>
        </p:spPr>
      </p:cxnSp>
      <p:sp>
        <p:nvSpPr>
          <p:cNvPr id="149" name="Google Shape;149;p22"/>
          <p:cNvSpPr txBox="1"/>
          <p:nvPr/>
        </p:nvSpPr>
        <p:spPr>
          <a:xfrm>
            <a:off x="1693909" y="1599407"/>
            <a:ext cx="425100" cy="346200"/>
          </a:xfrm>
          <a:prstGeom prst="rect">
            <a:avLst/>
          </a:prstGeom>
          <a:noFill/>
          <a:ln>
            <a:noFill/>
          </a:ln>
        </p:spPr>
        <p:txBody>
          <a:bodyPr anchorCtr="0" anchor="t" bIns="34275" lIns="81000" spcFirstLastPara="1" rIns="81000"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fr" sz="1800" u="none" cap="none" strike="noStrike">
                <a:solidFill>
                  <a:srgbClr val="262626"/>
                </a:solidFill>
                <a:latin typeface="Arial"/>
                <a:ea typeface="Arial"/>
                <a:cs typeface="Arial"/>
                <a:sym typeface="Arial"/>
              </a:rPr>
              <a:t>1</a:t>
            </a:r>
            <a:endParaRPr b="1" i="0" sz="1800" u="none" cap="none" strike="noStrike">
              <a:solidFill>
                <a:srgbClr val="262626"/>
              </a:solidFill>
              <a:latin typeface="Arial"/>
              <a:ea typeface="Arial"/>
              <a:cs typeface="Arial"/>
              <a:sym typeface="Arial"/>
            </a:endParaRPr>
          </a:p>
        </p:txBody>
      </p:sp>
      <p:grpSp>
        <p:nvGrpSpPr>
          <p:cNvPr id="150" name="Google Shape;150;p22"/>
          <p:cNvGrpSpPr/>
          <p:nvPr/>
        </p:nvGrpSpPr>
        <p:grpSpPr>
          <a:xfrm>
            <a:off x="3172959" y="2576299"/>
            <a:ext cx="4137598" cy="898349"/>
            <a:chOff x="1797648" y="747879"/>
            <a:chExt cx="3488700" cy="1197799"/>
          </a:xfrm>
        </p:grpSpPr>
        <p:sp>
          <p:nvSpPr>
            <p:cNvPr id="151" name="Google Shape;151;p22"/>
            <p:cNvSpPr txBox="1"/>
            <p:nvPr/>
          </p:nvSpPr>
          <p:spPr>
            <a:xfrm>
              <a:off x="1797648" y="747879"/>
              <a:ext cx="3488700" cy="605400"/>
            </a:xfrm>
            <a:prstGeom prst="rect">
              <a:avLst/>
            </a:prstGeom>
            <a:noFill/>
            <a:ln>
              <a:noFill/>
            </a:ln>
          </p:spPr>
          <p:txBody>
            <a:bodyPr anchorCtr="0" anchor="t" bIns="34275" lIns="81000" spcFirstLastPara="1" rIns="81000"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fr" sz="2500" u="none" cap="none" strike="noStrike">
                  <a:solidFill>
                    <a:srgbClr val="262626"/>
                  </a:solidFill>
                  <a:latin typeface="Arial"/>
                  <a:ea typeface="Arial"/>
                  <a:cs typeface="Arial"/>
                  <a:sym typeface="Arial"/>
                </a:rPr>
                <a:t>DNS &amp; CyberSecurity</a:t>
              </a:r>
              <a:endParaRPr b="1" i="0" sz="2500" u="none" cap="none" strike="noStrike">
                <a:solidFill>
                  <a:srgbClr val="262626"/>
                </a:solidFill>
                <a:latin typeface="Arial"/>
                <a:ea typeface="Arial"/>
                <a:cs typeface="Arial"/>
                <a:sym typeface="Arial"/>
              </a:endParaRPr>
            </a:p>
          </p:txBody>
        </p:sp>
        <p:sp>
          <p:nvSpPr>
            <p:cNvPr id="152" name="Google Shape;152;p22"/>
            <p:cNvSpPr txBox="1"/>
            <p:nvPr/>
          </p:nvSpPr>
          <p:spPr>
            <a:xfrm>
              <a:off x="1826318" y="1463278"/>
              <a:ext cx="3119100" cy="48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0" i="0" lang="fr" sz="1900" u="none" cap="none" strike="noStrike">
                  <a:solidFill>
                    <a:srgbClr val="262626"/>
                  </a:solidFill>
                  <a:latin typeface="Arial"/>
                  <a:ea typeface="Arial"/>
                  <a:cs typeface="Arial"/>
                  <a:sym typeface="Arial"/>
                </a:rPr>
                <a:t>How DNS can be subverted ?</a:t>
              </a:r>
              <a:endParaRPr b="0" i="0" sz="1900" u="none" cap="none" strike="noStrike">
                <a:solidFill>
                  <a:srgbClr val="262626"/>
                </a:solidFill>
                <a:latin typeface="Arial"/>
                <a:ea typeface="Arial"/>
                <a:cs typeface="Arial"/>
                <a:sym typeface="Arial"/>
              </a:endParaRPr>
            </a:p>
          </p:txBody>
        </p:sp>
      </p:grpSp>
      <p:cxnSp>
        <p:nvCxnSpPr>
          <p:cNvPr id="153" name="Google Shape;153;p22"/>
          <p:cNvCxnSpPr/>
          <p:nvPr/>
        </p:nvCxnSpPr>
        <p:spPr>
          <a:xfrm flipH="1" rot="10800000">
            <a:off x="2993224" y="3017294"/>
            <a:ext cx="3246600" cy="20100"/>
          </a:xfrm>
          <a:prstGeom prst="straightConnector1">
            <a:avLst/>
          </a:prstGeom>
          <a:noFill/>
          <a:ln cap="flat" cmpd="sng" w="25400">
            <a:solidFill>
              <a:srgbClr val="00AAC7"/>
            </a:solidFill>
            <a:prstDash val="solid"/>
            <a:miter lim="800000"/>
            <a:headEnd len="sm" w="sm" type="none"/>
            <a:tailEnd len="med" w="med" type="oval"/>
          </a:ln>
        </p:spPr>
      </p:cxnSp>
      <p:grpSp>
        <p:nvGrpSpPr>
          <p:cNvPr id="154" name="Google Shape;154;p22"/>
          <p:cNvGrpSpPr/>
          <p:nvPr/>
        </p:nvGrpSpPr>
        <p:grpSpPr>
          <a:xfrm>
            <a:off x="4139813" y="3696955"/>
            <a:ext cx="2616525" cy="868274"/>
            <a:chOff x="1797648" y="849479"/>
            <a:chExt cx="3488700" cy="1157699"/>
          </a:xfrm>
        </p:grpSpPr>
        <p:sp>
          <p:nvSpPr>
            <p:cNvPr id="155" name="Google Shape;155;p22"/>
            <p:cNvSpPr txBox="1"/>
            <p:nvPr/>
          </p:nvSpPr>
          <p:spPr>
            <a:xfrm>
              <a:off x="1797648" y="849479"/>
              <a:ext cx="3488700" cy="605400"/>
            </a:xfrm>
            <a:prstGeom prst="rect">
              <a:avLst/>
            </a:prstGeom>
            <a:noFill/>
            <a:ln>
              <a:noFill/>
            </a:ln>
          </p:spPr>
          <p:txBody>
            <a:bodyPr anchorCtr="0" anchor="t" bIns="34275" lIns="81000" spcFirstLastPara="1" rIns="81000"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fr" sz="2500" u="none" cap="none" strike="noStrike">
                  <a:solidFill>
                    <a:srgbClr val="262626"/>
                  </a:solidFill>
                  <a:latin typeface="Arial"/>
                  <a:ea typeface="Arial"/>
                  <a:cs typeface="Arial"/>
                  <a:sym typeface="Arial"/>
                </a:rPr>
                <a:t>Labs</a:t>
              </a:r>
              <a:endParaRPr b="1" i="0" sz="2500" u="none" cap="none" strike="noStrike">
                <a:solidFill>
                  <a:srgbClr val="262626"/>
                </a:solidFill>
                <a:latin typeface="Arial"/>
                <a:ea typeface="Arial"/>
                <a:cs typeface="Arial"/>
                <a:sym typeface="Arial"/>
              </a:endParaRPr>
            </a:p>
          </p:txBody>
        </p:sp>
        <p:sp>
          <p:nvSpPr>
            <p:cNvPr id="156" name="Google Shape;156;p22"/>
            <p:cNvSpPr txBox="1"/>
            <p:nvPr/>
          </p:nvSpPr>
          <p:spPr>
            <a:xfrm>
              <a:off x="2147566" y="1463278"/>
              <a:ext cx="3119100" cy="543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t/>
              </a:r>
              <a:endParaRPr b="0" i="0" sz="2200" u="none" cap="none" strike="noStrike">
                <a:solidFill>
                  <a:srgbClr val="262626"/>
                </a:solidFill>
                <a:latin typeface="Arial"/>
                <a:ea typeface="Arial"/>
                <a:cs typeface="Arial"/>
                <a:sym typeface="Arial"/>
              </a:endParaRPr>
            </a:p>
          </p:txBody>
        </p:sp>
      </p:grpSp>
      <p:cxnSp>
        <p:nvCxnSpPr>
          <p:cNvPr id="157" name="Google Shape;157;p22"/>
          <p:cNvCxnSpPr/>
          <p:nvPr/>
        </p:nvCxnSpPr>
        <p:spPr>
          <a:xfrm flipH="1" rot="10800000">
            <a:off x="3959974" y="4061739"/>
            <a:ext cx="3246600" cy="20100"/>
          </a:xfrm>
          <a:prstGeom prst="straightConnector1">
            <a:avLst/>
          </a:prstGeom>
          <a:noFill/>
          <a:ln cap="flat" cmpd="sng" w="25400">
            <a:solidFill>
              <a:srgbClr val="80BA81"/>
            </a:solidFill>
            <a:prstDash val="solid"/>
            <a:miter lim="800000"/>
            <a:headEnd len="sm" w="sm" type="none"/>
            <a:tailEnd len="med" w="med" type="oval"/>
          </a:ln>
        </p:spPr>
      </p:cxnSp>
      <p:sp>
        <p:nvSpPr>
          <p:cNvPr id="158" name="Google Shape;158;p22"/>
          <p:cNvSpPr txBox="1"/>
          <p:nvPr/>
        </p:nvSpPr>
        <p:spPr>
          <a:xfrm>
            <a:off x="2151250" y="267025"/>
            <a:ext cx="3371400" cy="576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1" i="0" lang="fr" sz="4300" u="none" cap="none" strike="noStrike">
                <a:solidFill>
                  <a:srgbClr val="00205B"/>
                </a:solidFill>
                <a:latin typeface="Arial"/>
                <a:ea typeface="Arial"/>
                <a:cs typeface="Arial"/>
                <a:sym typeface="Arial"/>
              </a:rPr>
              <a:t>AGENDA</a:t>
            </a:r>
            <a:endParaRPr b="1" i="0" sz="2100" u="none" cap="none" strike="noStrike">
              <a:solidFill>
                <a:srgbClr val="00205B"/>
              </a:solidFill>
              <a:latin typeface="Arial"/>
              <a:ea typeface="Arial"/>
              <a:cs typeface="Arial"/>
              <a:sym typeface="Arial"/>
            </a:endParaRPr>
          </a:p>
        </p:txBody>
      </p:sp>
      <p:sp>
        <p:nvSpPr>
          <p:cNvPr id="159" name="Google Shape;159;p22"/>
          <p:cNvSpPr/>
          <p:nvPr/>
        </p:nvSpPr>
        <p:spPr>
          <a:xfrm>
            <a:off x="2501194" y="2750657"/>
            <a:ext cx="489600" cy="489600"/>
          </a:xfrm>
          <a:prstGeom prst="ellipse">
            <a:avLst/>
          </a:prstGeom>
          <a:solidFill>
            <a:schemeClr val="lt1"/>
          </a:solidFill>
          <a:ln cap="flat" cmpd="sng" w="28575">
            <a:solidFill>
              <a:srgbClr val="00AAC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p:txBody>
      </p:sp>
      <p:sp>
        <p:nvSpPr>
          <p:cNvPr id="160" name="Google Shape;160;p22"/>
          <p:cNvSpPr txBox="1"/>
          <p:nvPr/>
        </p:nvSpPr>
        <p:spPr>
          <a:xfrm>
            <a:off x="2533446" y="2822355"/>
            <a:ext cx="425100" cy="346200"/>
          </a:xfrm>
          <a:prstGeom prst="rect">
            <a:avLst/>
          </a:prstGeom>
          <a:noFill/>
          <a:ln>
            <a:noFill/>
          </a:ln>
        </p:spPr>
        <p:txBody>
          <a:bodyPr anchorCtr="0" anchor="t" bIns="34275" lIns="81000" spcFirstLastPara="1" rIns="81000"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fr" sz="1800" u="none" cap="none" strike="noStrike">
                <a:solidFill>
                  <a:srgbClr val="262626"/>
                </a:solidFill>
                <a:latin typeface="Arial"/>
                <a:ea typeface="Arial"/>
                <a:cs typeface="Arial"/>
                <a:sym typeface="Arial"/>
              </a:rPr>
              <a:t>2</a:t>
            </a:r>
            <a:endParaRPr b="1" i="0" sz="1800" u="none" cap="none" strike="noStrike">
              <a:solidFill>
                <a:srgbClr val="262626"/>
              </a:solidFill>
              <a:latin typeface="Arial"/>
              <a:ea typeface="Arial"/>
              <a:cs typeface="Arial"/>
              <a:sym typeface="Arial"/>
            </a:endParaRPr>
          </a:p>
        </p:txBody>
      </p:sp>
      <p:sp>
        <p:nvSpPr>
          <p:cNvPr id="161" name="Google Shape;161;p22"/>
          <p:cNvSpPr/>
          <p:nvPr/>
        </p:nvSpPr>
        <p:spPr>
          <a:xfrm>
            <a:off x="3467944" y="3813528"/>
            <a:ext cx="489600" cy="489600"/>
          </a:xfrm>
          <a:prstGeom prst="ellipse">
            <a:avLst/>
          </a:prstGeom>
          <a:solidFill>
            <a:schemeClr val="lt1"/>
          </a:solidFill>
          <a:ln cap="flat" cmpd="sng" w="28575">
            <a:solidFill>
              <a:srgbClr val="80BA8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p:txBody>
      </p:sp>
      <p:sp>
        <p:nvSpPr>
          <p:cNvPr id="162" name="Google Shape;162;p22"/>
          <p:cNvSpPr txBox="1"/>
          <p:nvPr/>
        </p:nvSpPr>
        <p:spPr>
          <a:xfrm>
            <a:off x="3500196" y="3905702"/>
            <a:ext cx="425100" cy="346200"/>
          </a:xfrm>
          <a:prstGeom prst="rect">
            <a:avLst/>
          </a:prstGeom>
          <a:noFill/>
          <a:ln>
            <a:noFill/>
          </a:ln>
        </p:spPr>
        <p:txBody>
          <a:bodyPr anchorCtr="0" anchor="t" bIns="34275" lIns="81000" spcFirstLastPara="1" rIns="81000"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fr" sz="1800" u="none" cap="none" strike="noStrike">
                <a:solidFill>
                  <a:srgbClr val="262626"/>
                </a:solidFill>
                <a:latin typeface="Arial"/>
                <a:ea typeface="Arial"/>
                <a:cs typeface="Arial"/>
                <a:sym typeface="Arial"/>
              </a:rPr>
              <a:t>3</a:t>
            </a:r>
            <a:endParaRPr b="1" i="0" sz="1800" u="none" cap="none" strike="noStrike">
              <a:solidFill>
                <a:srgbClr val="262626"/>
              </a:solidFill>
              <a:latin typeface="Arial"/>
              <a:ea typeface="Arial"/>
              <a:cs typeface="Arial"/>
              <a:sym typeface="Arial"/>
            </a:endParaRPr>
          </a:p>
        </p:txBody>
      </p:sp>
      <p:sp>
        <p:nvSpPr>
          <p:cNvPr id="163" name="Google Shape;163;p22"/>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600"/>
              <a:buFont typeface="Arial"/>
              <a:buNone/>
            </a:pPr>
            <a:fld id="{00000000-1234-1234-1234-123412341234}" type="slidenum">
              <a:rPr lang="fr" sz="1800"/>
              <a:t>‹#›</a:t>
            </a:fld>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5119384" y="204519"/>
            <a:ext cx="3836475" cy="11880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2700"/>
              <a:buNone/>
            </a:pPr>
            <a:r>
              <a:rPr lang="fr" sz="3600"/>
              <a:t>DNS Overview</a:t>
            </a:r>
            <a:endParaRPr sz="3600"/>
          </a:p>
        </p:txBody>
      </p:sp>
      <p:pic>
        <p:nvPicPr>
          <p:cNvPr id="170" name="Google Shape;170;p23"/>
          <p:cNvPicPr preferRelativeResize="0"/>
          <p:nvPr/>
        </p:nvPicPr>
        <p:blipFill rotWithShape="1">
          <a:blip r:embed="rId3">
            <a:alphaModFix/>
          </a:blip>
          <a:srcRect b="0" l="0" r="0" t="0"/>
          <a:stretch/>
        </p:blipFill>
        <p:spPr>
          <a:xfrm>
            <a:off x="0" y="0"/>
            <a:ext cx="4572000" cy="5143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5119384" y="204519"/>
            <a:ext cx="3836475" cy="11880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2700"/>
              <a:buNone/>
            </a:pPr>
            <a:r>
              <a:rPr lang="fr" sz="3600"/>
              <a:t>DNS is hard ?</a:t>
            </a:r>
            <a:endParaRPr sz="3600"/>
          </a:p>
        </p:txBody>
      </p:sp>
      <p:sp>
        <p:nvSpPr>
          <p:cNvPr id="177" name="Google Shape;177;p24"/>
          <p:cNvSpPr txBox="1"/>
          <p:nvPr/>
        </p:nvSpPr>
        <p:spPr>
          <a:xfrm>
            <a:off x="329325" y="456731"/>
            <a:ext cx="4190100" cy="43683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0"/>
              </a:spcAft>
              <a:buClr>
                <a:schemeClr val="dk1"/>
              </a:buClr>
              <a:buSzPts val="800"/>
              <a:buFont typeface="Arial"/>
              <a:buNone/>
            </a:pPr>
            <a:r>
              <a:rPr b="0" i="0" lang="fr" sz="2400" u="none" cap="none" strike="noStrike">
                <a:solidFill>
                  <a:srgbClr val="595959"/>
                </a:solidFill>
                <a:latin typeface="Arial"/>
                <a:ea typeface="Arial"/>
                <a:cs typeface="Arial"/>
                <a:sym typeface="Arial"/>
              </a:rPr>
              <a:t>The only three hard problems in computer science are </a:t>
            </a:r>
            <a:r>
              <a:rPr b="1" i="0" lang="fr" sz="2400" u="none" cap="none" strike="noStrike">
                <a:solidFill>
                  <a:srgbClr val="595959"/>
                </a:solidFill>
              </a:rPr>
              <a:t>cache invalidation</a:t>
            </a:r>
            <a:r>
              <a:rPr b="0" i="0" lang="fr" sz="2400" u="none" cap="none" strike="noStrike">
                <a:solidFill>
                  <a:srgbClr val="595959"/>
                </a:solidFill>
                <a:latin typeface="Arial"/>
                <a:ea typeface="Arial"/>
                <a:cs typeface="Arial"/>
                <a:sym typeface="Arial"/>
              </a:rPr>
              <a:t> and </a:t>
            </a:r>
            <a:r>
              <a:rPr b="1" i="0" lang="fr" sz="2400" u="none" cap="none" strike="noStrike">
                <a:solidFill>
                  <a:srgbClr val="595959"/>
                </a:solidFill>
              </a:rPr>
              <a:t>naming things.</a:t>
            </a:r>
            <a:endParaRPr b="1" i="0" sz="2400" u="none" cap="none" strike="noStrike">
              <a:solidFill>
                <a:srgbClr val="595959"/>
              </a:solidFill>
            </a:endParaRPr>
          </a:p>
          <a:p>
            <a:pPr indent="0" lvl="0" marL="0" marR="0" rtl="0" algn="l">
              <a:lnSpc>
                <a:spcPct val="115000"/>
              </a:lnSpc>
              <a:spcBef>
                <a:spcPts val="900"/>
              </a:spcBef>
              <a:spcAft>
                <a:spcPts val="0"/>
              </a:spcAft>
              <a:buClr>
                <a:srgbClr val="000000"/>
              </a:buClr>
              <a:buSzPts val="1800"/>
              <a:buFont typeface="Arial"/>
              <a:buNone/>
            </a:pPr>
            <a:r>
              <a:rPr b="0" i="0" lang="fr" sz="2400" u="none" cap="none" strike="noStrike">
                <a:solidFill>
                  <a:srgbClr val="595959"/>
                </a:solidFill>
                <a:latin typeface="Arial"/>
                <a:ea typeface="Arial"/>
                <a:cs typeface="Arial"/>
                <a:sym typeface="Arial"/>
              </a:rPr>
              <a:t>And </a:t>
            </a:r>
            <a:r>
              <a:rPr b="1" i="0" lang="fr" sz="2400" u="none" cap="none" strike="noStrike">
                <a:solidFill>
                  <a:srgbClr val="595959"/>
                </a:solidFill>
              </a:rPr>
              <a:t>DNS is a caching system for names of things.</a:t>
            </a:r>
            <a:endParaRPr b="1" i="0" sz="2400" u="none" cap="none" strike="noStrike">
              <a:solidFill>
                <a:srgbClr val="595959"/>
              </a:solidFill>
            </a:endParaRPr>
          </a:p>
          <a:p>
            <a:pPr indent="0" lvl="0" marL="0" marR="0" rtl="0" algn="l">
              <a:lnSpc>
                <a:spcPct val="115000"/>
              </a:lnSpc>
              <a:spcBef>
                <a:spcPts val="900"/>
              </a:spcBef>
              <a:spcAft>
                <a:spcPts val="0"/>
              </a:spcAft>
              <a:buClr>
                <a:srgbClr val="000000"/>
              </a:buClr>
              <a:buSzPts val="1800"/>
              <a:buFont typeface="Arial"/>
              <a:buNone/>
            </a:pPr>
            <a:r>
              <a:t/>
            </a:r>
            <a:endParaRPr b="0" i="0" sz="2400" u="none" cap="none" strike="noStrike">
              <a:solidFill>
                <a:srgbClr val="595959"/>
              </a:solidFill>
              <a:latin typeface="Arial"/>
              <a:ea typeface="Arial"/>
              <a:cs typeface="Arial"/>
              <a:sym typeface="Arial"/>
            </a:endParaRPr>
          </a:p>
          <a:p>
            <a:pPr indent="0" lvl="0" marL="0" marR="0" rtl="0" algn="l">
              <a:lnSpc>
                <a:spcPct val="115000"/>
              </a:lnSpc>
              <a:spcBef>
                <a:spcPts val="900"/>
              </a:spcBef>
              <a:spcAft>
                <a:spcPts val="0"/>
              </a:spcAft>
              <a:buClr>
                <a:schemeClr val="dk1"/>
              </a:buClr>
              <a:buSzPts val="800"/>
              <a:buFont typeface="Arial"/>
              <a:buNone/>
            </a:pPr>
            <a:r>
              <a:rPr b="0" i="0" lang="fr" sz="2400" u="none" cap="none" strike="noStrike">
                <a:solidFill>
                  <a:srgbClr val="595959"/>
                </a:solidFill>
                <a:latin typeface="Arial"/>
                <a:ea typeface="Arial"/>
                <a:cs typeface="Arial"/>
                <a:sym typeface="Arial"/>
              </a:rPr>
              <a:t>(And off-by-one errors)</a:t>
            </a:r>
            <a:endParaRPr b="0" i="0" sz="2400" u="none" cap="none" strike="noStrike">
              <a:solidFill>
                <a:srgbClr val="595959"/>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t/>
            </a:r>
            <a:endParaRPr b="0" i="0" sz="2400" u="none" cap="none" strike="noStrike">
              <a:solidFill>
                <a:srgbClr val="595959"/>
              </a:solidFill>
              <a:latin typeface="Arial"/>
              <a:ea typeface="Arial"/>
              <a:cs typeface="Arial"/>
              <a:sym typeface="Arial"/>
            </a:endParaRPr>
          </a:p>
        </p:txBody>
      </p:sp>
      <p:pic>
        <p:nvPicPr>
          <p:cNvPr id="178" name="Google Shape;178;p24"/>
          <p:cNvPicPr preferRelativeResize="0"/>
          <p:nvPr/>
        </p:nvPicPr>
        <p:blipFill>
          <a:blip r:embed="rId3">
            <a:alphaModFix/>
          </a:blip>
          <a:stretch>
            <a:fillRect/>
          </a:stretch>
        </p:blipFill>
        <p:spPr>
          <a:xfrm>
            <a:off x="5611950" y="2212150"/>
            <a:ext cx="2243075" cy="2243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2600"/>
              <a:buNone/>
            </a:pPr>
            <a:r>
              <a:rPr lang="fr" sz="3000"/>
              <a:t>Question</a:t>
            </a:r>
            <a:endParaRPr sz="3000"/>
          </a:p>
        </p:txBody>
      </p:sp>
      <p:sp>
        <p:nvSpPr>
          <p:cNvPr id="185" name="Google Shape;185;p25"/>
          <p:cNvSpPr txBox="1"/>
          <p:nvPr/>
        </p:nvSpPr>
        <p:spPr>
          <a:xfrm>
            <a:off x="3036624" y="1422000"/>
            <a:ext cx="6024300" cy="2616600"/>
          </a:xfrm>
          <a:prstGeom prst="rect">
            <a:avLst/>
          </a:prstGeom>
          <a:noFill/>
          <a:ln>
            <a:noFill/>
          </a:ln>
        </p:spPr>
        <p:txBody>
          <a:bodyPr anchorCtr="0" anchor="t" bIns="68575" lIns="68575" spcFirstLastPara="1" rIns="68575" wrap="square" tIns="68575">
            <a:spAutoFit/>
          </a:bodyPr>
          <a:lstStyle/>
          <a:p>
            <a:pPr indent="0" lvl="0" marL="342900" marR="0" rtl="0" algn="l">
              <a:lnSpc>
                <a:spcPct val="100000"/>
              </a:lnSpc>
              <a:spcBef>
                <a:spcPts val="0"/>
              </a:spcBef>
              <a:spcAft>
                <a:spcPts val="0"/>
              </a:spcAft>
              <a:buClr>
                <a:srgbClr val="000000"/>
              </a:buClr>
              <a:buSzPts val="2300"/>
              <a:buFont typeface="Arial"/>
              <a:buNone/>
            </a:pPr>
            <a:r>
              <a:rPr b="0" i="0" lang="fr" sz="2300" u="none" cap="none" strike="noStrike">
                <a:solidFill>
                  <a:srgbClr val="666666"/>
                </a:solidFill>
                <a:latin typeface="Arial"/>
                <a:ea typeface="Arial"/>
                <a:cs typeface="Arial"/>
                <a:sym typeface="Arial"/>
              </a:rPr>
              <a:t>What is happening behind the scenes ?</a:t>
            </a:r>
            <a:endParaRPr b="0" i="0" sz="2300" u="none" cap="none" strike="noStrike">
              <a:solidFill>
                <a:srgbClr val="666666"/>
              </a:solidFill>
              <a:latin typeface="Arial"/>
              <a:ea typeface="Arial"/>
              <a:cs typeface="Arial"/>
              <a:sym typeface="Arial"/>
            </a:endParaRPr>
          </a:p>
          <a:p>
            <a:pPr indent="0" lvl="0" marL="34290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666666"/>
              </a:solidFill>
              <a:latin typeface="Arial"/>
              <a:ea typeface="Arial"/>
              <a:cs typeface="Arial"/>
              <a:sym typeface="Arial"/>
            </a:endParaRPr>
          </a:p>
          <a:p>
            <a:pPr indent="0" lvl="0" marL="34290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666666"/>
              </a:solidFill>
              <a:latin typeface="Arial"/>
              <a:ea typeface="Arial"/>
              <a:cs typeface="Arial"/>
              <a:sym typeface="Arial"/>
            </a:endParaRPr>
          </a:p>
          <a:p>
            <a:pPr indent="0" lvl="0" marL="342900" marR="0" rtl="0" algn="l">
              <a:lnSpc>
                <a:spcPct val="100000"/>
              </a:lnSpc>
              <a:spcBef>
                <a:spcPts val="0"/>
              </a:spcBef>
              <a:spcAft>
                <a:spcPts val="0"/>
              </a:spcAft>
              <a:buClr>
                <a:srgbClr val="000000"/>
              </a:buClr>
              <a:buSzPts val="2300"/>
              <a:buFont typeface="Arial"/>
              <a:buNone/>
            </a:pPr>
            <a:r>
              <a:t/>
            </a:r>
            <a:endParaRPr sz="2300">
              <a:solidFill>
                <a:srgbClr val="666666"/>
              </a:solidFill>
            </a:endParaRPr>
          </a:p>
          <a:p>
            <a:pPr indent="0" lvl="0" marL="342900" marR="0" rtl="0" algn="l">
              <a:lnSpc>
                <a:spcPct val="100000"/>
              </a:lnSpc>
              <a:spcBef>
                <a:spcPts val="0"/>
              </a:spcBef>
              <a:spcAft>
                <a:spcPts val="0"/>
              </a:spcAft>
              <a:buClr>
                <a:srgbClr val="000000"/>
              </a:buClr>
              <a:buSzPts val="2300"/>
              <a:buFont typeface="Arial"/>
              <a:buNone/>
            </a:pPr>
            <a:r>
              <a:rPr b="0" i="0" lang="fr" sz="2300" u="none" cap="none" strike="noStrike">
                <a:solidFill>
                  <a:srgbClr val="666666"/>
                </a:solidFill>
                <a:latin typeface="Arial"/>
                <a:ea typeface="Arial"/>
                <a:cs typeface="Arial"/>
                <a:sym typeface="Arial"/>
              </a:rPr>
              <a:t>What do you know about the protocol allowing the name to be translated into technical information ?</a:t>
            </a:r>
            <a:endParaRPr b="0" i="0" sz="2300" u="none" cap="none" strike="noStrike">
              <a:solidFill>
                <a:srgbClr val="666666"/>
              </a:solidFill>
              <a:latin typeface="Arial"/>
              <a:ea typeface="Arial"/>
              <a:cs typeface="Arial"/>
              <a:sym typeface="Arial"/>
            </a:endParaRPr>
          </a:p>
        </p:txBody>
      </p:sp>
      <p:grpSp>
        <p:nvGrpSpPr>
          <p:cNvPr id="186" name="Google Shape;186;p25"/>
          <p:cNvGrpSpPr/>
          <p:nvPr/>
        </p:nvGrpSpPr>
        <p:grpSpPr>
          <a:xfrm>
            <a:off x="905393" y="1001831"/>
            <a:ext cx="2198126" cy="1024913"/>
            <a:chOff x="2058666" y="1408250"/>
            <a:chExt cx="2930835" cy="1366550"/>
          </a:xfrm>
        </p:grpSpPr>
        <p:pic>
          <p:nvPicPr>
            <p:cNvPr id="187" name="Google Shape;187;p25"/>
            <p:cNvPicPr preferRelativeResize="0"/>
            <p:nvPr/>
          </p:nvPicPr>
          <p:blipFill rotWithShape="1">
            <a:blip r:embed="rId3">
              <a:alphaModFix/>
            </a:blip>
            <a:srcRect b="74465" l="0" r="0" t="0"/>
            <a:stretch/>
          </p:blipFill>
          <p:spPr>
            <a:xfrm>
              <a:off x="2058675" y="1408250"/>
              <a:ext cx="2930826" cy="1344000"/>
            </a:xfrm>
            <a:prstGeom prst="rect">
              <a:avLst/>
            </a:prstGeom>
            <a:noFill/>
            <a:ln>
              <a:noFill/>
            </a:ln>
          </p:spPr>
        </p:pic>
        <p:sp>
          <p:nvSpPr>
            <p:cNvPr id="188" name="Google Shape;188;p25"/>
            <p:cNvSpPr/>
            <p:nvPr/>
          </p:nvSpPr>
          <p:spPr>
            <a:xfrm>
              <a:off x="2058666" y="1430800"/>
              <a:ext cx="2930700" cy="1344000"/>
            </a:xfrm>
            <a:prstGeom prst="rect">
              <a:avLst/>
            </a:prstGeom>
            <a:solidFill>
              <a:srgbClr val="000000">
                <a:alpha val="0"/>
              </a:srgbClr>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grpSp>
        <p:nvGrpSpPr>
          <p:cNvPr id="189" name="Google Shape;189;p25"/>
          <p:cNvGrpSpPr/>
          <p:nvPr/>
        </p:nvGrpSpPr>
        <p:grpSpPr>
          <a:xfrm>
            <a:off x="905393" y="2537363"/>
            <a:ext cx="2198126" cy="1024913"/>
            <a:chOff x="2058666" y="1408250"/>
            <a:chExt cx="2930835" cy="1366550"/>
          </a:xfrm>
        </p:grpSpPr>
        <p:pic>
          <p:nvPicPr>
            <p:cNvPr id="190" name="Google Shape;190;p25"/>
            <p:cNvPicPr preferRelativeResize="0"/>
            <p:nvPr/>
          </p:nvPicPr>
          <p:blipFill rotWithShape="1">
            <a:blip r:embed="rId3">
              <a:alphaModFix/>
            </a:blip>
            <a:srcRect b="74465" l="0" r="0" t="0"/>
            <a:stretch/>
          </p:blipFill>
          <p:spPr>
            <a:xfrm>
              <a:off x="2058675" y="1408250"/>
              <a:ext cx="2930826" cy="1344000"/>
            </a:xfrm>
            <a:prstGeom prst="rect">
              <a:avLst/>
            </a:prstGeom>
            <a:noFill/>
            <a:ln>
              <a:noFill/>
            </a:ln>
          </p:spPr>
        </p:pic>
        <p:sp>
          <p:nvSpPr>
            <p:cNvPr id="191" name="Google Shape;191;p25"/>
            <p:cNvSpPr/>
            <p:nvPr/>
          </p:nvSpPr>
          <p:spPr>
            <a:xfrm>
              <a:off x="2058666" y="1430800"/>
              <a:ext cx="2930700" cy="1344000"/>
            </a:xfrm>
            <a:prstGeom prst="rect">
              <a:avLst/>
            </a:prstGeom>
            <a:solidFill>
              <a:srgbClr val="000000">
                <a:alpha val="0"/>
              </a:srgbClr>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pic>
        <p:nvPicPr>
          <p:cNvPr id="192" name="Google Shape;192;p25"/>
          <p:cNvPicPr preferRelativeResize="0"/>
          <p:nvPr/>
        </p:nvPicPr>
        <p:blipFill rotWithShape="1">
          <a:blip r:embed="rId4">
            <a:alphaModFix/>
          </a:blip>
          <a:srcRect b="0" l="0" r="0" t="0"/>
          <a:stretch/>
        </p:blipFill>
        <p:spPr>
          <a:xfrm>
            <a:off x="905400" y="2839538"/>
            <a:ext cx="2198118" cy="2164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ph idx="1" type="body"/>
          </p:nvPr>
        </p:nvSpPr>
        <p:spPr>
          <a:xfrm>
            <a:off x="311700" y="771475"/>
            <a:ext cx="8520600" cy="3416400"/>
          </a:xfrm>
          <a:prstGeom prst="rect">
            <a:avLst/>
          </a:prstGeom>
          <a:noFill/>
          <a:ln>
            <a:noFill/>
          </a:ln>
        </p:spPr>
        <p:txBody>
          <a:bodyPr anchorCtr="0" anchor="t" bIns="0" lIns="0" spcFirstLastPara="1" rIns="0" wrap="square" tIns="0">
            <a:noAutofit/>
          </a:bodyPr>
          <a:lstStyle/>
          <a:p>
            <a:pPr indent="0" lvl="0" marL="0" rtl="0" algn="l">
              <a:lnSpc>
                <a:spcPct val="113000"/>
              </a:lnSpc>
              <a:spcBef>
                <a:spcPts val="0"/>
              </a:spcBef>
              <a:spcAft>
                <a:spcPts val="0"/>
              </a:spcAft>
              <a:buSzPts val="1100"/>
              <a:buNone/>
            </a:pPr>
            <a:r>
              <a:rPr b="1" lang="fr" sz="2200">
                <a:solidFill>
                  <a:schemeClr val="dk1"/>
                </a:solidFill>
                <a:latin typeface="Helvetica Neue"/>
                <a:ea typeface="Helvetica Neue"/>
                <a:cs typeface="Helvetica Neue"/>
                <a:sym typeface="Helvetica Neue"/>
              </a:rPr>
              <a:t>DNS is a distributed, hierarchical system for translating objects.</a:t>
            </a:r>
            <a:endParaRPr b="1" sz="22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rPr lang="fr" sz="2200">
                <a:solidFill>
                  <a:schemeClr val="dk1"/>
                </a:solidFill>
                <a:latin typeface="Helvetica Neue"/>
                <a:ea typeface="Helvetica Neue"/>
                <a:cs typeface="Helvetica Neue"/>
                <a:sym typeface="Helvetica Neue"/>
              </a:rPr>
              <a:t>The main usage is Name to IP translation but it can also be IP to Name, Name to Ressources (Mail Servers, Domain Verification, etc)</a:t>
            </a:r>
            <a:endParaRPr sz="22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rPr lang="fr" sz="2200">
                <a:solidFill>
                  <a:schemeClr val="dk1"/>
                </a:solidFill>
                <a:latin typeface="Helvetica Neue"/>
                <a:ea typeface="Helvetica Neue"/>
                <a:cs typeface="Helvetica Neue"/>
                <a:sym typeface="Helvetica Neue"/>
              </a:rPr>
              <a:t>DNS can mean the system (Domain Name System) or the infrastructure supporting it (Domain Name Servers)</a:t>
            </a:r>
            <a:endParaRPr sz="22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900"/>
              </a:spcAft>
              <a:buSzPts val="1100"/>
              <a:buNone/>
            </a:pPr>
            <a:r>
              <a:rPr lang="fr" sz="2200">
                <a:solidFill>
                  <a:schemeClr val="dk1"/>
                </a:solidFill>
                <a:latin typeface="Helvetica Neue"/>
                <a:ea typeface="Helvetica Neue"/>
                <a:cs typeface="Helvetica Neue"/>
                <a:sym typeface="Helvetica Neue"/>
              </a:rPr>
              <a:t>DNS is a critical piece of the Internet infrastructure and any network infrastructure.</a:t>
            </a:r>
            <a:endParaRPr sz="2200"/>
          </a:p>
        </p:txBody>
      </p:sp>
      <p:pic>
        <p:nvPicPr>
          <p:cNvPr id="199" name="Google Shape;199;p26"/>
          <p:cNvPicPr preferRelativeResize="0"/>
          <p:nvPr/>
        </p:nvPicPr>
        <p:blipFill rotWithShape="1">
          <a:blip r:embed="rId3">
            <a:alphaModFix/>
          </a:blip>
          <a:srcRect b="0" l="-1110" r="1110" t="0"/>
          <a:stretch/>
        </p:blipFill>
        <p:spPr>
          <a:xfrm>
            <a:off x="1042050" y="3702714"/>
            <a:ext cx="6873411" cy="1208212"/>
          </a:xfrm>
          <a:prstGeom prst="rect">
            <a:avLst/>
          </a:prstGeom>
          <a:noFill/>
          <a:ln>
            <a:noFill/>
          </a:ln>
        </p:spPr>
      </p:pic>
      <p:sp>
        <p:nvSpPr>
          <p:cNvPr id="200" name="Google Shape;200;p26"/>
          <p:cNvSpPr txBox="1"/>
          <p:nvPr>
            <p:ph type="title"/>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2600"/>
              <a:buNone/>
            </a:pPr>
            <a:r>
              <a:rPr lang="fr" sz="3000"/>
              <a:t>What is DNS ?</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p:nvPr/>
        </p:nvSpPr>
        <p:spPr>
          <a:xfrm>
            <a:off x="902717" y="967277"/>
            <a:ext cx="68566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07" name="Google Shape;207;p27"/>
          <p:cNvSpPr/>
          <p:nvPr/>
        </p:nvSpPr>
        <p:spPr>
          <a:xfrm>
            <a:off x="902717" y="1790317"/>
            <a:ext cx="68566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08" name="Google Shape;208;p27"/>
          <p:cNvSpPr/>
          <p:nvPr/>
        </p:nvSpPr>
        <p:spPr>
          <a:xfrm>
            <a:off x="902717" y="2613356"/>
            <a:ext cx="68566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09" name="Google Shape;209;p27"/>
          <p:cNvSpPr/>
          <p:nvPr/>
        </p:nvSpPr>
        <p:spPr>
          <a:xfrm>
            <a:off x="902717" y="3436395"/>
            <a:ext cx="68566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0" name="Google Shape;210;p27"/>
          <p:cNvSpPr/>
          <p:nvPr/>
        </p:nvSpPr>
        <p:spPr>
          <a:xfrm>
            <a:off x="902717" y="4259434"/>
            <a:ext cx="68566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1" name="Google Shape;211;p27"/>
          <p:cNvSpPr/>
          <p:nvPr/>
        </p:nvSpPr>
        <p:spPr>
          <a:xfrm>
            <a:off x="675305" y="967277"/>
            <a:ext cx="1782225" cy="765450"/>
          </a:xfrm>
          <a:prstGeom prst="homePlate">
            <a:avLst>
              <a:gd fmla="val 23456" name="adj"/>
            </a:avLst>
          </a:prstGeom>
          <a:solidFill>
            <a:srgbClr val="E35A3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2" name="Google Shape;212;p27"/>
          <p:cNvSpPr/>
          <p:nvPr/>
        </p:nvSpPr>
        <p:spPr>
          <a:xfrm>
            <a:off x="675305" y="1790317"/>
            <a:ext cx="1782225" cy="765450"/>
          </a:xfrm>
          <a:prstGeom prst="homePlate">
            <a:avLst>
              <a:gd fmla="val 23456" name="adj"/>
            </a:avLst>
          </a:prstGeom>
          <a:solidFill>
            <a:srgbClr val="ECB44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3" name="Google Shape;213;p27"/>
          <p:cNvSpPr/>
          <p:nvPr/>
        </p:nvSpPr>
        <p:spPr>
          <a:xfrm>
            <a:off x="675305" y="2613356"/>
            <a:ext cx="1782225" cy="765450"/>
          </a:xfrm>
          <a:prstGeom prst="homePlate">
            <a:avLst>
              <a:gd fmla="val 23456" name="adj"/>
            </a:avLst>
          </a:prstGeom>
          <a:solidFill>
            <a:srgbClr val="5FB7A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4" name="Google Shape;214;p27"/>
          <p:cNvSpPr/>
          <p:nvPr/>
        </p:nvSpPr>
        <p:spPr>
          <a:xfrm>
            <a:off x="675305" y="3436395"/>
            <a:ext cx="1782225" cy="765450"/>
          </a:xfrm>
          <a:prstGeom prst="homePlate">
            <a:avLst>
              <a:gd fmla="val 23456" name="adj"/>
            </a:avLst>
          </a:prstGeom>
          <a:solidFill>
            <a:srgbClr val="3081A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5" name="Google Shape;215;p27"/>
          <p:cNvSpPr/>
          <p:nvPr/>
        </p:nvSpPr>
        <p:spPr>
          <a:xfrm>
            <a:off x="675305" y="4259434"/>
            <a:ext cx="1782225" cy="765450"/>
          </a:xfrm>
          <a:prstGeom prst="homePlate">
            <a:avLst>
              <a:gd fmla="val 23456" name="adj"/>
            </a:avLst>
          </a:prstGeom>
          <a:solidFill>
            <a:srgbClr val="8BB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6" name="Google Shape;216;p27"/>
          <p:cNvSpPr/>
          <p:nvPr/>
        </p:nvSpPr>
        <p:spPr>
          <a:xfrm>
            <a:off x="6897382" y="1790317"/>
            <a:ext cx="1094175" cy="765450"/>
          </a:xfrm>
          <a:prstGeom prst="homePlate">
            <a:avLst>
              <a:gd fmla="val 0" name="adj"/>
            </a:avLst>
          </a:prstGeom>
          <a:solidFill>
            <a:srgbClr val="ECB44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7" name="Google Shape;217;p27"/>
          <p:cNvSpPr/>
          <p:nvPr/>
        </p:nvSpPr>
        <p:spPr>
          <a:xfrm>
            <a:off x="6897382" y="967277"/>
            <a:ext cx="1094175" cy="765450"/>
          </a:xfrm>
          <a:prstGeom prst="homePlate">
            <a:avLst>
              <a:gd fmla="val 0" name="adj"/>
            </a:avLst>
          </a:prstGeom>
          <a:solidFill>
            <a:srgbClr val="E35A3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8" name="Google Shape;218;p27"/>
          <p:cNvSpPr/>
          <p:nvPr/>
        </p:nvSpPr>
        <p:spPr>
          <a:xfrm>
            <a:off x="6897382" y="2613356"/>
            <a:ext cx="1094175" cy="765450"/>
          </a:xfrm>
          <a:prstGeom prst="homePlate">
            <a:avLst>
              <a:gd fmla="val 0" name="adj"/>
            </a:avLst>
          </a:prstGeom>
          <a:solidFill>
            <a:srgbClr val="5FB7A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19" name="Google Shape;219;p27"/>
          <p:cNvSpPr/>
          <p:nvPr/>
        </p:nvSpPr>
        <p:spPr>
          <a:xfrm>
            <a:off x="6897382" y="3436395"/>
            <a:ext cx="1094175" cy="765450"/>
          </a:xfrm>
          <a:prstGeom prst="homePlate">
            <a:avLst>
              <a:gd fmla="val 0" name="adj"/>
            </a:avLst>
          </a:prstGeom>
          <a:solidFill>
            <a:srgbClr val="3081A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20" name="Google Shape;220;p27"/>
          <p:cNvSpPr/>
          <p:nvPr/>
        </p:nvSpPr>
        <p:spPr>
          <a:xfrm>
            <a:off x="6897382" y="4259434"/>
            <a:ext cx="1094175" cy="765450"/>
          </a:xfrm>
          <a:prstGeom prst="homePlate">
            <a:avLst>
              <a:gd fmla="val 0" name="adj"/>
            </a:avLst>
          </a:prstGeom>
          <a:solidFill>
            <a:srgbClr val="8BB7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221" name="Google Shape;221;p27"/>
          <p:cNvSpPr txBox="1"/>
          <p:nvPr/>
        </p:nvSpPr>
        <p:spPr>
          <a:xfrm>
            <a:off x="825659" y="1154669"/>
            <a:ext cx="1355850" cy="3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fr" sz="1500" u="none" cap="none" strike="noStrike">
                <a:solidFill>
                  <a:srgbClr val="FFFFFF"/>
                </a:solidFill>
                <a:latin typeface="Helvetica Neue"/>
                <a:ea typeface="Helvetica Neue"/>
                <a:cs typeface="Helvetica Neue"/>
                <a:sym typeface="Helvetica Neue"/>
              </a:rPr>
              <a:t>Globally Distributed</a:t>
            </a:r>
            <a:endParaRPr b="0" i="0" sz="1100" u="none" cap="none" strike="noStrike">
              <a:solidFill>
                <a:srgbClr val="000000"/>
              </a:solidFill>
              <a:latin typeface="Helvetica Neue"/>
              <a:ea typeface="Helvetica Neue"/>
              <a:cs typeface="Helvetica Neue"/>
              <a:sym typeface="Helvetica Neue"/>
            </a:endParaRPr>
          </a:p>
        </p:txBody>
      </p:sp>
      <p:sp>
        <p:nvSpPr>
          <p:cNvPr id="222" name="Google Shape;222;p27"/>
          <p:cNvSpPr txBox="1"/>
          <p:nvPr/>
        </p:nvSpPr>
        <p:spPr>
          <a:xfrm>
            <a:off x="825659" y="1977709"/>
            <a:ext cx="1355850" cy="3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fr" sz="1500" u="none" cap="none" strike="noStrike">
                <a:solidFill>
                  <a:srgbClr val="FFFFFF"/>
                </a:solidFill>
                <a:latin typeface="Helvetica Neue"/>
                <a:ea typeface="Helvetica Neue"/>
                <a:cs typeface="Helvetica Neue"/>
                <a:sym typeface="Helvetica Neue"/>
              </a:rPr>
              <a:t>Loosely coherent</a:t>
            </a:r>
            <a:endParaRPr b="0" i="0" sz="1100" u="none" cap="none" strike="noStrike">
              <a:solidFill>
                <a:srgbClr val="000000"/>
              </a:solidFill>
              <a:latin typeface="Helvetica Neue"/>
              <a:ea typeface="Helvetica Neue"/>
              <a:cs typeface="Helvetica Neue"/>
              <a:sym typeface="Helvetica Neue"/>
            </a:endParaRPr>
          </a:p>
        </p:txBody>
      </p:sp>
      <p:sp>
        <p:nvSpPr>
          <p:cNvPr id="223" name="Google Shape;223;p27"/>
          <p:cNvSpPr txBox="1"/>
          <p:nvPr/>
        </p:nvSpPr>
        <p:spPr>
          <a:xfrm>
            <a:off x="825659" y="2800748"/>
            <a:ext cx="1355850" cy="3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fr" sz="1500" u="none" cap="none" strike="noStrike">
                <a:solidFill>
                  <a:srgbClr val="FFFFFF"/>
                </a:solidFill>
                <a:latin typeface="Helvetica Neue"/>
                <a:ea typeface="Helvetica Neue"/>
                <a:cs typeface="Helvetica Neue"/>
                <a:sym typeface="Helvetica Neue"/>
              </a:rPr>
              <a:t>Scalable</a:t>
            </a:r>
            <a:endParaRPr b="1" i="0" sz="1500" u="none" cap="none" strike="noStrike">
              <a:solidFill>
                <a:srgbClr val="FFFFFF"/>
              </a:solidFill>
              <a:latin typeface="Helvetica Neue"/>
              <a:ea typeface="Helvetica Neue"/>
              <a:cs typeface="Helvetica Neue"/>
              <a:sym typeface="Helvetica Neue"/>
            </a:endParaRPr>
          </a:p>
        </p:txBody>
      </p:sp>
      <p:sp>
        <p:nvSpPr>
          <p:cNvPr id="224" name="Google Shape;224;p27"/>
          <p:cNvSpPr txBox="1"/>
          <p:nvPr/>
        </p:nvSpPr>
        <p:spPr>
          <a:xfrm>
            <a:off x="825659" y="3623787"/>
            <a:ext cx="1355850" cy="3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fr" sz="1500" u="none" cap="none" strike="noStrike">
                <a:solidFill>
                  <a:srgbClr val="FFFFFF"/>
                </a:solidFill>
                <a:latin typeface="Helvetica Neue"/>
                <a:ea typeface="Helvetica Neue"/>
                <a:cs typeface="Helvetica Neue"/>
                <a:sym typeface="Helvetica Neue"/>
              </a:rPr>
              <a:t>Reliable</a:t>
            </a:r>
            <a:endParaRPr b="0" i="0" sz="1100" u="none" cap="none" strike="noStrike">
              <a:solidFill>
                <a:srgbClr val="000000"/>
              </a:solidFill>
              <a:latin typeface="Helvetica Neue"/>
              <a:ea typeface="Helvetica Neue"/>
              <a:cs typeface="Helvetica Neue"/>
              <a:sym typeface="Helvetica Neue"/>
            </a:endParaRPr>
          </a:p>
        </p:txBody>
      </p:sp>
      <p:sp>
        <p:nvSpPr>
          <p:cNvPr id="225" name="Google Shape;225;p27"/>
          <p:cNvSpPr txBox="1"/>
          <p:nvPr/>
        </p:nvSpPr>
        <p:spPr>
          <a:xfrm>
            <a:off x="825659" y="4446826"/>
            <a:ext cx="1355850" cy="3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fr" sz="1500" u="none" cap="none" strike="noStrike">
                <a:solidFill>
                  <a:srgbClr val="FFFFFF"/>
                </a:solidFill>
                <a:latin typeface="Helvetica Neue"/>
                <a:ea typeface="Helvetica Neue"/>
                <a:cs typeface="Helvetica Neue"/>
                <a:sym typeface="Helvetica Neue"/>
              </a:rPr>
              <a:t>Dynamic</a:t>
            </a:r>
            <a:endParaRPr b="0" i="0" sz="1100" u="none" cap="none" strike="noStrike">
              <a:solidFill>
                <a:srgbClr val="000000"/>
              </a:solidFill>
              <a:latin typeface="Helvetica Neue"/>
              <a:ea typeface="Helvetica Neue"/>
              <a:cs typeface="Helvetica Neue"/>
              <a:sym typeface="Helvetica Neue"/>
            </a:endParaRPr>
          </a:p>
        </p:txBody>
      </p:sp>
      <p:sp>
        <p:nvSpPr>
          <p:cNvPr id="226" name="Google Shape;226;p27"/>
          <p:cNvSpPr txBox="1"/>
          <p:nvPr/>
        </p:nvSpPr>
        <p:spPr>
          <a:xfrm flipH="1">
            <a:off x="2648267" y="1067017"/>
            <a:ext cx="398025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262626"/>
                </a:solidFill>
                <a:latin typeface="Helvetica Neue"/>
                <a:ea typeface="Helvetica Neue"/>
                <a:cs typeface="Helvetica Neue"/>
                <a:sym typeface="Helvetica Neue"/>
              </a:rPr>
              <a:t>Multiple DNS servers managed by different operators</a:t>
            </a:r>
            <a:endParaRPr b="0" i="0" sz="1800" u="none" cap="none" strike="noStrike">
              <a:solidFill>
                <a:srgbClr val="262626"/>
              </a:solidFill>
              <a:latin typeface="Helvetica Neue"/>
              <a:ea typeface="Helvetica Neue"/>
              <a:cs typeface="Helvetica Neue"/>
              <a:sym typeface="Helvetica Neue"/>
            </a:endParaRPr>
          </a:p>
        </p:txBody>
      </p:sp>
      <p:sp>
        <p:nvSpPr>
          <p:cNvPr id="227" name="Google Shape;227;p27"/>
          <p:cNvSpPr txBox="1"/>
          <p:nvPr/>
        </p:nvSpPr>
        <p:spPr>
          <a:xfrm flipH="1">
            <a:off x="2648267" y="1890056"/>
            <a:ext cx="398025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262626"/>
                </a:solidFill>
                <a:latin typeface="Helvetica Neue"/>
                <a:ea typeface="Helvetica Neue"/>
                <a:cs typeface="Helvetica Neue"/>
                <a:sym typeface="Helvetica Neue"/>
              </a:rPr>
              <a:t>Even if distributed, servers are still part of one global DNS system</a:t>
            </a:r>
            <a:endParaRPr b="0" i="0" sz="1800" u="none" cap="none" strike="noStrike">
              <a:solidFill>
                <a:srgbClr val="262626"/>
              </a:solidFill>
              <a:latin typeface="Helvetica Neue"/>
              <a:ea typeface="Helvetica Neue"/>
              <a:cs typeface="Helvetica Neue"/>
              <a:sym typeface="Helvetica Neue"/>
            </a:endParaRPr>
          </a:p>
        </p:txBody>
      </p:sp>
      <p:sp>
        <p:nvSpPr>
          <p:cNvPr id="228" name="Google Shape;228;p27"/>
          <p:cNvSpPr txBox="1"/>
          <p:nvPr/>
        </p:nvSpPr>
        <p:spPr>
          <a:xfrm flipH="1">
            <a:off x="2648267" y="2713095"/>
            <a:ext cx="398025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262626"/>
                </a:solidFill>
                <a:latin typeface="Helvetica Neue"/>
                <a:ea typeface="Helvetica Neue"/>
                <a:cs typeface="Helvetica Neue"/>
                <a:sym typeface="Helvetica Neue"/>
              </a:rPr>
              <a:t>The system can be scaled up and multiple servers can be added</a:t>
            </a:r>
            <a:endParaRPr b="0" i="0" sz="1800" u="none" cap="none" strike="noStrike">
              <a:solidFill>
                <a:srgbClr val="262626"/>
              </a:solidFill>
              <a:latin typeface="Helvetica Neue"/>
              <a:ea typeface="Helvetica Neue"/>
              <a:cs typeface="Helvetica Neue"/>
              <a:sym typeface="Helvetica Neue"/>
            </a:endParaRPr>
          </a:p>
        </p:txBody>
      </p:sp>
      <p:sp>
        <p:nvSpPr>
          <p:cNvPr id="229" name="Google Shape;229;p27"/>
          <p:cNvSpPr txBox="1"/>
          <p:nvPr/>
        </p:nvSpPr>
        <p:spPr>
          <a:xfrm flipH="1">
            <a:off x="2648175" y="3536138"/>
            <a:ext cx="42084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262626"/>
                </a:solidFill>
                <a:latin typeface="Helvetica Neue"/>
                <a:ea typeface="Helvetica Neue"/>
                <a:cs typeface="Helvetica Neue"/>
                <a:sym typeface="Helvetica Neue"/>
              </a:rPr>
              <a:t>Failure tolerance due to hierarchical distributed architecture and local caches</a:t>
            </a:r>
            <a:endParaRPr b="0" i="0" sz="1800" u="none" cap="none" strike="noStrike">
              <a:solidFill>
                <a:srgbClr val="262626"/>
              </a:solidFill>
              <a:latin typeface="Helvetica Neue"/>
              <a:ea typeface="Helvetica Neue"/>
              <a:cs typeface="Helvetica Neue"/>
              <a:sym typeface="Helvetica Neue"/>
            </a:endParaRPr>
          </a:p>
        </p:txBody>
      </p:sp>
      <p:sp>
        <p:nvSpPr>
          <p:cNvPr id="230" name="Google Shape;230;p27"/>
          <p:cNvSpPr txBox="1"/>
          <p:nvPr/>
        </p:nvSpPr>
        <p:spPr>
          <a:xfrm flipH="1">
            <a:off x="2648267" y="4359173"/>
            <a:ext cx="398025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fr" sz="1800" u="none" cap="none" strike="noStrike">
                <a:solidFill>
                  <a:srgbClr val="262626"/>
                </a:solidFill>
                <a:latin typeface="Helvetica Neue"/>
                <a:ea typeface="Helvetica Neue"/>
                <a:cs typeface="Helvetica Neue"/>
                <a:sym typeface="Helvetica Neue"/>
              </a:rPr>
              <a:t>Anyone can add domains and records without causing outage</a:t>
            </a:r>
            <a:endParaRPr b="0" i="0" sz="1800" u="none" cap="none" strike="noStrike">
              <a:solidFill>
                <a:srgbClr val="262626"/>
              </a:solidFill>
              <a:latin typeface="Helvetica Neue"/>
              <a:ea typeface="Helvetica Neue"/>
              <a:cs typeface="Helvetica Neue"/>
              <a:sym typeface="Helvetica Neue"/>
            </a:endParaRPr>
          </a:p>
        </p:txBody>
      </p:sp>
      <p:grpSp>
        <p:nvGrpSpPr>
          <p:cNvPr id="231" name="Google Shape;231;p27"/>
          <p:cNvGrpSpPr/>
          <p:nvPr/>
        </p:nvGrpSpPr>
        <p:grpSpPr>
          <a:xfrm>
            <a:off x="7247163" y="4412915"/>
            <a:ext cx="394559" cy="458335"/>
            <a:chOff x="6637338" y="6742113"/>
            <a:chExt cx="736599" cy="855661"/>
          </a:xfrm>
        </p:grpSpPr>
        <p:sp>
          <p:nvSpPr>
            <p:cNvPr id="232" name="Google Shape;232;p27"/>
            <p:cNvSpPr/>
            <p:nvPr/>
          </p:nvSpPr>
          <p:spPr>
            <a:xfrm>
              <a:off x="6637338" y="6742113"/>
              <a:ext cx="736599" cy="855661"/>
            </a:xfrm>
            <a:custGeom>
              <a:rect b="b" l="l" r="r" t="t"/>
              <a:pathLst>
                <a:path extrusionOk="0" h="1520" w="1312">
                  <a:moveTo>
                    <a:pt x="284" y="1364"/>
                  </a:moveTo>
                  <a:cubicBezTo>
                    <a:pt x="254" y="1403"/>
                    <a:pt x="224" y="1442"/>
                    <a:pt x="195" y="1480"/>
                  </a:cubicBezTo>
                  <a:cubicBezTo>
                    <a:pt x="188" y="1489"/>
                    <a:pt x="180" y="1496"/>
                    <a:pt x="168" y="1493"/>
                  </a:cubicBezTo>
                  <a:cubicBezTo>
                    <a:pt x="150" y="1489"/>
                    <a:pt x="145" y="1470"/>
                    <a:pt x="157" y="1454"/>
                  </a:cubicBezTo>
                  <a:cubicBezTo>
                    <a:pt x="181" y="1421"/>
                    <a:pt x="207" y="1388"/>
                    <a:pt x="232" y="1355"/>
                  </a:cubicBezTo>
                  <a:cubicBezTo>
                    <a:pt x="237" y="1348"/>
                    <a:pt x="242" y="1342"/>
                    <a:pt x="248" y="1334"/>
                  </a:cubicBezTo>
                  <a:cubicBezTo>
                    <a:pt x="125" y="1230"/>
                    <a:pt x="49" y="1099"/>
                    <a:pt x="24" y="940"/>
                  </a:cubicBezTo>
                  <a:cubicBezTo>
                    <a:pt x="0" y="782"/>
                    <a:pt x="31" y="634"/>
                    <a:pt x="117" y="496"/>
                  </a:cubicBezTo>
                  <a:cubicBezTo>
                    <a:pt x="95" y="474"/>
                    <a:pt x="72" y="452"/>
                    <a:pt x="50" y="430"/>
                  </a:cubicBezTo>
                  <a:cubicBezTo>
                    <a:pt x="25" y="405"/>
                    <a:pt x="14" y="376"/>
                    <a:pt x="20" y="340"/>
                  </a:cubicBezTo>
                  <a:cubicBezTo>
                    <a:pt x="23" y="320"/>
                    <a:pt x="32" y="303"/>
                    <a:pt x="47" y="288"/>
                  </a:cubicBezTo>
                  <a:cubicBezTo>
                    <a:pt x="65" y="270"/>
                    <a:pt x="83" y="251"/>
                    <a:pt x="102" y="233"/>
                  </a:cubicBezTo>
                  <a:cubicBezTo>
                    <a:pt x="143" y="193"/>
                    <a:pt x="201" y="193"/>
                    <a:pt x="243" y="234"/>
                  </a:cubicBezTo>
                  <a:cubicBezTo>
                    <a:pt x="263" y="254"/>
                    <a:pt x="283" y="274"/>
                    <a:pt x="303" y="294"/>
                  </a:cubicBezTo>
                  <a:cubicBezTo>
                    <a:pt x="308" y="299"/>
                    <a:pt x="312" y="302"/>
                    <a:pt x="319" y="297"/>
                  </a:cubicBezTo>
                  <a:cubicBezTo>
                    <a:pt x="410" y="241"/>
                    <a:pt x="509" y="210"/>
                    <a:pt x="616" y="203"/>
                  </a:cubicBezTo>
                  <a:cubicBezTo>
                    <a:pt x="621" y="203"/>
                    <a:pt x="626" y="202"/>
                    <a:pt x="631" y="201"/>
                  </a:cubicBezTo>
                  <a:cubicBezTo>
                    <a:pt x="631" y="150"/>
                    <a:pt x="631" y="100"/>
                    <a:pt x="631" y="48"/>
                  </a:cubicBezTo>
                  <a:cubicBezTo>
                    <a:pt x="610" y="48"/>
                    <a:pt x="589" y="48"/>
                    <a:pt x="567" y="48"/>
                  </a:cubicBezTo>
                  <a:cubicBezTo>
                    <a:pt x="560" y="48"/>
                    <a:pt x="552" y="48"/>
                    <a:pt x="545" y="48"/>
                  </a:cubicBezTo>
                  <a:cubicBezTo>
                    <a:pt x="527" y="47"/>
                    <a:pt x="516" y="38"/>
                    <a:pt x="516" y="24"/>
                  </a:cubicBezTo>
                  <a:cubicBezTo>
                    <a:pt x="516" y="10"/>
                    <a:pt x="527" y="1"/>
                    <a:pt x="544" y="1"/>
                  </a:cubicBezTo>
                  <a:cubicBezTo>
                    <a:pt x="580" y="0"/>
                    <a:pt x="616" y="0"/>
                    <a:pt x="652" y="0"/>
                  </a:cubicBezTo>
                  <a:cubicBezTo>
                    <a:pt x="690" y="0"/>
                    <a:pt x="728" y="0"/>
                    <a:pt x="766" y="1"/>
                  </a:cubicBezTo>
                  <a:cubicBezTo>
                    <a:pt x="784" y="1"/>
                    <a:pt x="795" y="10"/>
                    <a:pt x="796" y="24"/>
                  </a:cubicBezTo>
                  <a:cubicBezTo>
                    <a:pt x="796" y="38"/>
                    <a:pt x="785" y="47"/>
                    <a:pt x="767" y="48"/>
                  </a:cubicBezTo>
                  <a:cubicBezTo>
                    <a:pt x="740" y="48"/>
                    <a:pt x="712" y="48"/>
                    <a:pt x="685" y="48"/>
                  </a:cubicBezTo>
                  <a:cubicBezTo>
                    <a:pt x="684" y="48"/>
                    <a:pt x="683" y="48"/>
                    <a:pt x="680" y="49"/>
                  </a:cubicBezTo>
                  <a:cubicBezTo>
                    <a:pt x="680" y="99"/>
                    <a:pt x="680" y="150"/>
                    <a:pt x="680" y="200"/>
                  </a:cubicBezTo>
                  <a:cubicBezTo>
                    <a:pt x="717" y="205"/>
                    <a:pt x="754" y="209"/>
                    <a:pt x="790" y="216"/>
                  </a:cubicBezTo>
                  <a:cubicBezTo>
                    <a:pt x="861" y="230"/>
                    <a:pt x="927" y="258"/>
                    <a:pt x="989" y="295"/>
                  </a:cubicBezTo>
                  <a:cubicBezTo>
                    <a:pt x="998" y="301"/>
                    <a:pt x="1002" y="301"/>
                    <a:pt x="1009" y="294"/>
                  </a:cubicBezTo>
                  <a:cubicBezTo>
                    <a:pt x="1029" y="273"/>
                    <a:pt x="1049" y="254"/>
                    <a:pt x="1069" y="234"/>
                  </a:cubicBezTo>
                  <a:cubicBezTo>
                    <a:pt x="1110" y="193"/>
                    <a:pt x="1168" y="193"/>
                    <a:pt x="1210" y="233"/>
                  </a:cubicBezTo>
                  <a:cubicBezTo>
                    <a:pt x="1228" y="251"/>
                    <a:pt x="1247" y="269"/>
                    <a:pt x="1265" y="288"/>
                  </a:cubicBezTo>
                  <a:cubicBezTo>
                    <a:pt x="1303" y="329"/>
                    <a:pt x="1303" y="386"/>
                    <a:pt x="1264" y="427"/>
                  </a:cubicBezTo>
                  <a:cubicBezTo>
                    <a:pt x="1242" y="450"/>
                    <a:pt x="1218" y="473"/>
                    <a:pt x="1195" y="496"/>
                  </a:cubicBezTo>
                  <a:cubicBezTo>
                    <a:pt x="1280" y="633"/>
                    <a:pt x="1312" y="781"/>
                    <a:pt x="1287" y="940"/>
                  </a:cubicBezTo>
                  <a:cubicBezTo>
                    <a:pt x="1263" y="1099"/>
                    <a:pt x="1186" y="1230"/>
                    <a:pt x="1063" y="1334"/>
                  </a:cubicBezTo>
                  <a:cubicBezTo>
                    <a:pt x="1092" y="1371"/>
                    <a:pt x="1120" y="1408"/>
                    <a:pt x="1147" y="1444"/>
                  </a:cubicBezTo>
                  <a:cubicBezTo>
                    <a:pt x="1151" y="1449"/>
                    <a:pt x="1154" y="1453"/>
                    <a:pt x="1157" y="1457"/>
                  </a:cubicBezTo>
                  <a:cubicBezTo>
                    <a:pt x="1164" y="1469"/>
                    <a:pt x="1162" y="1482"/>
                    <a:pt x="1151" y="1489"/>
                  </a:cubicBezTo>
                  <a:cubicBezTo>
                    <a:pt x="1140" y="1497"/>
                    <a:pt x="1129" y="1495"/>
                    <a:pt x="1121" y="1485"/>
                  </a:cubicBezTo>
                  <a:cubicBezTo>
                    <a:pt x="1113" y="1477"/>
                    <a:pt x="1106" y="1467"/>
                    <a:pt x="1099" y="1458"/>
                  </a:cubicBezTo>
                  <a:cubicBezTo>
                    <a:pt x="1075" y="1427"/>
                    <a:pt x="1051" y="1395"/>
                    <a:pt x="1028" y="1364"/>
                  </a:cubicBezTo>
                  <a:cubicBezTo>
                    <a:pt x="780" y="1520"/>
                    <a:pt x="533" y="1520"/>
                    <a:pt x="284" y="1364"/>
                  </a:cubicBezTo>
                  <a:close/>
                  <a:moveTo>
                    <a:pt x="63" y="841"/>
                  </a:moveTo>
                  <a:cubicBezTo>
                    <a:pt x="62" y="1166"/>
                    <a:pt x="328" y="1433"/>
                    <a:pt x="654" y="1434"/>
                  </a:cubicBezTo>
                  <a:cubicBezTo>
                    <a:pt x="981" y="1435"/>
                    <a:pt x="1248" y="1170"/>
                    <a:pt x="1248" y="842"/>
                  </a:cubicBezTo>
                  <a:cubicBezTo>
                    <a:pt x="1249" y="504"/>
                    <a:pt x="970" y="243"/>
                    <a:pt x="645" y="248"/>
                  </a:cubicBezTo>
                  <a:cubicBezTo>
                    <a:pt x="335" y="254"/>
                    <a:pt x="65" y="506"/>
                    <a:pt x="63" y="841"/>
                  </a:cubicBezTo>
                  <a:close/>
                  <a:moveTo>
                    <a:pt x="269" y="326"/>
                  </a:moveTo>
                  <a:cubicBezTo>
                    <a:pt x="249" y="307"/>
                    <a:pt x="228" y="284"/>
                    <a:pt x="206" y="263"/>
                  </a:cubicBezTo>
                  <a:cubicBezTo>
                    <a:pt x="186" y="244"/>
                    <a:pt x="157" y="245"/>
                    <a:pt x="137" y="264"/>
                  </a:cubicBezTo>
                  <a:cubicBezTo>
                    <a:pt x="117" y="283"/>
                    <a:pt x="97" y="303"/>
                    <a:pt x="78" y="322"/>
                  </a:cubicBezTo>
                  <a:cubicBezTo>
                    <a:pt x="62" y="340"/>
                    <a:pt x="58" y="367"/>
                    <a:pt x="73" y="384"/>
                  </a:cubicBezTo>
                  <a:cubicBezTo>
                    <a:pt x="96" y="409"/>
                    <a:pt x="122" y="431"/>
                    <a:pt x="144" y="452"/>
                  </a:cubicBezTo>
                  <a:cubicBezTo>
                    <a:pt x="184" y="411"/>
                    <a:pt x="227" y="369"/>
                    <a:pt x="269" y="326"/>
                  </a:cubicBezTo>
                  <a:close/>
                  <a:moveTo>
                    <a:pt x="1168" y="455"/>
                  </a:moveTo>
                  <a:cubicBezTo>
                    <a:pt x="1190" y="433"/>
                    <a:pt x="1214" y="412"/>
                    <a:pt x="1235" y="389"/>
                  </a:cubicBezTo>
                  <a:cubicBezTo>
                    <a:pt x="1253" y="370"/>
                    <a:pt x="1251" y="342"/>
                    <a:pt x="1233" y="323"/>
                  </a:cubicBezTo>
                  <a:cubicBezTo>
                    <a:pt x="1214" y="302"/>
                    <a:pt x="1194" y="283"/>
                    <a:pt x="1174" y="264"/>
                  </a:cubicBezTo>
                  <a:cubicBezTo>
                    <a:pt x="1154" y="245"/>
                    <a:pt x="1125" y="245"/>
                    <a:pt x="1105" y="264"/>
                  </a:cubicBezTo>
                  <a:cubicBezTo>
                    <a:pt x="1083" y="285"/>
                    <a:pt x="1062" y="307"/>
                    <a:pt x="1041" y="328"/>
                  </a:cubicBezTo>
                  <a:cubicBezTo>
                    <a:pt x="1063" y="348"/>
                    <a:pt x="1086" y="367"/>
                    <a:pt x="1107" y="389"/>
                  </a:cubicBezTo>
                  <a:cubicBezTo>
                    <a:pt x="1128" y="410"/>
                    <a:pt x="1147" y="433"/>
                    <a:pt x="1168" y="455"/>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33" name="Google Shape;233;p27"/>
            <p:cNvSpPr/>
            <p:nvPr/>
          </p:nvSpPr>
          <p:spPr>
            <a:xfrm>
              <a:off x="6748463" y="6958013"/>
              <a:ext cx="514349" cy="514349"/>
            </a:xfrm>
            <a:custGeom>
              <a:rect b="b" l="l" r="r" t="t"/>
              <a:pathLst>
                <a:path extrusionOk="0" h="915" w="914">
                  <a:moveTo>
                    <a:pt x="914" y="458"/>
                  </a:moveTo>
                  <a:cubicBezTo>
                    <a:pt x="912" y="707"/>
                    <a:pt x="717" y="915"/>
                    <a:pt x="457" y="915"/>
                  </a:cubicBezTo>
                  <a:cubicBezTo>
                    <a:pt x="199" y="915"/>
                    <a:pt x="0" y="710"/>
                    <a:pt x="0" y="458"/>
                  </a:cubicBezTo>
                  <a:cubicBezTo>
                    <a:pt x="0" y="204"/>
                    <a:pt x="204" y="2"/>
                    <a:pt x="455" y="1"/>
                  </a:cubicBezTo>
                  <a:cubicBezTo>
                    <a:pt x="700" y="0"/>
                    <a:pt x="911" y="194"/>
                    <a:pt x="914" y="458"/>
                  </a:cubicBezTo>
                  <a:close/>
                  <a:moveTo>
                    <a:pt x="730" y="764"/>
                  </a:moveTo>
                  <a:cubicBezTo>
                    <a:pt x="713" y="747"/>
                    <a:pt x="697" y="731"/>
                    <a:pt x="681" y="716"/>
                  </a:cubicBezTo>
                  <a:cubicBezTo>
                    <a:pt x="672" y="707"/>
                    <a:pt x="669" y="696"/>
                    <a:pt x="675" y="685"/>
                  </a:cubicBezTo>
                  <a:cubicBezTo>
                    <a:pt x="683" y="671"/>
                    <a:pt x="700" y="669"/>
                    <a:pt x="713" y="681"/>
                  </a:cubicBezTo>
                  <a:cubicBezTo>
                    <a:pt x="729" y="698"/>
                    <a:pt x="745" y="715"/>
                    <a:pt x="762" y="732"/>
                  </a:cubicBezTo>
                  <a:cubicBezTo>
                    <a:pt x="825" y="659"/>
                    <a:pt x="860" y="577"/>
                    <a:pt x="866" y="482"/>
                  </a:cubicBezTo>
                  <a:cubicBezTo>
                    <a:pt x="861" y="482"/>
                    <a:pt x="858" y="481"/>
                    <a:pt x="855" y="481"/>
                  </a:cubicBezTo>
                  <a:cubicBezTo>
                    <a:pt x="835" y="481"/>
                    <a:pt x="814" y="482"/>
                    <a:pt x="794" y="481"/>
                  </a:cubicBezTo>
                  <a:cubicBezTo>
                    <a:pt x="780" y="481"/>
                    <a:pt x="771" y="471"/>
                    <a:pt x="771" y="458"/>
                  </a:cubicBezTo>
                  <a:cubicBezTo>
                    <a:pt x="771" y="445"/>
                    <a:pt x="778" y="437"/>
                    <a:pt x="792" y="435"/>
                  </a:cubicBezTo>
                  <a:cubicBezTo>
                    <a:pt x="799" y="434"/>
                    <a:pt x="806" y="435"/>
                    <a:pt x="813" y="435"/>
                  </a:cubicBezTo>
                  <a:cubicBezTo>
                    <a:pt x="830" y="434"/>
                    <a:pt x="847" y="435"/>
                    <a:pt x="866" y="435"/>
                  </a:cubicBezTo>
                  <a:cubicBezTo>
                    <a:pt x="860" y="338"/>
                    <a:pt x="825" y="257"/>
                    <a:pt x="762" y="185"/>
                  </a:cubicBezTo>
                  <a:cubicBezTo>
                    <a:pt x="746" y="202"/>
                    <a:pt x="731" y="217"/>
                    <a:pt x="716" y="232"/>
                  </a:cubicBezTo>
                  <a:cubicBezTo>
                    <a:pt x="703" y="245"/>
                    <a:pt x="689" y="246"/>
                    <a:pt x="679" y="236"/>
                  </a:cubicBezTo>
                  <a:cubicBezTo>
                    <a:pt x="669" y="226"/>
                    <a:pt x="670" y="212"/>
                    <a:pt x="683" y="199"/>
                  </a:cubicBezTo>
                  <a:cubicBezTo>
                    <a:pt x="698" y="184"/>
                    <a:pt x="714" y="169"/>
                    <a:pt x="730" y="154"/>
                  </a:cubicBezTo>
                  <a:cubicBezTo>
                    <a:pt x="679" y="98"/>
                    <a:pt x="538" y="40"/>
                    <a:pt x="480" y="51"/>
                  </a:cubicBezTo>
                  <a:cubicBezTo>
                    <a:pt x="480" y="74"/>
                    <a:pt x="481" y="96"/>
                    <a:pt x="480" y="118"/>
                  </a:cubicBezTo>
                  <a:cubicBezTo>
                    <a:pt x="479" y="126"/>
                    <a:pt x="473" y="137"/>
                    <a:pt x="466" y="141"/>
                  </a:cubicBezTo>
                  <a:cubicBezTo>
                    <a:pt x="461" y="144"/>
                    <a:pt x="448" y="143"/>
                    <a:pt x="443" y="139"/>
                  </a:cubicBezTo>
                  <a:cubicBezTo>
                    <a:pt x="438" y="134"/>
                    <a:pt x="434" y="123"/>
                    <a:pt x="434" y="115"/>
                  </a:cubicBezTo>
                  <a:cubicBezTo>
                    <a:pt x="432" y="94"/>
                    <a:pt x="433" y="72"/>
                    <a:pt x="433" y="48"/>
                  </a:cubicBezTo>
                  <a:cubicBezTo>
                    <a:pt x="337" y="55"/>
                    <a:pt x="255" y="90"/>
                    <a:pt x="184" y="152"/>
                  </a:cubicBezTo>
                  <a:cubicBezTo>
                    <a:pt x="188" y="156"/>
                    <a:pt x="191" y="160"/>
                    <a:pt x="195" y="163"/>
                  </a:cubicBezTo>
                  <a:cubicBezTo>
                    <a:pt x="207" y="176"/>
                    <a:pt x="220" y="189"/>
                    <a:pt x="233" y="202"/>
                  </a:cubicBezTo>
                  <a:cubicBezTo>
                    <a:pt x="244" y="213"/>
                    <a:pt x="244" y="227"/>
                    <a:pt x="234" y="236"/>
                  </a:cubicBezTo>
                  <a:cubicBezTo>
                    <a:pt x="225" y="246"/>
                    <a:pt x="211" y="245"/>
                    <a:pt x="200" y="234"/>
                  </a:cubicBezTo>
                  <a:cubicBezTo>
                    <a:pt x="196" y="230"/>
                    <a:pt x="192" y="226"/>
                    <a:pt x="188" y="223"/>
                  </a:cubicBezTo>
                  <a:cubicBezTo>
                    <a:pt x="176" y="210"/>
                    <a:pt x="164" y="198"/>
                    <a:pt x="151" y="184"/>
                  </a:cubicBezTo>
                  <a:cubicBezTo>
                    <a:pt x="88" y="258"/>
                    <a:pt x="53" y="339"/>
                    <a:pt x="48" y="435"/>
                  </a:cubicBezTo>
                  <a:cubicBezTo>
                    <a:pt x="56" y="435"/>
                    <a:pt x="62" y="435"/>
                    <a:pt x="68" y="435"/>
                  </a:cubicBezTo>
                  <a:cubicBezTo>
                    <a:pt x="85" y="435"/>
                    <a:pt x="103" y="434"/>
                    <a:pt x="120" y="435"/>
                  </a:cubicBezTo>
                  <a:cubicBezTo>
                    <a:pt x="135" y="436"/>
                    <a:pt x="143" y="445"/>
                    <a:pt x="142" y="458"/>
                  </a:cubicBezTo>
                  <a:cubicBezTo>
                    <a:pt x="142" y="471"/>
                    <a:pt x="133" y="480"/>
                    <a:pt x="119" y="481"/>
                  </a:cubicBezTo>
                  <a:cubicBezTo>
                    <a:pt x="114" y="482"/>
                    <a:pt x="108" y="481"/>
                    <a:pt x="102" y="481"/>
                  </a:cubicBezTo>
                  <a:cubicBezTo>
                    <a:pt x="84" y="481"/>
                    <a:pt x="66" y="481"/>
                    <a:pt x="47" y="481"/>
                  </a:cubicBezTo>
                  <a:cubicBezTo>
                    <a:pt x="54" y="578"/>
                    <a:pt x="88" y="660"/>
                    <a:pt x="151" y="732"/>
                  </a:cubicBezTo>
                  <a:cubicBezTo>
                    <a:pt x="168" y="714"/>
                    <a:pt x="184" y="698"/>
                    <a:pt x="200" y="682"/>
                  </a:cubicBezTo>
                  <a:cubicBezTo>
                    <a:pt x="208" y="673"/>
                    <a:pt x="218" y="670"/>
                    <a:pt x="229" y="676"/>
                  </a:cubicBezTo>
                  <a:cubicBezTo>
                    <a:pt x="244" y="684"/>
                    <a:pt x="245" y="702"/>
                    <a:pt x="233" y="715"/>
                  </a:cubicBezTo>
                  <a:cubicBezTo>
                    <a:pt x="217" y="731"/>
                    <a:pt x="201" y="747"/>
                    <a:pt x="184" y="764"/>
                  </a:cubicBezTo>
                  <a:cubicBezTo>
                    <a:pt x="256" y="827"/>
                    <a:pt x="338" y="861"/>
                    <a:pt x="433" y="868"/>
                  </a:cubicBezTo>
                  <a:cubicBezTo>
                    <a:pt x="433" y="861"/>
                    <a:pt x="433" y="856"/>
                    <a:pt x="433" y="850"/>
                  </a:cubicBezTo>
                  <a:cubicBezTo>
                    <a:pt x="433" y="832"/>
                    <a:pt x="433" y="813"/>
                    <a:pt x="434" y="795"/>
                  </a:cubicBezTo>
                  <a:cubicBezTo>
                    <a:pt x="434" y="782"/>
                    <a:pt x="442" y="773"/>
                    <a:pt x="455" y="772"/>
                  </a:cubicBezTo>
                  <a:cubicBezTo>
                    <a:pt x="468" y="772"/>
                    <a:pt x="476" y="778"/>
                    <a:pt x="479" y="791"/>
                  </a:cubicBezTo>
                  <a:cubicBezTo>
                    <a:pt x="480" y="795"/>
                    <a:pt x="480" y="800"/>
                    <a:pt x="480" y="805"/>
                  </a:cubicBezTo>
                  <a:cubicBezTo>
                    <a:pt x="480" y="826"/>
                    <a:pt x="480" y="846"/>
                    <a:pt x="480" y="868"/>
                  </a:cubicBezTo>
                  <a:cubicBezTo>
                    <a:pt x="576" y="861"/>
                    <a:pt x="658" y="827"/>
                    <a:pt x="730" y="764"/>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34" name="Google Shape;234;p27"/>
            <p:cNvSpPr/>
            <p:nvPr/>
          </p:nvSpPr>
          <p:spPr>
            <a:xfrm>
              <a:off x="6992938" y="7107238"/>
              <a:ext cx="123825" cy="166688"/>
            </a:xfrm>
            <a:custGeom>
              <a:rect b="b" l="l" r="r" t="t"/>
              <a:pathLst>
                <a:path extrusionOk="0" h="298" w="223">
                  <a:moveTo>
                    <a:pt x="0" y="107"/>
                  </a:moveTo>
                  <a:cubicBezTo>
                    <a:pt x="0" y="81"/>
                    <a:pt x="0" y="55"/>
                    <a:pt x="0" y="29"/>
                  </a:cubicBezTo>
                  <a:cubicBezTo>
                    <a:pt x="0" y="10"/>
                    <a:pt x="9" y="0"/>
                    <a:pt x="23" y="0"/>
                  </a:cubicBezTo>
                  <a:cubicBezTo>
                    <a:pt x="39" y="0"/>
                    <a:pt x="47" y="10"/>
                    <a:pt x="47" y="29"/>
                  </a:cubicBezTo>
                  <a:cubicBezTo>
                    <a:pt x="47" y="75"/>
                    <a:pt x="48" y="120"/>
                    <a:pt x="47" y="166"/>
                  </a:cubicBezTo>
                  <a:cubicBezTo>
                    <a:pt x="47" y="175"/>
                    <a:pt x="50" y="180"/>
                    <a:pt x="59" y="183"/>
                  </a:cubicBezTo>
                  <a:cubicBezTo>
                    <a:pt x="106" y="204"/>
                    <a:pt x="154" y="225"/>
                    <a:pt x="201" y="246"/>
                  </a:cubicBezTo>
                  <a:cubicBezTo>
                    <a:pt x="213" y="252"/>
                    <a:pt x="223" y="259"/>
                    <a:pt x="220" y="274"/>
                  </a:cubicBezTo>
                  <a:cubicBezTo>
                    <a:pt x="218" y="291"/>
                    <a:pt x="202" y="298"/>
                    <a:pt x="184" y="290"/>
                  </a:cubicBezTo>
                  <a:cubicBezTo>
                    <a:pt x="141" y="271"/>
                    <a:pt x="98" y="251"/>
                    <a:pt x="55" y="232"/>
                  </a:cubicBezTo>
                  <a:cubicBezTo>
                    <a:pt x="42" y="227"/>
                    <a:pt x="30" y="221"/>
                    <a:pt x="18" y="216"/>
                  </a:cubicBezTo>
                  <a:cubicBezTo>
                    <a:pt x="6" y="211"/>
                    <a:pt x="0" y="202"/>
                    <a:pt x="0" y="189"/>
                  </a:cubicBezTo>
                  <a:cubicBezTo>
                    <a:pt x="0" y="162"/>
                    <a:pt x="0" y="134"/>
                    <a:pt x="0" y="107"/>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grpSp>
      <p:grpSp>
        <p:nvGrpSpPr>
          <p:cNvPr id="235" name="Google Shape;235;p27"/>
          <p:cNvGrpSpPr/>
          <p:nvPr/>
        </p:nvGrpSpPr>
        <p:grpSpPr>
          <a:xfrm>
            <a:off x="7098800" y="1941750"/>
            <a:ext cx="462588" cy="462588"/>
            <a:chOff x="7696200" y="6742113"/>
            <a:chExt cx="863601" cy="863601"/>
          </a:xfrm>
        </p:grpSpPr>
        <p:sp>
          <p:nvSpPr>
            <p:cNvPr id="236" name="Google Shape;236;p27"/>
            <p:cNvSpPr/>
            <p:nvPr/>
          </p:nvSpPr>
          <p:spPr>
            <a:xfrm>
              <a:off x="7859713" y="6905626"/>
              <a:ext cx="700088" cy="700088"/>
            </a:xfrm>
            <a:custGeom>
              <a:rect b="b" l="l" r="r" t="t"/>
              <a:pathLst>
                <a:path extrusionOk="0" h="1245" w="1245">
                  <a:moveTo>
                    <a:pt x="66" y="1245"/>
                  </a:moveTo>
                  <a:cubicBezTo>
                    <a:pt x="63" y="1244"/>
                    <a:pt x="59" y="1242"/>
                    <a:pt x="56" y="1241"/>
                  </a:cubicBezTo>
                  <a:cubicBezTo>
                    <a:pt x="22" y="1228"/>
                    <a:pt x="0" y="1199"/>
                    <a:pt x="0" y="1163"/>
                  </a:cubicBezTo>
                  <a:cubicBezTo>
                    <a:pt x="0" y="984"/>
                    <a:pt x="0" y="806"/>
                    <a:pt x="0" y="627"/>
                  </a:cubicBezTo>
                  <a:cubicBezTo>
                    <a:pt x="0" y="608"/>
                    <a:pt x="9" y="600"/>
                    <a:pt x="28" y="600"/>
                  </a:cubicBezTo>
                  <a:cubicBezTo>
                    <a:pt x="88" y="600"/>
                    <a:pt x="148" y="600"/>
                    <a:pt x="210" y="600"/>
                  </a:cubicBezTo>
                  <a:cubicBezTo>
                    <a:pt x="210" y="576"/>
                    <a:pt x="209" y="553"/>
                    <a:pt x="210" y="530"/>
                  </a:cubicBezTo>
                  <a:cubicBezTo>
                    <a:pt x="212" y="485"/>
                    <a:pt x="234" y="452"/>
                    <a:pt x="274" y="432"/>
                  </a:cubicBezTo>
                  <a:cubicBezTo>
                    <a:pt x="347" y="396"/>
                    <a:pt x="433" y="448"/>
                    <a:pt x="435" y="530"/>
                  </a:cubicBezTo>
                  <a:cubicBezTo>
                    <a:pt x="436" y="553"/>
                    <a:pt x="435" y="576"/>
                    <a:pt x="435" y="599"/>
                  </a:cubicBezTo>
                  <a:cubicBezTo>
                    <a:pt x="490" y="599"/>
                    <a:pt x="544" y="599"/>
                    <a:pt x="600" y="599"/>
                  </a:cubicBezTo>
                  <a:cubicBezTo>
                    <a:pt x="600" y="594"/>
                    <a:pt x="600" y="589"/>
                    <a:pt x="600" y="584"/>
                  </a:cubicBezTo>
                  <a:cubicBezTo>
                    <a:pt x="600" y="529"/>
                    <a:pt x="600" y="475"/>
                    <a:pt x="600" y="421"/>
                  </a:cubicBezTo>
                  <a:cubicBezTo>
                    <a:pt x="600" y="397"/>
                    <a:pt x="607" y="390"/>
                    <a:pt x="631" y="390"/>
                  </a:cubicBezTo>
                  <a:cubicBezTo>
                    <a:pt x="657" y="390"/>
                    <a:pt x="684" y="391"/>
                    <a:pt x="710" y="390"/>
                  </a:cubicBezTo>
                  <a:cubicBezTo>
                    <a:pt x="750" y="390"/>
                    <a:pt x="780" y="361"/>
                    <a:pt x="780" y="323"/>
                  </a:cubicBezTo>
                  <a:cubicBezTo>
                    <a:pt x="780" y="286"/>
                    <a:pt x="750" y="256"/>
                    <a:pt x="711" y="255"/>
                  </a:cubicBezTo>
                  <a:cubicBezTo>
                    <a:pt x="684" y="255"/>
                    <a:pt x="657" y="255"/>
                    <a:pt x="630" y="255"/>
                  </a:cubicBezTo>
                  <a:cubicBezTo>
                    <a:pt x="608" y="255"/>
                    <a:pt x="600" y="248"/>
                    <a:pt x="600" y="227"/>
                  </a:cubicBezTo>
                  <a:cubicBezTo>
                    <a:pt x="600" y="161"/>
                    <a:pt x="600" y="95"/>
                    <a:pt x="600" y="29"/>
                  </a:cubicBezTo>
                  <a:cubicBezTo>
                    <a:pt x="600" y="8"/>
                    <a:pt x="608" y="0"/>
                    <a:pt x="629" y="0"/>
                  </a:cubicBezTo>
                  <a:cubicBezTo>
                    <a:pt x="806" y="0"/>
                    <a:pt x="982" y="0"/>
                    <a:pt x="1159" y="0"/>
                  </a:cubicBezTo>
                  <a:cubicBezTo>
                    <a:pt x="1210" y="0"/>
                    <a:pt x="1245" y="35"/>
                    <a:pt x="1245" y="86"/>
                  </a:cubicBezTo>
                  <a:cubicBezTo>
                    <a:pt x="1245" y="444"/>
                    <a:pt x="1245" y="802"/>
                    <a:pt x="1245" y="1160"/>
                  </a:cubicBezTo>
                  <a:cubicBezTo>
                    <a:pt x="1245" y="1200"/>
                    <a:pt x="1223" y="1229"/>
                    <a:pt x="1185" y="1242"/>
                  </a:cubicBezTo>
                  <a:cubicBezTo>
                    <a:pt x="1183" y="1243"/>
                    <a:pt x="1181" y="1244"/>
                    <a:pt x="1179" y="1245"/>
                  </a:cubicBezTo>
                  <a:cubicBezTo>
                    <a:pt x="808" y="1245"/>
                    <a:pt x="437" y="1245"/>
                    <a:pt x="66" y="1245"/>
                  </a:cubicBezTo>
                  <a:close/>
                  <a:moveTo>
                    <a:pt x="45" y="645"/>
                  </a:moveTo>
                  <a:cubicBezTo>
                    <a:pt x="45" y="652"/>
                    <a:pt x="45" y="657"/>
                    <a:pt x="45" y="662"/>
                  </a:cubicBezTo>
                  <a:cubicBezTo>
                    <a:pt x="45" y="825"/>
                    <a:pt x="45" y="989"/>
                    <a:pt x="45" y="1153"/>
                  </a:cubicBezTo>
                  <a:cubicBezTo>
                    <a:pt x="45" y="1187"/>
                    <a:pt x="59" y="1200"/>
                    <a:pt x="93" y="1200"/>
                  </a:cubicBezTo>
                  <a:cubicBezTo>
                    <a:pt x="256" y="1200"/>
                    <a:pt x="420" y="1200"/>
                    <a:pt x="584" y="1200"/>
                  </a:cubicBezTo>
                  <a:cubicBezTo>
                    <a:pt x="589" y="1200"/>
                    <a:pt x="594" y="1200"/>
                    <a:pt x="599" y="1200"/>
                  </a:cubicBezTo>
                  <a:cubicBezTo>
                    <a:pt x="599" y="1145"/>
                    <a:pt x="599" y="1090"/>
                    <a:pt x="599" y="1035"/>
                  </a:cubicBezTo>
                  <a:cubicBezTo>
                    <a:pt x="575" y="1035"/>
                    <a:pt x="552" y="1036"/>
                    <a:pt x="530" y="1035"/>
                  </a:cubicBezTo>
                  <a:cubicBezTo>
                    <a:pt x="483" y="1034"/>
                    <a:pt x="442" y="1004"/>
                    <a:pt x="427" y="961"/>
                  </a:cubicBezTo>
                  <a:cubicBezTo>
                    <a:pt x="411" y="918"/>
                    <a:pt x="423" y="870"/>
                    <a:pt x="458" y="839"/>
                  </a:cubicBezTo>
                  <a:cubicBezTo>
                    <a:pt x="479" y="820"/>
                    <a:pt x="504" y="811"/>
                    <a:pt x="533" y="810"/>
                  </a:cubicBezTo>
                  <a:cubicBezTo>
                    <a:pt x="555" y="810"/>
                    <a:pt x="578" y="810"/>
                    <a:pt x="599" y="810"/>
                  </a:cubicBezTo>
                  <a:cubicBezTo>
                    <a:pt x="599" y="754"/>
                    <a:pt x="599" y="700"/>
                    <a:pt x="599" y="645"/>
                  </a:cubicBezTo>
                  <a:cubicBezTo>
                    <a:pt x="593" y="645"/>
                    <a:pt x="588" y="645"/>
                    <a:pt x="582" y="645"/>
                  </a:cubicBezTo>
                  <a:cubicBezTo>
                    <a:pt x="528" y="645"/>
                    <a:pt x="474" y="645"/>
                    <a:pt x="420" y="645"/>
                  </a:cubicBezTo>
                  <a:cubicBezTo>
                    <a:pt x="397" y="645"/>
                    <a:pt x="390" y="638"/>
                    <a:pt x="390" y="615"/>
                  </a:cubicBezTo>
                  <a:cubicBezTo>
                    <a:pt x="390" y="588"/>
                    <a:pt x="390" y="561"/>
                    <a:pt x="390" y="534"/>
                  </a:cubicBezTo>
                  <a:cubicBezTo>
                    <a:pt x="390" y="495"/>
                    <a:pt x="360" y="466"/>
                    <a:pt x="323" y="465"/>
                  </a:cubicBezTo>
                  <a:cubicBezTo>
                    <a:pt x="285" y="465"/>
                    <a:pt x="256" y="495"/>
                    <a:pt x="255" y="534"/>
                  </a:cubicBezTo>
                  <a:cubicBezTo>
                    <a:pt x="255" y="558"/>
                    <a:pt x="255" y="582"/>
                    <a:pt x="255" y="606"/>
                  </a:cubicBezTo>
                  <a:cubicBezTo>
                    <a:pt x="255" y="641"/>
                    <a:pt x="251" y="645"/>
                    <a:pt x="217" y="645"/>
                  </a:cubicBezTo>
                  <a:cubicBezTo>
                    <a:pt x="160" y="645"/>
                    <a:pt x="104" y="645"/>
                    <a:pt x="45" y="645"/>
                  </a:cubicBezTo>
                  <a:close/>
                  <a:moveTo>
                    <a:pt x="645" y="1200"/>
                  </a:moveTo>
                  <a:cubicBezTo>
                    <a:pt x="652" y="1200"/>
                    <a:pt x="657" y="1200"/>
                    <a:pt x="662" y="1200"/>
                  </a:cubicBezTo>
                  <a:cubicBezTo>
                    <a:pt x="825" y="1200"/>
                    <a:pt x="989" y="1200"/>
                    <a:pt x="1152" y="1200"/>
                  </a:cubicBezTo>
                  <a:cubicBezTo>
                    <a:pt x="1187" y="1200"/>
                    <a:pt x="1200" y="1187"/>
                    <a:pt x="1200" y="1152"/>
                  </a:cubicBezTo>
                  <a:cubicBezTo>
                    <a:pt x="1200" y="989"/>
                    <a:pt x="1200" y="826"/>
                    <a:pt x="1200" y="662"/>
                  </a:cubicBezTo>
                  <a:cubicBezTo>
                    <a:pt x="1200" y="657"/>
                    <a:pt x="1200" y="652"/>
                    <a:pt x="1200" y="646"/>
                  </a:cubicBezTo>
                  <a:cubicBezTo>
                    <a:pt x="1144" y="646"/>
                    <a:pt x="1090" y="646"/>
                    <a:pt x="1035" y="646"/>
                  </a:cubicBezTo>
                  <a:cubicBezTo>
                    <a:pt x="1035" y="670"/>
                    <a:pt x="1035" y="692"/>
                    <a:pt x="1035" y="715"/>
                  </a:cubicBezTo>
                  <a:cubicBezTo>
                    <a:pt x="1034" y="748"/>
                    <a:pt x="1021" y="776"/>
                    <a:pt x="996" y="798"/>
                  </a:cubicBezTo>
                  <a:cubicBezTo>
                    <a:pt x="960" y="828"/>
                    <a:pt x="920" y="834"/>
                    <a:pt x="877" y="815"/>
                  </a:cubicBezTo>
                  <a:cubicBezTo>
                    <a:pt x="835" y="796"/>
                    <a:pt x="812" y="762"/>
                    <a:pt x="810" y="715"/>
                  </a:cubicBezTo>
                  <a:cubicBezTo>
                    <a:pt x="809" y="692"/>
                    <a:pt x="810" y="669"/>
                    <a:pt x="810" y="646"/>
                  </a:cubicBezTo>
                  <a:cubicBezTo>
                    <a:pt x="754" y="646"/>
                    <a:pt x="700" y="646"/>
                    <a:pt x="645" y="646"/>
                  </a:cubicBezTo>
                  <a:cubicBezTo>
                    <a:pt x="645" y="707"/>
                    <a:pt x="645" y="767"/>
                    <a:pt x="645" y="827"/>
                  </a:cubicBezTo>
                  <a:cubicBezTo>
                    <a:pt x="645" y="847"/>
                    <a:pt x="637" y="855"/>
                    <a:pt x="617" y="855"/>
                  </a:cubicBezTo>
                  <a:cubicBezTo>
                    <a:pt x="590" y="855"/>
                    <a:pt x="562" y="855"/>
                    <a:pt x="535" y="855"/>
                  </a:cubicBezTo>
                  <a:cubicBezTo>
                    <a:pt x="495" y="856"/>
                    <a:pt x="465" y="885"/>
                    <a:pt x="465" y="923"/>
                  </a:cubicBezTo>
                  <a:cubicBezTo>
                    <a:pt x="465" y="961"/>
                    <a:pt x="495" y="990"/>
                    <a:pt x="535" y="990"/>
                  </a:cubicBezTo>
                  <a:cubicBezTo>
                    <a:pt x="561" y="990"/>
                    <a:pt x="587" y="990"/>
                    <a:pt x="613" y="990"/>
                  </a:cubicBezTo>
                  <a:cubicBezTo>
                    <a:pt x="639" y="990"/>
                    <a:pt x="645" y="997"/>
                    <a:pt x="645" y="1023"/>
                  </a:cubicBezTo>
                  <a:cubicBezTo>
                    <a:pt x="645" y="1081"/>
                    <a:pt x="645" y="1140"/>
                    <a:pt x="645" y="1200"/>
                  </a:cubicBezTo>
                  <a:close/>
                  <a:moveTo>
                    <a:pt x="646" y="210"/>
                  </a:moveTo>
                  <a:cubicBezTo>
                    <a:pt x="667" y="210"/>
                    <a:pt x="687" y="210"/>
                    <a:pt x="708" y="210"/>
                  </a:cubicBezTo>
                  <a:cubicBezTo>
                    <a:pt x="774" y="211"/>
                    <a:pt x="825" y="260"/>
                    <a:pt x="825" y="323"/>
                  </a:cubicBezTo>
                  <a:cubicBezTo>
                    <a:pt x="825" y="387"/>
                    <a:pt x="775" y="435"/>
                    <a:pt x="708" y="435"/>
                  </a:cubicBezTo>
                  <a:cubicBezTo>
                    <a:pt x="687" y="435"/>
                    <a:pt x="667" y="435"/>
                    <a:pt x="646" y="435"/>
                  </a:cubicBezTo>
                  <a:cubicBezTo>
                    <a:pt x="646" y="491"/>
                    <a:pt x="646" y="545"/>
                    <a:pt x="646" y="600"/>
                  </a:cubicBezTo>
                  <a:cubicBezTo>
                    <a:pt x="652" y="600"/>
                    <a:pt x="658" y="600"/>
                    <a:pt x="663" y="600"/>
                  </a:cubicBezTo>
                  <a:cubicBezTo>
                    <a:pt x="718" y="600"/>
                    <a:pt x="772" y="600"/>
                    <a:pt x="827" y="600"/>
                  </a:cubicBezTo>
                  <a:cubicBezTo>
                    <a:pt x="847" y="600"/>
                    <a:pt x="855" y="608"/>
                    <a:pt x="855" y="628"/>
                  </a:cubicBezTo>
                  <a:cubicBezTo>
                    <a:pt x="855" y="656"/>
                    <a:pt x="855" y="683"/>
                    <a:pt x="855" y="711"/>
                  </a:cubicBezTo>
                  <a:cubicBezTo>
                    <a:pt x="856" y="750"/>
                    <a:pt x="885" y="780"/>
                    <a:pt x="923" y="780"/>
                  </a:cubicBezTo>
                  <a:cubicBezTo>
                    <a:pt x="960" y="780"/>
                    <a:pt x="990" y="750"/>
                    <a:pt x="990" y="711"/>
                  </a:cubicBezTo>
                  <a:cubicBezTo>
                    <a:pt x="990" y="684"/>
                    <a:pt x="990" y="657"/>
                    <a:pt x="990" y="630"/>
                  </a:cubicBezTo>
                  <a:cubicBezTo>
                    <a:pt x="990" y="608"/>
                    <a:pt x="998" y="600"/>
                    <a:pt x="1020" y="600"/>
                  </a:cubicBezTo>
                  <a:cubicBezTo>
                    <a:pt x="1074" y="600"/>
                    <a:pt x="1129" y="600"/>
                    <a:pt x="1183" y="600"/>
                  </a:cubicBezTo>
                  <a:cubicBezTo>
                    <a:pt x="1189" y="600"/>
                    <a:pt x="1194" y="600"/>
                    <a:pt x="1200" y="600"/>
                  </a:cubicBezTo>
                  <a:cubicBezTo>
                    <a:pt x="1200" y="594"/>
                    <a:pt x="1200" y="589"/>
                    <a:pt x="1200" y="585"/>
                  </a:cubicBezTo>
                  <a:cubicBezTo>
                    <a:pt x="1200" y="421"/>
                    <a:pt x="1200" y="256"/>
                    <a:pt x="1200" y="92"/>
                  </a:cubicBezTo>
                  <a:cubicBezTo>
                    <a:pt x="1200" y="59"/>
                    <a:pt x="1186" y="45"/>
                    <a:pt x="1154" y="45"/>
                  </a:cubicBezTo>
                  <a:cubicBezTo>
                    <a:pt x="990" y="45"/>
                    <a:pt x="826" y="45"/>
                    <a:pt x="662" y="45"/>
                  </a:cubicBezTo>
                  <a:cubicBezTo>
                    <a:pt x="656" y="45"/>
                    <a:pt x="651" y="45"/>
                    <a:pt x="646" y="45"/>
                  </a:cubicBezTo>
                  <a:cubicBezTo>
                    <a:pt x="646" y="101"/>
                    <a:pt x="646" y="155"/>
                    <a:pt x="646" y="210"/>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37" name="Google Shape;237;p27"/>
            <p:cNvSpPr/>
            <p:nvPr/>
          </p:nvSpPr>
          <p:spPr>
            <a:xfrm>
              <a:off x="7696200" y="6742113"/>
              <a:ext cx="463549" cy="363538"/>
            </a:xfrm>
            <a:custGeom>
              <a:rect b="b" l="l" r="r" t="t"/>
              <a:pathLst>
                <a:path extrusionOk="0" h="646" w="826">
                  <a:moveTo>
                    <a:pt x="630" y="0"/>
                  </a:moveTo>
                  <a:cubicBezTo>
                    <a:pt x="642" y="8"/>
                    <a:pt x="646" y="18"/>
                    <a:pt x="645" y="32"/>
                  </a:cubicBezTo>
                  <a:cubicBezTo>
                    <a:pt x="645" y="85"/>
                    <a:pt x="645" y="139"/>
                    <a:pt x="645" y="192"/>
                  </a:cubicBezTo>
                  <a:cubicBezTo>
                    <a:pt x="645" y="198"/>
                    <a:pt x="645" y="203"/>
                    <a:pt x="645" y="210"/>
                  </a:cubicBezTo>
                  <a:cubicBezTo>
                    <a:pt x="669" y="210"/>
                    <a:pt x="692" y="210"/>
                    <a:pt x="715" y="211"/>
                  </a:cubicBezTo>
                  <a:cubicBezTo>
                    <a:pt x="776" y="212"/>
                    <a:pt x="826" y="264"/>
                    <a:pt x="825" y="324"/>
                  </a:cubicBezTo>
                  <a:cubicBezTo>
                    <a:pt x="824" y="384"/>
                    <a:pt x="777" y="433"/>
                    <a:pt x="717" y="435"/>
                  </a:cubicBezTo>
                  <a:cubicBezTo>
                    <a:pt x="694" y="436"/>
                    <a:pt x="670" y="435"/>
                    <a:pt x="645" y="435"/>
                  </a:cubicBezTo>
                  <a:cubicBezTo>
                    <a:pt x="645" y="442"/>
                    <a:pt x="645" y="447"/>
                    <a:pt x="645" y="453"/>
                  </a:cubicBezTo>
                  <a:cubicBezTo>
                    <a:pt x="645" y="507"/>
                    <a:pt x="645" y="562"/>
                    <a:pt x="645" y="616"/>
                  </a:cubicBezTo>
                  <a:cubicBezTo>
                    <a:pt x="645" y="637"/>
                    <a:pt x="638" y="645"/>
                    <a:pt x="617" y="645"/>
                  </a:cubicBezTo>
                  <a:cubicBezTo>
                    <a:pt x="551" y="645"/>
                    <a:pt x="485" y="645"/>
                    <a:pt x="419" y="645"/>
                  </a:cubicBezTo>
                  <a:cubicBezTo>
                    <a:pt x="398" y="645"/>
                    <a:pt x="390" y="637"/>
                    <a:pt x="390" y="617"/>
                  </a:cubicBezTo>
                  <a:cubicBezTo>
                    <a:pt x="390" y="590"/>
                    <a:pt x="390" y="562"/>
                    <a:pt x="390" y="535"/>
                  </a:cubicBezTo>
                  <a:cubicBezTo>
                    <a:pt x="390" y="495"/>
                    <a:pt x="361" y="465"/>
                    <a:pt x="323" y="465"/>
                  </a:cubicBezTo>
                  <a:cubicBezTo>
                    <a:pt x="285" y="465"/>
                    <a:pt x="256" y="495"/>
                    <a:pt x="255" y="535"/>
                  </a:cubicBezTo>
                  <a:cubicBezTo>
                    <a:pt x="255" y="562"/>
                    <a:pt x="255" y="590"/>
                    <a:pt x="255" y="617"/>
                  </a:cubicBezTo>
                  <a:cubicBezTo>
                    <a:pt x="255" y="637"/>
                    <a:pt x="247" y="645"/>
                    <a:pt x="227" y="645"/>
                  </a:cubicBezTo>
                  <a:cubicBezTo>
                    <a:pt x="161" y="645"/>
                    <a:pt x="96" y="645"/>
                    <a:pt x="30" y="646"/>
                  </a:cubicBezTo>
                  <a:cubicBezTo>
                    <a:pt x="17" y="646"/>
                    <a:pt x="7" y="641"/>
                    <a:pt x="0" y="630"/>
                  </a:cubicBezTo>
                  <a:cubicBezTo>
                    <a:pt x="0" y="442"/>
                    <a:pt x="0" y="254"/>
                    <a:pt x="0" y="66"/>
                  </a:cubicBezTo>
                  <a:cubicBezTo>
                    <a:pt x="11" y="33"/>
                    <a:pt x="33" y="11"/>
                    <a:pt x="66" y="0"/>
                  </a:cubicBezTo>
                  <a:cubicBezTo>
                    <a:pt x="254" y="0"/>
                    <a:pt x="442" y="0"/>
                    <a:pt x="630" y="0"/>
                  </a:cubicBezTo>
                  <a:close/>
                  <a:moveTo>
                    <a:pt x="600" y="45"/>
                  </a:moveTo>
                  <a:cubicBezTo>
                    <a:pt x="594" y="45"/>
                    <a:pt x="589" y="45"/>
                    <a:pt x="584" y="45"/>
                  </a:cubicBezTo>
                  <a:cubicBezTo>
                    <a:pt x="420" y="45"/>
                    <a:pt x="257" y="45"/>
                    <a:pt x="93" y="45"/>
                  </a:cubicBezTo>
                  <a:cubicBezTo>
                    <a:pt x="58" y="45"/>
                    <a:pt x="45" y="59"/>
                    <a:pt x="45" y="93"/>
                  </a:cubicBezTo>
                  <a:cubicBezTo>
                    <a:pt x="45" y="257"/>
                    <a:pt x="45" y="420"/>
                    <a:pt x="45" y="584"/>
                  </a:cubicBezTo>
                  <a:cubicBezTo>
                    <a:pt x="45" y="589"/>
                    <a:pt x="45" y="594"/>
                    <a:pt x="45" y="600"/>
                  </a:cubicBezTo>
                  <a:cubicBezTo>
                    <a:pt x="74" y="600"/>
                    <a:pt x="101" y="600"/>
                    <a:pt x="128" y="600"/>
                  </a:cubicBezTo>
                  <a:cubicBezTo>
                    <a:pt x="155" y="600"/>
                    <a:pt x="183" y="600"/>
                    <a:pt x="210" y="600"/>
                  </a:cubicBezTo>
                  <a:cubicBezTo>
                    <a:pt x="210" y="575"/>
                    <a:pt x="210" y="552"/>
                    <a:pt x="210" y="529"/>
                  </a:cubicBezTo>
                  <a:cubicBezTo>
                    <a:pt x="212" y="470"/>
                    <a:pt x="261" y="421"/>
                    <a:pt x="321" y="420"/>
                  </a:cubicBezTo>
                  <a:cubicBezTo>
                    <a:pt x="383" y="420"/>
                    <a:pt x="434" y="469"/>
                    <a:pt x="435" y="531"/>
                  </a:cubicBezTo>
                  <a:cubicBezTo>
                    <a:pt x="436" y="554"/>
                    <a:pt x="435" y="577"/>
                    <a:pt x="435" y="599"/>
                  </a:cubicBezTo>
                  <a:cubicBezTo>
                    <a:pt x="491" y="599"/>
                    <a:pt x="546" y="599"/>
                    <a:pt x="600" y="599"/>
                  </a:cubicBezTo>
                  <a:cubicBezTo>
                    <a:pt x="600" y="538"/>
                    <a:pt x="600" y="479"/>
                    <a:pt x="600" y="420"/>
                  </a:cubicBezTo>
                  <a:cubicBezTo>
                    <a:pt x="600" y="398"/>
                    <a:pt x="608" y="390"/>
                    <a:pt x="629" y="390"/>
                  </a:cubicBezTo>
                  <a:cubicBezTo>
                    <a:pt x="656" y="390"/>
                    <a:pt x="683" y="391"/>
                    <a:pt x="710" y="390"/>
                  </a:cubicBezTo>
                  <a:cubicBezTo>
                    <a:pt x="750" y="390"/>
                    <a:pt x="780" y="361"/>
                    <a:pt x="780" y="324"/>
                  </a:cubicBezTo>
                  <a:cubicBezTo>
                    <a:pt x="781" y="286"/>
                    <a:pt x="750" y="256"/>
                    <a:pt x="710" y="255"/>
                  </a:cubicBezTo>
                  <a:cubicBezTo>
                    <a:pt x="684" y="255"/>
                    <a:pt x="659" y="255"/>
                    <a:pt x="633" y="255"/>
                  </a:cubicBezTo>
                  <a:cubicBezTo>
                    <a:pt x="607" y="255"/>
                    <a:pt x="600" y="249"/>
                    <a:pt x="600" y="223"/>
                  </a:cubicBezTo>
                  <a:cubicBezTo>
                    <a:pt x="600" y="164"/>
                    <a:pt x="600" y="106"/>
                    <a:pt x="600" y="45"/>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grpSp>
      <p:grpSp>
        <p:nvGrpSpPr>
          <p:cNvPr id="238" name="Google Shape;238;p27"/>
          <p:cNvGrpSpPr/>
          <p:nvPr/>
        </p:nvGrpSpPr>
        <p:grpSpPr>
          <a:xfrm>
            <a:off x="7177391" y="2826018"/>
            <a:ext cx="462588" cy="340138"/>
            <a:chOff x="8745538" y="6856413"/>
            <a:chExt cx="863601" cy="635000"/>
          </a:xfrm>
        </p:grpSpPr>
        <p:sp>
          <p:nvSpPr>
            <p:cNvPr id="239" name="Google Shape;239;p27"/>
            <p:cNvSpPr/>
            <p:nvPr/>
          </p:nvSpPr>
          <p:spPr>
            <a:xfrm>
              <a:off x="8745538" y="6856413"/>
              <a:ext cx="863601" cy="635000"/>
            </a:xfrm>
            <a:custGeom>
              <a:rect b="b" l="l" r="r" t="t"/>
              <a:pathLst>
                <a:path extrusionOk="0" h="1131" w="1536">
                  <a:moveTo>
                    <a:pt x="0" y="211"/>
                  </a:moveTo>
                  <a:cubicBezTo>
                    <a:pt x="16" y="151"/>
                    <a:pt x="59" y="118"/>
                    <a:pt x="110" y="91"/>
                  </a:cubicBezTo>
                  <a:cubicBezTo>
                    <a:pt x="179" y="54"/>
                    <a:pt x="254" y="35"/>
                    <a:pt x="331" y="23"/>
                  </a:cubicBezTo>
                  <a:cubicBezTo>
                    <a:pt x="475" y="0"/>
                    <a:pt x="619" y="2"/>
                    <a:pt x="763" y="31"/>
                  </a:cubicBezTo>
                  <a:cubicBezTo>
                    <a:pt x="828" y="44"/>
                    <a:pt x="892" y="63"/>
                    <a:pt x="950" y="97"/>
                  </a:cubicBezTo>
                  <a:cubicBezTo>
                    <a:pt x="968" y="107"/>
                    <a:pt x="985" y="120"/>
                    <a:pt x="1001" y="133"/>
                  </a:cubicBezTo>
                  <a:cubicBezTo>
                    <a:pt x="1034" y="162"/>
                    <a:pt x="1050" y="197"/>
                    <a:pt x="1049" y="242"/>
                  </a:cubicBezTo>
                  <a:cubicBezTo>
                    <a:pt x="1047" y="318"/>
                    <a:pt x="1049" y="395"/>
                    <a:pt x="1048" y="471"/>
                  </a:cubicBezTo>
                  <a:cubicBezTo>
                    <a:pt x="1048" y="481"/>
                    <a:pt x="1051" y="486"/>
                    <a:pt x="1061" y="489"/>
                  </a:cubicBezTo>
                  <a:cubicBezTo>
                    <a:pt x="1186" y="530"/>
                    <a:pt x="1302" y="587"/>
                    <a:pt x="1404" y="672"/>
                  </a:cubicBezTo>
                  <a:cubicBezTo>
                    <a:pt x="1408" y="674"/>
                    <a:pt x="1415" y="675"/>
                    <a:pt x="1420" y="674"/>
                  </a:cubicBezTo>
                  <a:cubicBezTo>
                    <a:pt x="1437" y="668"/>
                    <a:pt x="1452" y="671"/>
                    <a:pt x="1466" y="682"/>
                  </a:cubicBezTo>
                  <a:cubicBezTo>
                    <a:pt x="1482" y="696"/>
                    <a:pt x="1498" y="710"/>
                    <a:pt x="1514" y="725"/>
                  </a:cubicBezTo>
                  <a:cubicBezTo>
                    <a:pt x="1529" y="739"/>
                    <a:pt x="1536" y="756"/>
                    <a:pt x="1536" y="776"/>
                  </a:cubicBezTo>
                  <a:cubicBezTo>
                    <a:pt x="1536" y="803"/>
                    <a:pt x="1536" y="830"/>
                    <a:pt x="1536" y="857"/>
                  </a:cubicBezTo>
                  <a:cubicBezTo>
                    <a:pt x="1536" y="873"/>
                    <a:pt x="1528" y="883"/>
                    <a:pt x="1514" y="883"/>
                  </a:cubicBezTo>
                  <a:cubicBezTo>
                    <a:pt x="1500" y="884"/>
                    <a:pt x="1491" y="874"/>
                    <a:pt x="1491" y="856"/>
                  </a:cubicBezTo>
                  <a:cubicBezTo>
                    <a:pt x="1491" y="831"/>
                    <a:pt x="1492" y="805"/>
                    <a:pt x="1491" y="780"/>
                  </a:cubicBezTo>
                  <a:cubicBezTo>
                    <a:pt x="1490" y="771"/>
                    <a:pt x="1486" y="762"/>
                    <a:pt x="1480" y="755"/>
                  </a:cubicBezTo>
                  <a:cubicBezTo>
                    <a:pt x="1468" y="742"/>
                    <a:pt x="1453" y="730"/>
                    <a:pt x="1437" y="716"/>
                  </a:cubicBezTo>
                  <a:cubicBezTo>
                    <a:pt x="1436" y="724"/>
                    <a:pt x="1436" y="729"/>
                    <a:pt x="1436" y="735"/>
                  </a:cubicBezTo>
                  <a:cubicBezTo>
                    <a:pt x="1436" y="828"/>
                    <a:pt x="1436" y="921"/>
                    <a:pt x="1436" y="1014"/>
                  </a:cubicBezTo>
                  <a:cubicBezTo>
                    <a:pt x="1435" y="1030"/>
                    <a:pt x="1440" y="1042"/>
                    <a:pt x="1454" y="1052"/>
                  </a:cubicBezTo>
                  <a:cubicBezTo>
                    <a:pt x="1466" y="1060"/>
                    <a:pt x="1477" y="1070"/>
                    <a:pt x="1490" y="1081"/>
                  </a:cubicBezTo>
                  <a:cubicBezTo>
                    <a:pt x="1491" y="1075"/>
                    <a:pt x="1491" y="1071"/>
                    <a:pt x="1491" y="1067"/>
                  </a:cubicBezTo>
                  <a:cubicBezTo>
                    <a:pt x="1491" y="1034"/>
                    <a:pt x="1491" y="1002"/>
                    <a:pt x="1491" y="969"/>
                  </a:cubicBezTo>
                  <a:cubicBezTo>
                    <a:pt x="1491" y="954"/>
                    <a:pt x="1500" y="944"/>
                    <a:pt x="1513" y="944"/>
                  </a:cubicBezTo>
                  <a:cubicBezTo>
                    <a:pt x="1527" y="944"/>
                    <a:pt x="1536" y="954"/>
                    <a:pt x="1536" y="970"/>
                  </a:cubicBezTo>
                  <a:cubicBezTo>
                    <a:pt x="1536" y="1007"/>
                    <a:pt x="1536" y="1044"/>
                    <a:pt x="1536" y="1081"/>
                  </a:cubicBezTo>
                  <a:cubicBezTo>
                    <a:pt x="1536" y="1100"/>
                    <a:pt x="1528" y="1114"/>
                    <a:pt x="1510" y="1123"/>
                  </a:cubicBezTo>
                  <a:cubicBezTo>
                    <a:pt x="1493" y="1131"/>
                    <a:pt x="1476" y="1128"/>
                    <a:pt x="1461" y="1116"/>
                  </a:cubicBezTo>
                  <a:cubicBezTo>
                    <a:pt x="1446" y="1103"/>
                    <a:pt x="1429" y="1092"/>
                    <a:pt x="1416" y="1077"/>
                  </a:cubicBezTo>
                  <a:cubicBezTo>
                    <a:pt x="1405" y="1066"/>
                    <a:pt x="1400" y="1050"/>
                    <a:pt x="1392" y="1037"/>
                  </a:cubicBezTo>
                  <a:cubicBezTo>
                    <a:pt x="1389" y="1031"/>
                    <a:pt x="1386" y="1024"/>
                    <a:pt x="1381" y="1020"/>
                  </a:cubicBezTo>
                  <a:cubicBezTo>
                    <a:pt x="1313" y="961"/>
                    <a:pt x="1235" y="917"/>
                    <a:pt x="1153" y="881"/>
                  </a:cubicBezTo>
                  <a:cubicBezTo>
                    <a:pt x="1022" y="825"/>
                    <a:pt x="886" y="791"/>
                    <a:pt x="745" y="771"/>
                  </a:cubicBezTo>
                  <a:cubicBezTo>
                    <a:pt x="655" y="758"/>
                    <a:pt x="565" y="756"/>
                    <a:pt x="475" y="753"/>
                  </a:cubicBezTo>
                  <a:cubicBezTo>
                    <a:pt x="371" y="750"/>
                    <a:pt x="269" y="735"/>
                    <a:pt x="171" y="699"/>
                  </a:cubicBezTo>
                  <a:cubicBezTo>
                    <a:pt x="146" y="690"/>
                    <a:pt x="123" y="678"/>
                    <a:pt x="100" y="666"/>
                  </a:cubicBezTo>
                  <a:cubicBezTo>
                    <a:pt x="53" y="640"/>
                    <a:pt x="15" y="607"/>
                    <a:pt x="0" y="552"/>
                  </a:cubicBezTo>
                  <a:cubicBezTo>
                    <a:pt x="0" y="438"/>
                    <a:pt x="0" y="324"/>
                    <a:pt x="0" y="211"/>
                  </a:cubicBezTo>
                  <a:close/>
                  <a:moveTo>
                    <a:pt x="1389" y="966"/>
                  </a:moveTo>
                  <a:cubicBezTo>
                    <a:pt x="1390" y="963"/>
                    <a:pt x="1391" y="960"/>
                    <a:pt x="1391" y="957"/>
                  </a:cubicBezTo>
                  <a:cubicBezTo>
                    <a:pt x="1391" y="881"/>
                    <a:pt x="1391" y="805"/>
                    <a:pt x="1390" y="729"/>
                  </a:cubicBezTo>
                  <a:cubicBezTo>
                    <a:pt x="1390" y="723"/>
                    <a:pt x="1385" y="716"/>
                    <a:pt x="1380" y="711"/>
                  </a:cubicBezTo>
                  <a:cubicBezTo>
                    <a:pt x="1319" y="658"/>
                    <a:pt x="1250" y="617"/>
                    <a:pt x="1177" y="583"/>
                  </a:cubicBezTo>
                  <a:cubicBezTo>
                    <a:pt x="987" y="496"/>
                    <a:pt x="786" y="459"/>
                    <a:pt x="579" y="448"/>
                  </a:cubicBezTo>
                  <a:cubicBezTo>
                    <a:pt x="515" y="444"/>
                    <a:pt x="450" y="444"/>
                    <a:pt x="386" y="438"/>
                  </a:cubicBezTo>
                  <a:cubicBezTo>
                    <a:pt x="307" y="431"/>
                    <a:pt x="229" y="414"/>
                    <a:pt x="155" y="385"/>
                  </a:cubicBezTo>
                  <a:cubicBezTo>
                    <a:pt x="116" y="369"/>
                    <a:pt x="79" y="349"/>
                    <a:pt x="47" y="321"/>
                  </a:cubicBezTo>
                  <a:cubicBezTo>
                    <a:pt x="46" y="323"/>
                    <a:pt x="46" y="324"/>
                    <a:pt x="46" y="324"/>
                  </a:cubicBezTo>
                  <a:cubicBezTo>
                    <a:pt x="46" y="395"/>
                    <a:pt x="45" y="466"/>
                    <a:pt x="46" y="537"/>
                  </a:cubicBezTo>
                  <a:cubicBezTo>
                    <a:pt x="46" y="560"/>
                    <a:pt x="59" y="578"/>
                    <a:pt x="78" y="595"/>
                  </a:cubicBezTo>
                  <a:cubicBezTo>
                    <a:pt x="78" y="583"/>
                    <a:pt x="78" y="575"/>
                    <a:pt x="78" y="566"/>
                  </a:cubicBezTo>
                  <a:cubicBezTo>
                    <a:pt x="78" y="549"/>
                    <a:pt x="87" y="539"/>
                    <a:pt x="101" y="539"/>
                  </a:cubicBezTo>
                  <a:cubicBezTo>
                    <a:pt x="114" y="539"/>
                    <a:pt x="123" y="550"/>
                    <a:pt x="123" y="567"/>
                  </a:cubicBezTo>
                  <a:cubicBezTo>
                    <a:pt x="123" y="584"/>
                    <a:pt x="123" y="601"/>
                    <a:pt x="123" y="618"/>
                  </a:cubicBezTo>
                  <a:cubicBezTo>
                    <a:pt x="123" y="622"/>
                    <a:pt x="125" y="628"/>
                    <a:pt x="127" y="630"/>
                  </a:cubicBezTo>
                  <a:cubicBezTo>
                    <a:pt x="155" y="643"/>
                    <a:pt x="183" y="655"/>
                    <a:pt x="214" y="668"/>
                  </a:cubicBezTo>
                  <a:cubicBezTo>
                    <a:pt x="214" y="647"/>
                    <a:pt x="213" y="630"/>
                    <a:pt x="214" y="613"/>
                  </a:cubicBezTo>
                  <a:cubicBezTo>
                    <a:pt x="214" y="596"/>
                    <a:pt x="223" y="585"/>
                    <a:pt x="237" y="586"/>
                  </a:cubicBezTo>
                  <a:cubicBezTo>
                    <a:pt x="250" y="586"/>
                    <a:pt x="258" y="596"/>
                    <a:pt x="258" y="613"/>
                  </a:cubicBezTo>
                  <a:cubicBezTo>
                    <a:pt x="259" y="632"/>
                    <a:pt x="258" y="651"/>
                    <a:pt x="259" y="670"/>
                  </a:cubicBezTo>
                  <a:cubicBezTo>
                    <a:pt x="259" y="673"/>
                    <a:pt x="261" y="679"/>
                    <a:pt x="264" y="680"/>
                  </a:cubicBezTo>
                  <a:cubicBezTo>
                    <a:pt x="297" y="687"/>
                    <a:pt x="331" y="694"/>
                    <a:pt x="366" y="701"/>
                  </a:cubicBezTo>
                  <a:cubicBezTo>
                    <a:pt x="366" y="680"/>
                    <a:pt x="366" y="662"/>
                    <a:pt x="366" y="644"/>
                  </a:cubicBezTo>
                  <a:cubicBezTo>
                    <a:pt x="366" y="630"/>
                    <a:pt x="375" y="622"/>
                    <a:pt x="387" y="621"/>
                  </a:cubicBezTo>
                  <a:cubicBezTo>
                    <a:pt x="400" y="621"/>
                    <a:pt x="409" y="629"/>
                    <a:pt x="411" y="642"/>
                  </a:cubicBezTo>
                  <a:cubicBezTo>
                    <a:pt x="411" y="647"/>
                    <a:pt x="411" y="653"/>
                    <a:pt x="411" y="658"/>
                  </a:cubicBezTo>
                  <a:cubicBezTo>
                    <a:pt x="411" y="673"/>
                    <a:pt x="411" y="689"/>
                    <a:pt x="411" y="707"/>
                  </a:cubicBezTo>
                  <a:cubicBezTo>
                    <a:pt x="450" y="707"/>
                    <a:pt x="487" y="707"/>
                    <a:pt x="525" y="707"/>
                  </a:cubicBezTo>
                  <a:cubicBezTo>
                    <a:pt x="525" y="690"/>
                    <a:pt x="525" y="673"/>
                    <a:pt x="525" y="656"/>
                  </a:cubicBezTo>
                  <a:cubicBezTo>
                    <a:pt x="526" y="642"/>
                    <a:pt x="535" y="633"/>
                    <a:pt x="548" y="633"/>
                  </a:cubicBezTo>
                  <a:cubicBezTo>
                    <a:pt x="561" y="634"/>
                    <a:pt x="570" y="643"/>
                    <a:pt x="570" y="659"/>
                  </a:cubicBezTo>
                  <a:cubicBezTo>
                    <a:pt x="570" y="676"/>
                    <a:pt x="570" y="693"/>
                    <a:pt x="570" y="710"/>
                  </a:cubicBezTo>
                  <a:cubicBezTo>
                    <a:pt x="607" y="713"/>
                    <a:pt x="641" y="715"/>
                    <a:pt x="676" y="717"/>
                  </a:cubicBezTo>
                  <a:cubicBezTo>
                    <a:pt x="676" y="700"/>
                    <a:pt x="676" y="685"/>
                    <a:pt x="676" y="670"/>
                  </a:cubicBezTo>
                  <a:cubicBezTo>
                    <a:pt x="676" y="653"/>
                    <a:pt x="684" y="643"/>
                    <a:pt x="698" y="642"/>
                  </a:cubicBezTo>
                  <a:cubicBezTo>
                    <a:pt x="712" y="642"/>
                    <a:pt x="721" y="652"/>
                    <a:pt x="721" y="670"/>
                  </a:cubicBezTo>
                  <a:cubicBezTo>
                    <a:pt x="721" y="687"/>
                    <a:pt x="721" y="705"/>
                    <a:pt x="721" y="722"/>
                  </a:cubicBezTo>
                  <a:cubicBezTo>
                    <a:pt x="756" y="727"/>
                    <a:pt x="789" y="732"/>
                    <a:pt x="824" y="737"/>
                  </a:cubicBezTo>
                  <a:cubicBezTo>
                    <a:pt x="824" y="719"/>
                    <a:pt x="824" y="702"/>
                    <a:pt x="824" y="685"/>
                  </a:cubicBezTo>
                  <a:cubicBezTo>
                    <a:pt x="825" y="671"/>
                    <a:pt x="833" y="663"/>
                    <a:pt x="846" y="662"/>
                  </a:cubicBezTo>
                  <a:cubicBezTo>
                    <a:pt x="858" y="662"/>
                    <a:pt x="868" y="670"/>
                    <a:pt x="869" y="685"/>
                  </a:cubicBezTo>
                  <a:cubicBezTo>
                    <a:pt x="870" y="695"/>
                    <a:pt x="869" y="706"/>
                    <a:pt x="869" y="717"/>
                  </a:cubicBezTo>
                  <a:cubicBezTo>
                    <a:pt x="869" y="746"/>
                    <a:pt x="869" y="746"/>
                    <a:pt x="897" y="753"/>
                  </a:cubicBezTo>
                  <a:cubicBezTo>
                    <a:pt x="922" y="758"/>
                    <a:pt x="947" y="764"/>
                    <a:pt x="973" y="770"/>
                  </a:cubicBezTo>
                  <a:cubicBezTo>
                    <a:pt x="973" y="754"/>
                    <a:pt x="973" y="739"/>
                    <a:pt x="974" y="725"/>
                  </a:cubicBezTo>
                  <a:cubicBezTo>
                    <a:pt x="974" y="710"/>
                    <a:pt x="984" y="700"/>
                    <a:pt x="996" y="700"/>
                  </a:cubicBezTo>
                  <a:cubicBezTo>
                    <a:pt x="1009" y="700"/>
                    <a:pt x="1018" y="710"/>
                    <a:pt x="1018" y="725"/>
                  </a:cubicBezTo>
                  <a:cubicBezTo>
                    <a:pt x="1019" y="741"/>
                    <a:pt x="1018" y="757"/>
                    <a:pt x="1019" y="773"/>
                  </a:cubicBezTo>
                  <a:cubicBezTo>
                    <a:pt x="1019" y="777"/>
                    <a:pt x="1021" y="784"/>
                    <a:pt x="1024" y="785"/>
                  </a:cubicBezTo>
                  <a:cubicBezTo>
                    <a:pt x="1053" y="795"/>
                    <a:pt x="1083" y="805"/>
                    <a:pt x="1114" y="815"/>
                  </a:cubicBezTo>
                  <a:cubicBezTo>
                    <a:pt x="1114" y="800"/>
                    <a:pt x="1113" y="786"/>
                    <a:pt x="1114" y="772"/>
                  </a:cubicBezTo>
                  <a:cubicBezTo>
                    <a:pt x="1114" y="757"/>
                    <a:pt x="1124" y="747"/>
                    <a:pt x="1137" y="748"/>
                  </a:cubicBezTo>
                  <a:cubicBezTo>
                    <a:pt x="1150" y="748"/>
                    <a:pt x="1158" y="757"/>
                    <a:pt x="1159" y="773"/>
                  </a:cubicBezTo>
                  <a:cubicBezTo>
                    <a:pt x="1159" y="789"/>
                    <a:pt x="1159" y="806"/>
                    <a:pt x="1158" y="822"/>
                  </a:cubicBezTo>
                  <a:cubicBezTo>
                    <a:pt x="1158" y="831"/>
                    <a:pt x="1161" y="835"/>
                    <a:pt x="1169" y="839"/>
                  </a:cubicBezTo>
                  <a:cubicBezTo>
                    <a:pt x="1192" y="849"/>
                    <a:pt x="1213" y="860"/>
                    <a:pt x="1236" y="870"/>
                  </a:cubicBezTo>
                  <a:cubicBezTo>
                    <a:pt x="1239" y="872"/>
                    <a:pt x="1242" y="872"/>
                    <a:pt x="1246" y="874"/>
                  </a:cubicBezTo>
                  <a:cubicBezTo>
                    <a:pt x="1247" y="871"/>
                    <a:pt x="1247" y="870"/>
                    <a:pt x="1247" y="869"/>
                  </a:cubicBezTo>
                  <a:cubicBezTo>
                    <a:pt x="1247" y="861"/>
                    <a:pt x="1247" y="852"/>
                    <a:pt x="1247" y="844"/>
                  </a:cubicBezTo>
                  <a:cubicBezTo>
                    <a:pt x="1248" y="825"/>
                    <a:pt x="1255" y="816"/>
                    <a:pt x="1269" y="816"/>
                  </a:cubicBezTo>
                  <a:cubicBezTo>
                    <a:pt x="1284" y="816"/>
                    <a:pt x="1292" y="825"/>
                    <a:pt x="1292" y="844"/>
                  </a:cubicBezTo>
                  <a:cubicBezTo>
                    <a:pt x="1293" y="860"/>
                    <a:pt x="1292" y="875"/>
                    <a:pt x="1293" y="891"/>
                  </a:cubicBezTo>
                  <a:cubicBezTo>
                    <a:pt x="1293" y="895"/>
                    <a:pt x="1294" y="902"/>
                    <a:pt x="1297" y="904"/>
                  </a:cubicBezTo>
                  <a:cubicBezTo>
                    <a:pt x="1327" y="925"/>
                    <a:pt x="1358" y="945"/>
                    <a:pt x="1389" y="966"/>
                  </a:cubicBezTo>
                  <a:close/>
                  <a:moveTo>
                    <a:pt x="528" y="402"/>
                  </a:moveTo>
                  <a:cubicBezTo>
                    <a:pt x="646" y="401"/>
                    <a:pt x="761" y="388"/>
                    <a:pt x="870" y="345"/>
                  </a:cubicBezTo>
                  <a:cubicBezTo>
                    <a:pt x="911" y="329"/>
                    <a:pt x="952" y="310"/>
                    <a:pt x="982" y="276"/>
                  </a:cubicBezTo>
                  <a:cubicBezTo>
                    <a:pt x="1010" y="244"/>
                    <a:pt x="1011" y="211"/>
                    <a:pt x="983" y="179"/>
                  </a:cubicBezTo>
                  <a:cubicBezTo>
                    <a:pt x="977" y="172"/>
                    <a:pt x="970" y="164"/>
                    <a:pt x="962" y="159"/>
                  </a:cubicBezTo>
                  <a:cubicBezTo>
                    <a:pt x="935" y="143"/>
                    <a:pt x="907" y="125"/>
                    <a:pt x="878" y="112"/>
                  </a:cubicBezTo>
                  <a:cubicBezTo>
                    <a:pt x="797" y="78"/>
                    <a:pt x="710" y="63"/>
                    <a:pt x="623" y="57"/>
                  </a:cubicBezTo>
                  <a:cubicBezTo>
                    <a:pt x="498" y="47"/>
                    <a:pt x="374" y="54"/>
                    <a:pt x="252" y="85"/>
                  </a:cubicBezTo>
                  <a:cubicBezTo>
                    <a:pt x="201" y="98"/>
                    <a:pt x="150" y="116"/>
                    <a:pt x="105" y="146"/>
                  </a:cubicBezTo>
                  <a:cubicBezTo>
                    <a:pt x="96" y="152"/>
                    <a:pt x="87" y="158"/>
                    <a:pt x="79" y="166"/>
                  </a:cubicBezTo>
                  <a:cubicBezTo>
                    <a:pt x="33" y="207"/>
                    <a:pt x="34" y="252"/>
                    <a:pt x="82" y="292"/>
                  </a:cubicBezTo>
                  <a:cubicBezTo>
                    <a:pt x="111" y="316"/>
                    <a:pt x="145" y="333"/>
                    <a:pt x="181" y="346"/>
                  </a:cubicBezTo>
                  <a:cubicBezTo>
                    <a:pt x="294" y="387"/>
                    <a:pt x="411" y="400"/>
                    <a:pt x="528" y="402"/>
                  </a:cubicBezTo>
                  <a:close/>
                  <a:moveTo>
                    <a:pt x="1003" y="320"/>
                  </a:moveTo>
                  <a:cubicBezTo>
                    <a:pt x="937" y="376"/>
                    <a:pt x="860" y="400"/>
                    <a:pt x="780" y="420"/>
                  </a:cubicBezTo>
                  <a:cubicBezTo>
                    <a:pt x="855" y="436"/>
                    <a:pt x="928" y="452"/>
                    <a:pt x="1003" y="468"/>
                  </a:cubicBezTo>
                  <a:cubicBezTo>
                    <a:pt x="1003" y="420"/>
                    <a:pt x="1003" y="371"/>
                    <a:pt x="1003" y="320"/>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40" name="Google Shape;240;p27"/>
            <p:cNvSpPr/>
            <p:nvPr/>
          </p:nvSpPr>
          <p:spPr>
            <a:xfrm>
              <a:off x="8882063" y="6915151"/>
              <a:ext cx="317500" cy="115888"/>
            </a:xfrm>
            <a:custGeom>
              <a:rect b="b" l="l" r="r" t="t"/>
              <a:pathLst>
                <a:path extrusionOk="0" h="208" w="565">
                  <a:moveTo>
                    <a:pt x="269" y="208"/>
                  </a:moveTo>
                  <a:cubicBezTo>
                    <a:pt x="210" y="208"/>
                    <a:pt x="140" y="202"/>
                    <a:pt x="73" y="174"/>
                  </a:cubicBezTo>
                  <a:cubicBezTo>
                    <a:pt x="55" y="167"/>
                    <a:pt x="38" y="156"/>
                    <a:pt x="24" y="143"/>
                  </a:cubicBezTo>
                  <a:cubicBezTo>
                    <a:pt x="0" y="120"/>
                    <a:pt x="1" y="89"/>
                    <a:pt x="24" y="65"/>
                  </a:cubicBezTo>
                  <a:cubicBezTo>
                    <a:pt x="45" y="44"/>
                    <a:pt x="71" y="32"/>
                    <a:pt x="99" y="25"/>
                  </a:cubicBezTo>
                  <a:cubicBezTo>
                    <a:pt x="141" y="16"/>
                    <a:pt x="184" y="9"/>
                    <a:pt x="227" y="3"/>
                  </a:cubicBezTo>
                  <a:cubicBezTo>
                    <a:pt x="242" y="0"/>
                    <a:pt x="253" y="9"/>
                    <a:pt x="254" y="22"/>
                  </a:cubicBezTo>
                  <a:cubicBezTo>
                    <a:pt x="256" y="35"/>
                    <a:pt x="247" y="45"/>
                    <a:pt x="231" y="47"/>
                  </a:cubicBezTo>
                  <a:cubicBezTo>
                    <a:pt x="192" y="54"/>
                    <a:pt x="154" y="59"/>
                    <a:pt x="116" y="67"/>
                  </a:cubicBezTo>
                  <a:cubicBezTo>
                    <a:pt x="101" y="70"/>
                    <a:pt x="87" y="77"/>
                    <a:pt x="73" y="84"/>
                  </a:cubicBezTo>
                  <a:cubicBezTo>
                    <a:pt x="65" y="89"/>
                    <a:pt x="59" y="98"/>
                    <a:pt x="52" y="104"/>
                  </a:cubicBezTo>
                  <a:cubicBezTo>
                    <a:pt x="59" y="111"/>
                    <a:pt x="65" y="121"/>
                    <a:pt x="73" y="124"/>
                  </a:cubicBezTo>
                  <a:cubicBezTo>
                    <a:pt x="94" y="134"/>
                    <a:pt x="116" y="143"/>
                    <a:pt x="139" y="148"/>
                  </a:cubicBezTo>
                  <a:cubicBezTo>
                    <a:pt x="243" y="170"/>
                    <a:pt x="347" y="170"/>
                    <a:pt x="450" y="141"/>
                  </a:cubicBezTo>
                  <a:cubicBezTo>
                    <a:pt x="468" y="136"/>
                    <a:pt x="484" y="127"/>
                    <a:pt x="500" y="118"/>
                  </a:cubicBezTo>
                  <a:cubicBezTo>
                    <a:pt x="515" y="109"/>
                    <a:pt x="514" y="101"/>
                    <a:pt x="500" y="91"/>
                  </a:cubicBezTo>
                  <a:cubicBezTo>
                    <a:pt x="474" y="72"/>
                    <a:pt x="443" y="64"/>
                    <a:pt x="413" y="58"/>
                  </a:cubicBezTo>
                  <a:cubicBezTo>
                    <a:pt x="390" y="53"/>
                    <a:pt x="366" y="51"/>
                    <a:pt x="343" y="48"/>
                  </a:cubicBezTo>
                  <a:cubicBezTo>
                    <a:pt x="339" y="48"/>
                    <a:pt x="335" y="47"/>
                    <a:pt x="331" y="46"/>
                  </a:cubicBezTo>
                  <a:cubicBezTo>
                    <a:pt x="319" y="43"/>
                    <a:pt x="314" y="34"/>
                    <a:pt x="315" y="22"/>
                  </a:cubicBezTo>
                  <a:cubicBezTo>
                    <a:pt x="316" y="10"/>
                    <a:pt x="324" y="2"/>
                    <a:pt x="336" y="3"/>
                  </a:cubicBezTo>
                  <a:cubicBezTo>
                    <a:pt x="399" y="7"/>
                    <a:pt x="460" y="16"/>
                    <a:pt x="516" y="47"/>
                  </a:cubicBezTo>
                  <a:cubicBezTo>
                    <a:pt x="523" y="51"/>
                    <a:pt x="529" y="56"/>
                    <a:pt x="534" y="60"/>
                  </a:cubicBezTo>
                  <a:cubicBezTo>
                    <a:pt x="563" y="86"/>
                    <a:pt x="565" y="123"/>
                    <a:pt x="534" y="147"/>
                  </a:cubicBezTo>
                  <a:cubicBezTo>
                    <a:pt x="514" y="163"/>
                    <a:pt x="489" y="175"/>
                    <a:pt x="465" y="183"/>
                  </a:cubicBezTo>
                  <a:cubicBezTo>
                    <a:pt x="406" y="204"/>
                    <a:pt x="344" y="208"/>
                    <a:pt x="269" y="208"/>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grpSp>
      <p:grpSp>
        <p:nvGrpSpPr>
          <p:cNvPr id="241" name="Google Shape;241;p27"/>
          <p:cNvGrpSpPr/>
          <p:nvPr/>
        </p:nvGrpSpPr>
        <p:grpSpPr>
          <a:xfrm>
            <a:off x="7212255" y="3584002"/>
            <a:ext cx="464288" cy="470240"/>
            <a:chOff x="9791700" y="6743701"/>
            <a:chExt cx="866776" cy="877886"/>
          </a:xfrm>
        </p:grpSpPr>
        <p:sp>
          <p:nvSpPr>
            <p:cNvPr id="242" name="Google Shape;242;p27"/>
            <p:cNvSpPr/>
            <p:nvPr/>
          </p:nvSpPr>
          <p:spPr>
            <a:xfrm>
              <a:off x="9791700" y="6869113"/>
              <a:ext cx="744538" cy="752474"/>
            </a:xfrm>
            <a:custGeom>
              <a:rect b="b" l="l" r="r" t="t"/>
              <a:pathLst>
                <a:path extrusionOk="0" h="1339" w="1323">
                  <a:moveTo>
                    <a:pt x="8" y="619"/>
                  </a:moveTo>
                  <a:cubicBezTo>
                    <a:pt x="11" y="593"/>
                    <a:pt x="14" y="566"/>
                    <a:pt x="19" y="540"/>
                  </a:cubicBezTo>
                  <a:cubicBezTo>
                    <a:pt x="55" y="358"/>
                    <a:pt x="151" y="216"/>
                    <a:pt x="306" y="114"/>
                  </a:cubicBezTo>
                  <a:cubicBezTo>
                    <a:pt x="432" y="31"/>
                    <a:pt x="572" y="0"/>
                    <a:pt x="722" y="13"/>
                  </a:cubicBezTo>
                  <a:cubicBezTo>
                    <a:pt x="813" y="22"/>
                    <a:pt x="899" y="49"/>
                    <a:pt x="979" y="94"/>
                  </a:cubicBezTo>
                  <a:cubicBezTo>
                    <a:pt x="995" y="104"/>
                    <a:pt x="1000" y="117"/>
                    <a:pt x="993" y="130"/>
                  </a:cubicBezTo>
                  <a:cubicBezTo>
                    <a:pt x="985" y="143"/>
                    <a:pt x="972" y="146"/>
                    <a:pt x="955" y="136"/>
                  </a:cubicBezTo>
                  <a:cubicBezTo>
                    <a:pt x="858" y="82"/>
                    <a:pt x="753" y="56"/>
                    <a:pt x="642" y="58"/>
                  </a:cubicBezTo>
                  <a:cubicBezTo>
                    <a:pt x="369" y="64"/>
                    <a:pt x="130" y="261"/>
                    <a:pt x="71" y="527"/>
                  </a:cubicBezTo>
                  <a:cubicBezTo>
                    <a:pt x="0" y="847"/>
                    <a:pt x="192" y="1162"/>
                    <a:pt x="508" y="1245"/>
                  </a:cubicBezTo>
                  <a:cubicBezTo>
                    <a:pt x="834" y="1330"/>
                    <a:pt x="1172" y="1125"/>
                    <a:pt x="1246" y="794"/>
                  </a:cubicBezTo>
                  <a:cubicBezTo>
                    <a:pt x="1279" y="645"/>
                    <a:pt x="1258" y="503"/>
                    <a:pt x="1186" y="369"/>
                  </a:cubicBezTo>
                  <a:cubicBezTo>
                    <a:pt x="1184" y="366"/>
                    <a:pt x="1183" y="364"/>
                    <a:pt x="1182" y="362"/>
                  </a:cubicBezTo>
                  <a:cubicBezTo>
                    <a:pt x="1174" y="347"/>
                    <a:pt x="1177" y="334"/>
                    <a:pt x="1189" y="327"/>
                  </a:cubicBezTo>
                  <a:cubicBezTo>
                    <a:pt x="1201" y="319"/>
                    <a:pt x="1215" y="324"/>
                    <a:pt x="1224" y="339"/>
                  </a:cubicBezTo>
                  <a:cubicBezTo>
                    <a:pt x="1265" y="412"/>
                    <a:pt x="1292" y="490"/>
                    <a:pt x="1303" y="573"/>
                  </a:cubicBezTo>
                  <a:cubicBezTo>
                    <a:pt x="1323" y="732"/>
                    <a:pt x="1293" y="881"/>
                    <a:pt x="1204" y="1015"/>
                  </a:cubicBezTo>
                  <a:cubicBezTo>
                    <a:pt x="1094" y="1181"/>
                    <a:pt x="939" y="1281"/>
                    <a:pt x="741" y="1306"/>
                  </a:cubicBezTo>
                  <a:cubicBezTo>
                    <a:pt x="469" y="1339"/>
                    <a:pt x="221" y="1211"/>
                    <a:pt x="87" y="973"/>
                  </a:cubicBezTo>
                  <a:cubicBezTo>
                    <a:pt x="43" y="894"/>
                    <a:pt x="18" y="808"/>
                    <a:pt x="10" y="717"/>
                  </a:cubicBezTo>
                  <a:cubicBezTo>
                    <a:pt x="10" y="712"/>
                    <a:pt x="8" y="708"/>
                    <a:pt x="8" y="703"/>
                  </a:cubicBezTo>
                  <a:cubicBezTo>
                    <a:pt x="8" y="675"/>
                    <a:pt x="8" y="647"/>
                    <a:pt x="8" y="619"/>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43" name="Google Shape;243;p27"/>
            <p:cNvSpPr/>
            <p:nvPr/>
          </p:nvSpPr>
          <p:spPr>
            <a:xfrm>
              <a:off x="10147300" y="6743701"/>
              <a:ext cx="511176" cy="511176"/>
            </a:xfrm>
            <a:custGeom>
              <a:rect b="b" l="l" r="r" t="t"/>
              <a:pathLst>
                <a:path extrusionOk="0" h="911" w="911">
                  <a:moveTo>
                    <a:pt x="911" y="297"/>
                  </a:moveTo>
                  <a:cubicBezTo>
                    <a:pt x="905" y="303"/>
                    <a:pt x="900" y="310"/>
                    <a:pt x="893" y="317"/>
                  </a:cubicBezTo>
                  <a:cubicBezTo>
                    <a:pt x="832" y="378"/>
                    <a:pt x="771" y="439"/>
                    <a:pt x="710" y="500"/>
                  </a:cubicBezTo>
                  <a:cubicBezTo>
                    <a:pt x="696" y="515"/>
                    <a:pt x="683" y="518"/>
                    <a:pt x="664" y="513"/>
                  </a:cubicBezTo>
                  <a:cubicBezTo>
                    <a:pt x="608" y="497"/>
                    <a:pt x="552" y="483"/>
                    <a:pt x="496" y="467"/>
                  </a:cubicBezTo>
                  <a:cubicBezTo>
                    <a:pt x="485" y="464"/>
                    <a:pt x="478" y="467"/>
                    <a:pt x="470" y="475"/>
                  </a:cubicBezTo>
                  <a:cubicBezTo>
                    <a:pt x="331" y="614"/>
                    <a:pt x="191" y="754"/>
                    <a:pt x="52" y="893"/>
                  </a:cubicBezTo>
                  <a:cubicBezTo>
                    <a:pt x="48" y="897"/>
                    <a:pt x="44" y="901"/>
                    <a:pt x="40" y="904"/>
                  </a:cubicBezTo>
                  <a:cubicBezTo>
                    <a:pt x="29" y="911"/>
                    <a:pt x="18" y="910"/>
                    <a:pt x="10" y="902"/>
                  </a:cubicBezTo>
                  <a:cubicBezTo>
                    <a:pt x="1" y="893"/>
                    <a:pt x="0" y="882"/>
                    <a:pt x="7" y="872"/>
                  </a:cubicBezTo>
                  <a:cubicBezTo>
                    <a:pt x="10" y="867"/>
                    <a:pt x="14" y="863"/>
                    <a:pt x="18" y="859"/>
                  </a:cubicBezTo>
                  <a:cubicBezTo>
                    <a:pt x="157" y="720"/>
                    <a:pt x="297" y="580"/>
                    <a:pt x="437" y="441"/>
                  </a:cubicBezTo>
                  <a:cubicBezTo>
                    <a:pt x="445" y="432"/>
                    <a:pt x="447" y="425"/>
                    <a:pt x="444" y="414"/>
                  </a:cubicBezTo>
                  <a:cubicBezTo>
                    <a:pt x="428" y="356"/>
                    <a:pt x="413" y="299"/>
                    <a:pt x="397" y="242"/>
                  </a:cubicBezTo>
                  <a:cubicBezTo>
                    <a:pt x="393" y="227"/>
                    <a:pt x="396" y="216"/>
                    <a:pt x="407" y="205"/>
                  </a:cubicBezTo>
                  <a:cubicBezTo>
                    <a:pt x="471" y="141"/>
                    <a:pt x="536" y="77"/>
                    <a:pt x="600" y="12"/>
                  </a:cubicBezTo>
                  <a:cubicBezTo>
                    <a:pt x="604" y="8"/>
                    <a:pt x="610" y="4"/>
                    <a:pt x="614" y="0"/>
                  </a:cubicBezTo>
                  <a:cubicBezTo>
                    <a:pt x="619" y="0"/>
                    <a:pt x="624" y="0"/>
                    <a:pt x="629" y="0"/>
                  </a:cubicBezTo>
                  <a:cubicBezTo>
                    <a:pt x="636" y="9"/>
                    <a:pt x="644" y="17"/>
                    <a:pt x="647" y="27"/>
                  </a:cubicBezTo>
                  <a:cubicBezTo>
                    <a:pt x="664" y="85"/>
                    <a:pt x="679" y="144"/>
                    <a:pt x="695" y="202"/>
                  </a:cubicBezTo>
                  <a:cubicBezTo>
                    <a:pt x="697" y="211"/>
                    <a:pt x="701" y="214"/>
                    <a:pt x="709" y="216"/>
                  </a:cubicBezTo>
                  <a:cubicBezTo>
                    <a:pt x="768" y="232"/>
                    <a:pt x="826" y="247"/>
                    <a:pt x="884" y="264"/>
                  </a:cubicBezTo>
                  <a:cubicBezTo>
                    <a:pt x="894" y="267"/>
                    <a:pt x="902" y="276"/>
                    <a:pt x="911" y="282"/>
                  </a:cubicBezTo>
                  <a:cubicBezTo>
                    <a:pt x="911" y="287"/>
                    <a:pt x="911" y="292"/>
                    <a:pt x="911" y="297"/>
                  </a:cubicBezTo>
                  <a:close/>
                  <a:moveTo>
                    <a:pt x="610" y="72"/>
                  </a:moveTo>
                  <a:cubicBezTo>
                    <a:pt x="607" y="74"/>
                    <a:pt x="606" y="75"/>
                    <a:pt x="604" y="76"/>
                  </a:cubicBezTo>
                  <a:cubicBezTo>
                    <a:pt x="553" y="127"/>
                    <a:pt x="502" y="177"/>
                    <a:pt x="452" y="229"/>
                  </a:cubicBezTo>
                  <a:cubicBezTo>
                    <a:pt x="448" y="232"/>
                    <a:pt x="447" y="241"/>
                    <a:pt x="449" y="246"/>
                  </a:cubicBezTo>
                  <a:cubicBezTo>
                    <a:pt x="462" y="299"/>
                    <a:pt x="477" y="352"/>
                    <a:pt x="491" y="405"/>
                  </a:cubicBezTo>
                  <a:cubicBezTo>
                    <a:pt x="493" y="414"/>
                    <a:pt x="497" y="418"/>
                    <a:pt x="506" y="420"/>
                  </a:cubicBezTo>
                  <a:cubicBezTo>
                    <a:pt x="559" y="434"/>
                    <a:pt x="611" y="448"/>
                    <a:pt x="663" y="463"/>
                  </a:cubicBezTo>
                  <a:cubicBezTo>
                    <a:pt x="674" y="465"/>
                    <a:pt x="680" y="463"/>
                    <a:pt x="687" y="456"/>
                  </a:cubicBezTo>
                  <a:cubicBezTo>
                    <a:pt x="734" y="408"/>
                    <a:pt x="782" y="360"/>
                    <a:pt x="830" y="313"/>
                  </a:cubicBezTo>
                  <a:cubicBezTo>
                    <a:pt x="833" y="309"/>
                    <a:pt x="836" y="306"/>
                    <a:pt x="840" y="301"/>
                  </a:cubicBezTo>
                  <a:cubicBezTo>
                    <a:pt x="793" y="288"/>
                    <a:pt x="748" y="274"/>
                    <a:pt x="702" y="265"/>
                  </a:cubicBezTo>
                  <a:cubicBezTo>
                    <a:pt x="669" y="258"/>
                    <a:pt x="653" y="243"/>
                    <a:pt x="646" y="210"/>
                  </a:cubicBezTo>
                  <a:cubicBezTo>
                    <a:pt x="637" y="163"/>
                    <a:pt x="623" y="118"/>
                    <a:pt x="610" y="72"/>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
          <p:nvSpPr>
            <p:cNvPr id="244" name="Google Shape;244;p27"/>
            <p:cNvSpPr/>
            <p:nvPr/>
          </p:nvSpPr>
          <p:spPr>
            <a:xfrm>
              <a:off x="9937750" y="7018338"/>
              <a:ext cx="452438" cy="438151"/>
            </a:xfrm>
            <a:custGeom>
              <a:rect b="b" l="l" r="r" t="t"/>
              <a:pathLst>
                <a:path extrusionOk="0" h="781" w="805">
                  <a:moveTo>
                    <a:pt x="399" y="781"/>
                  </a:moveTo>
                  <a:cubicBezTo>
                    <a:pt x="177" y="780"/>
                    <a:pt x="0" y="590"/>
                    <a:pt x="16" y="368"/>
                  </a:cubicBezTo>
                  <a:cubicBezTo>
                    <a:pt x="31" y="160"/>
                    <a:pt x="213" y="0"/>
                    <a:pt x="421" y="12"/>
                  </a:cubicBezTo>
                  <a:cubicBezTo>
                    <a:pt x="468" y="15"/>
                    <a:pt x="513" y="26"/>
                    <a:pt x="556" y="45"/>
                  </a:cubicBezTo>
                  <a:cubicBezTo>
                    <a:pt x="573" y="53"/>
                    <a:pt x="580" y="65"/>
                    <a:pt x="574" y="79"/>
                  </a:cubicBezTo>
                  <a:cubicBezTo>
                    <a:pt x="568" y="93"/>
                    <a:pt x="555" y="97"/>
                    <a:pt x="536" y="89"/>
                  </a:cubicBezTo>
                  <a:cubicBezTo>
                    <a:pt x="401" y="32"/>
                    <a:pt x="254" y="60"/>
                    <a:pt x="156" y="165"/>
                  </a:cubicBezTo>
                  <a:cubicBezTo>
                    <a:pt x="67" y="260"/>
                    <a:pt x="40" y="374"/>
                    <a:pt x="80" y="498"/>
                  </a:cubicBezTo>
                  <a:cubicBezTo>
                    <a:pt x="120" y="623"/>
                    <a:pt x="209" y="701"/>
                    <a:pt x="338" y="726"/>
                  </a:cubicBezTo>
                  <a:cubicBezTo>
                    <a:pt x="553" y="767"/>
                    <a:pt x="747" y="594"/>
                    <a:pt x="735" y="377"/>
                  </a:cubicBezTo>
                  <a:cubicBezTo>
                    <a:pt x="733" y="337"/>
                    <a:pt x="723" y="298"/>
                    <a:pt x="707" y="261"/>
                  </a:cubicBezTo>
                  <a:cubicBezTo>
                    <a:pt x="704" y="254"/>
                    <a:pt x="701" y="244"/>
                    <a:pt x="703" y="238"/>
                  </a:cubicBezTo>
                  <a:cubicBezTo>
                    <a:pt x="706" y="231"/>
                    <a:pt x="714" y="222"/>
                    <a:pt x="722" y="220"/>
                  </a:cubicBezTo>
                  <a:cubicBezTo>
                    <a:pt x="733" y="216"/>
                    <a:pt x="744" y="223"/>
                    <a:pt x="747" y="234"/>
                  </a:cubicBezTo>
                  <a:cubicBezTo>
                    <a:pt x="759" y="271"/>
                    <a:pt x="774" y="307"/>
                    <a:pt x="779" y="345"/>
                  </a:cubicBezTo>
                  <a:cubicBezTo>
                    <a:pt x="805" y="537"/>
                    <a:pt x="688" y="712"/>
                    <a:pt x="503" y="766"/>
                  </a:cubicBezTo>
                  <a:cubicBezTo>
                    <a:pt x="487" y="770"/>
                    <a:pt x="471" y="774"/>
                    <a:pt x="454" y="776"/>
                  </a:cubicBezTo>
                  <a:cubicBezTo>
                    <a:pt x="436" y="779"/>
                    <a:pt x="418" y="779"/>
                    <a:pt x="399" y="781"/>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grpSp>
      <p:pic>
        <p:nvPicPr>
          <p:cNvPr id="245" name="Google Shape;245;p27"/>
          <p:cNvPicPr preferRelativeResize="0"/>
          <p:nvPr/>
        </p:nvPicPr>
        <p:blipFill rotWithShape="1">
          <a:blip r:embed="rId3">
            <a:alphaModFix/>
          </a:blip>
          <a:srcRect b="0" l="0" r="0" t="0"/>
          <a:stretch/>
        </p:blipFill>
        <p:spPr>
          <a:xfrm>
            <a:off x="7095281" y="1101131"/>
            <a:ext cx="535275" cy="535275"/>
          </a:xfrm>
          <a:prstGeom prst="rect">
            <a:avLst/>
          </a:prstGeom>
          <a:noFill/>
          <a:ln>
            <a:noFill/>
          </a:ln>
        </p:spPr>
      </p:pic>
      <p:sp>
        <p:nvSpPr>
          <p:cNvPr id="246" name="Google Shape;246;p27"/>
          <p:cNvSpPr txBox="1"/>
          <p:nvPr>
            <p:ph type="title"/>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3000"/>
              <a:t>DNS Features</a:t>
            </a:r>
            <a:endParaRPr sz="3000"/>
          </a:p>
          <a:p>
            <a:pPr indent="0" lvl="0" marL="0" rtl="0" algn="l">
              <a:lnSpc>
                <a:spcPct val="110000"/>
              </a:lnSpc>
              <a:spcBef>
                <a:spcPts val="0"/>
              </a:spcBef>
              <a:spcAft>
                <a:spcPts val="0"/>
              </a:spcAft>
              <a:buClr>
                <a:schemeClr val="dk1"/>
              </a:buClr>
              <a:buSzPts val="1100"/>
              <a:buFont typeface="Arial"/>
              <a:buNone/>
            </a:pPr>
            <a:r>
              <a:t/>
            </a:r>
            <a:endParaRPr sz="3000"/>
          </a:p>
          <a:p>
            <a:pPr indent="0" lvl="0" marL="0" rtl="0" algn="l">
              <a:lnSpc>
                <a:spcPct val="110000"/>
              </a:lnSpc>
              <a:spcBef>
                <a:spcPts val="0"/>
              </a:spcBef>
              <a:spcAft>
                <a:spcPts val="0"/>
              </a:spcAft>
              <a:buSzPts val="2600"/>
              <a:buNone/>
            </a:pPr>
            <a:r>
              <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8"/>
          <p:cNvSpPr txBox="1"/>
          <p:nvPr>
            <p:ph idx="1" type="body"/>
          </p:nvPr>
        </p:nvSpPr>
        <p:spPr>
          <a:xfrm>
            <a:off x="311700" y="771475"/>
            <a:ext cx="8520600" cy="1975200"/>
          </a:xfrm>
          <a:prstGeom prst="rect">
            <a:avLst/>
          </a:prstGeom>
          <a:noFill/>
          <a:ln>
            <a:noFill/>
          </a:ln>
        </p:spPr>
        <p:txBody>
          <a:bodyPr anchorCtr="0" anchor="t" bIns="0" lIns="0" spcFirstLastPara="1" rIns="0" wrap="square" tIns="0">
            <a:noAutofit/>
          </a:bodyPr>
          <a:lstStyle/>
          <a:p>
            <a:pPr indent="-273050" lvl="0" marL="342900" rtl="0" algn="l">
              <a:lnSpc>
                <a:spcPct val="115000"/>
              </a:lnSpc>
              <a:spcBef>
                <a:spcPts val="90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 is a client-server protocol</a:t>
            </a:r>
            <a:endParaRPr sz="1700">
              <a:solidFill>
                <a:schemeClr val="dk1"/>
              </a:solidFill>
              <a:latin typeface="Helvetica Neue"/>
              <a:ea typeface="Helvetica Neue"/>
              <a:cs typeface="Helvetica Neue"/>
              <a:sym typeface="Helvetica Neue"/>
            </a:endParaRPr>
          </a:p>
          <a:p>
            <a:pPr indent="-273050" lvl="1" marL="6858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Client (resolvers) requests resolution </a:t>
            </a:r>
            <a:r>
              <a:rPr lang="fr" sz="1700">
                <a:solidFill>
                  <a:schemeClr val="dk1"/>
                </a:solidFill>
                <a:highlight>
                  <a:schemeClr val="lt1"/>
                </a:highlight>
                <a:latin typeface="Helvetica Neue"/>
                <a:ea typeface="Helvetica Neue"/>
                <a:cs typeface="Helvetica Neue"/>
                <a:sym typeface="Helvetica Neue"/>
              </a:rPr>
              <a:t>for a </a:t>
            </a:r>
            <a:r>
              <a:rPr b="1" lang="fr" sz="1700">
                <a:solidFill>
                  <a:schemeClr val="dk1"/>
                </a:solidFill>
                <a:highlight>
                  <a:schemeClr val="lt1"/>
                </a:highlight>
                <a:latin typeface="Helvetica Neue"/>
                <a:ea typeface="Helvetica Neue"/>
                <a:cs typeface="Helvetica Neue"/>
                <a:sym typeface="Helvetica Neue"/>
              </a:rPr>
              <a:t>function </a:t>
            </a:r>
            <a:r>
              <a:rPr lang="fr" sz="1700">
                <a:solidFill>
                  <a:schemeClr val="dk1"/>
                </a:solidFill>
                <a:highlight>
                  <a:schemeClr val="lt1"/>
                </a:highlight>
                <a:latin typeface="Helvetica Neue"/>
                <a:ea typeface="Helvetica Neue"/>
                <a:cs typeface="Helvetica Neue"/>
                <a:sym typeface="Helvetica Neue"/>
              </a:rPr>
              <a:t>(IP, mail server …) of a </a:t>
            </a:r>
            <a:r>
              <a:rPr b="1" lang="fr" sz="1700">
                <a:solidFill>
                  <a:schemeClr val="dk1"/>
                </a:solidFill>
                <a:highlight>
                  <a:schemeClr val="lt1"/>
                </a:highlight>
                <a:latin typeface="Helvetica Neue"/>
                <a:ea typeface="Helvetica Neue"/>
                <a:cs typeface="Helvetica Neue"/>
                <a:sym typeface="Helvetica Neue"/>
              </a:rPr>
              <a:t>name</a:t>
            </a:r>
            <a:endParaRPr b="1" sz="1700">
              <a:solidFill>
                <a:schemeClr val="dk1"/>
              </a:solidFill>
              <a:highlight>
                <a:schemeClr val="lt1"/>
              </a:highlight>
              <a:latin typeface="Helvetica Neue"/>
              <a:ea typeface="Helvetica Neue"/>
              <a:cs typeface="Helvetica Neue"/>
              <a:sym typeface="Helvetica Neue"/>
            </a:endParaRPr>
          </a:p>
          <a:p>
            <a:pPr indent="-273050" lvl="1" marL="6858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 server responds with information about the record</a:t>
            </a:r>
            <a:endParaRPr sz="1700">
              <a:solidFill>
                <a:schemeClr val="dk1"/>
              </a:solidFill>
              <a:latin typeface="Helvetica Neue"/>
              <a:ea typeface="Helvetica Neue"/>
              <a:cs typeface="Helvetica Neue"/>
              <a:sym typeface="Helvetica Neue"/>
            </a:endParaRPr>
          </a:p>
          <a:p>
            <a:pPr indent="-273050" lvl="0" marL="3429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Requests and responses are normally sent via </a:t>
            </a:r>
            <a:r>
              <a:rPr b="1" lang="fr" sz="1700">
                <a:solidFill>
                  <a:schemeClr val="dk1"/>
                </a:solidFill>
                <a:latin typeface="Helvetica Neue"/>
                <a:ea typeface="Helvetica Neue"/>
                <a:cs typeface="Helvetica Neue"/>
                <a:sym typeface="Helvetica Neue"/>
              </a:rPr>
              <a:t>UDP/53</a:t>
            </a:r>
            <a:endParaRPr b="1" sz="1700">
              <a:solidFill>
                <a:schemeClr val="dk1"/>
              </a:solidFill>
              <a:latin typeface="Helvetica Neue"/>
              <a:ea typeface="Helvetica Neue"/>
              <a:cs typeface="Helvetica Neue"/>
              <a:sym typeface="Helvetica Neue"/>
            </a:endParaRPr>
          </a:p>
          <a:p>
            <a:pPr indent="-273050" lvl="0" marL="3429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Also uses </a:t>
            </a:r>
            <a:r>
              <a:rPr b="1" lang="fr" sz="1700">
                <a:solidFill>
                  <a:schemeClr val="dk1"/>
                </a:solidFill>
                <a:latin typeface="Helvetica Neue"/>
                <a:ea typeface="Helvetica Neue"/>
                <a:cs typeface="Helvetica Neue"/>
                <a:sym typeface="Helvetica Neue"/>
              </a:rPr>
              <a:t>TCP/53</a:t>
            </a:r>
            <a:r>
              <a:rPr lang="fr" sz="1700">
                <a:solidFill>
                  <a:schemeClr val="dk1"/>
                </a:solidFill>
                <a:latin typeface="Helvetica Neue"/>
                <a:ea typeface="Helvetica Neue"/>
                <a:cs typeface="Helvetica Neue"/>
                <a:sym typeface="Helvetica Neue"/>
              </a:rPr>
              <a:t> for large requests </a:t>
            </a:r>
            <a:endParaRPr sz="1700">
              <a:solidFill>
                <a:schemeClr val="dk1"/>
              </a:solidFill>
              <a:latin typeface="Helvetica Neue"/>
              <a:ea typeface="Helvetica Neue"/>
              <a:cs typeface="Helvetica Neue"/>
              <a:sym typeface="Helvetica Neue"/>
            </a:endParaRPr>
          </a:p>
          <a:p>
            <a:pPr indent="-273050" lvl="1" marL="6858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Ex: Zone transfers, large answers with DNSSEC, etc</a:t>
            </a:r>
            <a:endParaRPr sz="1700">
              <a:solidFill>
                <a:schemeClr val="dk1"/>
              </a:solidFill>
              <a:latin typeface="Helvetica Neue"/>
              <a:ea typeface="Helvetica Neue"/>
              <a:cs typeface="Helvetica Neue"/>
              <a:sym typeface="Helvetica Neue"/>
            </a:endParaRPr>
          </a:p>
        </p:txBody>
      </p:sp>
      <p:pic>
        <p:nvPicPr>
          <p:cNvPr id="253" name="Google Shape;253;p28"/>
          <p:cNvPicPr preferRelativeResize="0"/>
          <p:nvPr/>
        </p:nvPicPr>
        <p:blipFill rotWithShape="1">
          <a:blip r:embed="rId3">
            <a:alphaModFix/>
          </a:blip>
          <a:srcRect b="0" l="0" r="0" t="0"/>
          <a:stretch/>
        </p:blipFill>
        <p:spPr>
          <a:xfrm>
            <a:off x="1222949" y="2569670"/>
            <a:ext cx="6776233" cy="2574188"/>
          </a:xfrm>
          <a:prstGeom prst="rect">
            <a:avLst/>
          </a:prstGeom>
          <a:noFill/>
          <a:ln>
            <a:noFill/>
          </a:ln>
        </p:spPr>
      </p:pic>
      <p:sp>
        <p:nvSpPr>
          <p:cNvPr id="254" name="Google Shape;254;p28"/>
          <p:cNvSpPr txBox="1"/>
          <p:nvPr>
            <p:ph type="title"/>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1100"/>
              <a:buNone/>
            </a:pPr>
            <a:r>
              <a:rPr lang="fr" sz="3000"/>
              <a:t>DNS Protocol</a:t>
            </a:r>
            <a:endParaRPr sz="3000"/>
          </a:p>
          <a:p>
            <a:pPr indent="0" lvl="0" marL="0" rtl="0" algn="l">
              <a:lnSpc>
                <a:spcPct val="110000"/>
              </a:lnSpc>
              <a:spcBef>
                <a:spcPts val="0"/>
              </a:spcBef>
              <a:spcAft>
                <a:spcPts val="0"/>
              </a:spcAft>
              <a:buSzPts val="1100"/>
              <a:buNone/>
            </a:pPr>
            <a:r>
              <a:t/>
            </a:r>
            <a:endParaRPr sz="3000"/>
          </a:p>
          <a:p>
            <a:pPr indent="0" lvl="0" marL="0" rtl="0" algn="l">
              <a:lnSpc>
                <a:spcPct val="110000"/>
              </a:lnSpc>
              <a:spcBef>
                <a:spcPts val="0"/>
              </a:spcBef>
              <a:spcAft>
                <a:spcPts val="0"/>
              </a:spcAft>
              <a:buSzPts val="2600"/>
              <a:buNone/>
            </a:pPr>
            <a:r>
              <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29"/>
          <p:cNvPicPr preferRelativeResize="0"/>
          <p:nvPr/>
        </p:nvPicPr>
        <p:blipFill rotWithShape="1">
          <a:blip r:embed="rId3">
            <a:alphaModFix/>
          </a:blip>
          <a:srcRect b="0" l="0" r="0" t="0"/>
          <a:stretch/>
        </p:blipFill>
        <p:spPr>
          <a:xfrm>
            <a:off x="1209925" y="712925"/>
            <a:ext cx="7744922" cy="4284675"/>
          </a:xfrm>
          <a:prstGeom prst="rect">
            <a:avLst/>
          </a:prstGeom>
          <a:noFill/>
          <a:ln>
            <a:noFill/>
          </a:ln>
        </p:spPr>
      </p:pic>
      <p:sp>
        <p:nvSpPr>
          <p:cNvPr id="261" name="Google Shape;261;p29"/>
          <p:cNvSpPr txBox="1"/>
          <p:nvPr/>
        </p:nvSpPr>
        <p:spPr>
          <a:xfrm>
            <a:off x="211799" y="789338"/>
            <a:ext cx="2007900" cy="569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0" i="0" lang="fr" u="sng" cap="none" strike="noStrike">
                <a:solidFill>
                  <a:schemeClr val="hlink"/>
                </a:solidFill>
                <a:latin typeface="Arial"/>
                <a:ea typeface="Arial"/>
                <a:cs typeface="Arial"/>
                <a:sym typeface="Arial"/>
                <a:hlinkClick r:id="rId4"/>
              </a:rPr>
              <a:t>13 Anycasted Root Servers</a:t>
            </a:r>
            <a:r>
              <a:rPr b="0" i="0" lang="fr" u="none" cap="none" strike="noStrike">
                <a:solidFill>
                  <a:srgbClr val="0000FF"/>
                </a:solidFill>
                <a:latin typeface="Arial"/>
                <a:ea typeface="Arial"/>
                <a:cs typeface="Arial"/>
                <a:sym typeface="Arial"/>
              </a:rPr>
              <a:t> (URL)</a:t>
            </a:r>
            <a:endParaRPr b="0" i="0" u="none" cap="none" strike="noStrike">
              <a:solidFill>
                <a:srgbClr val="0000FF"/>
              </a:solidFill>
              <a:latin typeface="Arial"/>
              <a:ea typeface="Arial"/>
              <a:cs typeface="Arial"/>
              <a:sym typeface="Arial"/>
            </a:endParaRPr>
          </a:p>
        </p:txBody>
      </p:sp>
      <p:sp>
        <p:nvSpPr>
          <p:cNvPr id="262" name="Google Shape;262;p29"/>
          <p:cNvSpPr txBox="1"/>
          <p:nvPr/>
        </p:nvSpPr>
        <p:spPr>
          <a:xfrm>
            <a:off x="186051" y="1754225"/>
            <a:ext cx="1527000" cy="569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0" i="0" lang="fr" u="sng" cap="none" strike="noStrike">
                <a:solidFill>
                  <a:schemeClr val="hlink"/>
                </a:solidFill>
                <a:latin typeface="Arial"/>
                <a:ea typeface="Arial"/>
                <a:cs typeface="Arial"/>
                <a:sym typeface="Arial"/>
                <a:hlinkClick r:id="rId5"/>
              </a:rPr>
              <a:t>14</a:t>
            </a:r>
            <a:r>
              <a:rPr lang="fr" u="sng">
                <a:solidFill>
                  <a:schemeClr val="hlink"/>
                </a:solidFill>
                <a:hlinkClick r:id="rId6"/>
              </a:rPr>
              <a:t>46</a:t>
            </a:r>
            <a:r>
              <a:rPr b="0" i="0" lang="fr" u="sng" cap="none" strike="noStrike">
                <a:solidFill>
                  <a:schemeClr val="hlink"/>
                </a:solidFill>
                <a:latin typeface="Arial"/>
                <a:ea typeface="Arial"/>
                <a:cs typeface="Arial"/>
                <a:sym typeface="Arial"/>
                <a:hlinkClick r:id="rId7"/>
              </a:rPr>
              <a:t> TLDs</a:t>
            </a:r>
            <a:endParaRPr b="0" i="0" u="sng"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fr" u="sng" cap="none" strike="noStrike">
                <a:solidFill>
                  <a:schemeClr val="hlink"/>
                </a:solidFill>
                <a:latin typeface="Arial"/>
                <a:ea typeface="Arial"/>
                <a:cs typeface="Arial"/>
                <a:sym typeface="Arial"/>
                <a:hlinkClick r:id="rId8"/>
              </a:rPr>
              <a:t>(</a:t>
            </a:r>
            <a:r>
              <a:rPr lang="fr" u="sng">
                <a:solidFill>
                  <a:schemeClr val="hlink"/>
                </a:solidFill>
                <a:hlinkClick r:id="rId9"/>
              </a:rPr>
              <a:t>Oct 2024</a:t>
            </a:r>
            <a:r>
              <a:rPr b="0" i="0" lang="fr" u="sng" cap="none" strike="noStrike">
                <a:solidFill>
                  <a:schemeClr val="hlink"/>
                </a:solidFill>
                <a:latin typeface="Arial"/>
                <a:ea typeface="Arial"/>
                <a:cs typeface="Arial"/>
                <a:sym typeface="Arial"/>
                <a:hlinkClick r:id="rId10"/>
              </a:rPr>
              <a:t>)</a:t>
            </a:r>
            <a:r>
              <a:rPr b="0" i="0" lang="fr" u="sng" cap="none" strike="noStrike">
                <a:solidFill>
                  <a:srgbClr val="0000FF"/>
                </a:solidFill>
                <a:latin typeface="Arial"/>
                <a:ea typeface="Arial"/>
                <a:cs typeface="Arial"/>
                <a:sym typeface="Arial"/>
              </a:rPr>
              <a:t> (URL</a:t>
            </a:r>
            <a:r>
              <a:rPr b="0" i="0" lang="fr" u="none" cap="none" strike="noStrike">
                <a:solidFill>
                  <a:srgbClr val="1155CC"/>
                </a:solidFill>
                <a:latin typeface="Arial"/>
                <a:ea typeface="Arial"/>
                <a:cs typeface="Arial"/>
                <a:sym typeface="Arial"/>
              </a:rPr>
              <a:t>)</a:t>
            </a:r>
            <a:endParaRPr b="0" i="0" u="none" cap="none" strike="noStrike">
              <a:solidFill>
                <a:srgbClr val="1155CC"/>
              </a:solidFill>
              <a:latin typeface="Arial"/>
              <a:ea typeface="Arial"/>
              <a:cs typeface="Arial"/>
              <a:sym typeface="Arial"/>
            </a:endParaRPr>
          </a:p>
        </p:txBody>
      </p:sp>
      <p:sp>
        <p:nvSpPr>
          <p:cNvPr id="263" name="Google Shape;263;p29"/>
          <p:cNvSpPr txBox="1"/>
          <p:nvPr>
            <p:ph type="title"/>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1100"/>
              <a:buNone/>
            </a:pPr>
            <a:r>
              <a:rPr lang="fr" sz="3000"/>
              <a:t>DNS Namespace Hierarchy</a:t>
            </a:r>
            <a:endParaRPr sz="3000"/>
          </a:p>
        </p:txBody>
      </p:sp>
      <p:sp>
        <p:nvSpPr>
          <p:cNvPr id="264" name="Google Shape;264;p29"/>
          <p:cNvSpPr txBox="1"/>
          <p:nvPr/>
        </p:nvSpPr>
        <p:spPr>
          <a:xfrm>
            <a:off x="10905" y="2719100"/>
            <a:ext cx="1527000" cy="569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None/>
            </a:pPr>
            <a:r>
              <a:rPr lang="fr" u="sng">
                <a:solidFill>
                  <a:schemeClr val="hlink"/>
                </a:solidFill>
              </a:rPr>
              <a:t>~360 Millions domains </a:t>
            </a:r>
            <a:r>
              <a:rPr lang="fr" u="sng">
                <a:solidFill>
                  <a:schemeClr val="hlink"/>
                </a:solidFill>
                <a:hlinkClick r:id="rId11"/>
              </a:rPr>
              <a:t>(URL)</a:t>
            </a:r>
            <a:endParaRPr u="sng">
              <a:solidFill>
                <a:schemeClr val="hlink"/>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0"/>
          <p:cNvSpPr txBox="1"/>
          <p:nvPr>
            <p:ph idx="1" type="body"/>
          </p:nvPr>
        </p:nvSpPr>
        <p:spPr>
          <a:xfrm>
            <a:off x="235500" y="1152475"/>
            <a:ext cx="8520600" cy="34164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rgbClr val="434343"/>
              </a:buClr>
              <a:buSzPts val="1700"/>
              <a:buFont typeface="Helvetica Neue"/>
              <a:buChar char="●"/>
            </a:pPr>
            <a:r>
              <a:rPr b="1" lang="fr" sz="1700">
                <a:solidFill>
                  <a:srgbClr val="434343"/>
                </a:solidFill>
                <a:latin typeface="Helvetica Neue"/>
                <a:ea typeface="Helvetica Neue"/>
                <a:cs typeface="Helvetica Neue"/>
                <a:sym typeface="Helvetica Neue"/>
              </a:rPr>
              <a:t>ICANN (Internet Corporation for Assigned Names and Numbers)</a:t>
            </a:r>
            <a:r>
              <a:rPr lang="fr" sz="1700">
                <a:solidFill>
                  <a:srgbClr val="434343"/>
                </a:solidFill>
                <a:latin typeface="Helvetica Neue"/>
                <a:ea typeface="Helvetica Neue"/>
                <a:cs typeface="Helvetica Neue"/>
                <a:sym typeface="Helvetica Neue"/>
              </a:rPr>
              <a:t>: Oversees the global DNS structure, including the policies governing domain name registration.</a:t>
            </a:r>
            <a:endParaRPr sz="1700">
              <a:solidFill>
                <a:srgbClr val="434343"/>
              </a:solidFill>
              <a:latin typeface="Helvetica Neue"/>
              <a:ea typeface="Helvetica Neue"/>
              <a:cs typeface="Helvetica Neue"/>
              <a:sym typeface="Helvetica Neue"/>
            </a:endParaRPr>
          </a:p>
          <a:p>
            <a:pPr indent="-336550" lvl="0" marL="457200" rtl="0" algn="l">
              <a:lnSpc>
                <a:spcPct val="115000"/>
              </a:lnSpc>
              <a:spcBef>
                <a:spcPts val="0"/>
              </a:spcBef>
              <a:spcAft>
                <a:spcPts val="0"/>
              </a:spcAft>
              <a:buClr>
                <a:srgbClr val="434343"/>
              </a:buClr>
              <a:buSzPts val="1700"/>
              <a:buFont typeface="Helvetica Neue"/>
              <a:buChar char="●"/>
            </a:pPr>
            <a:r>
              <a:rPr b="1" lang="fr" sz="1700">
                <a:solidFill>
                  <a:srgbClr val="434343"/>
                </a:solidFill>
                <a:latin typeface="Helvetica Neue"/>
                <a:ea typeface="Helvetica Neue"/>
                <a:cs typeface="Helvetica Neue"/>
                <a:sym typeface="Helvetica Neue"/>
              </a:rPr>
              <a:t>IANA (Internet Assigned Numbers Authority)</a:t>
            </a:r>
            <a:r>
              <a:rPr lang="fr" sz="1700">
                <a:solidFill>
                  <a:srgbClr val="434343"/>
                </a:solidFill>
                <a:latin typeface="Helvetica Neue"/>
                <a:ea typeface="Helvetica Neue"/>
                <a:cs typeface="Helvetica Neue"/>
                <a:sym typeface="Helvetica Neue"/>
              </a:rPr>
              <a:t>: Part of ICANN, IANA coordinates key technical aspects of DNS, including the root zone file. It assigns IP address blocks, manages root servers, and designates top-level domains (TLDs).</a:t>
            </a:r>
            <a:endParaRPr sz="1700">
              <a:solidFill>
                <a:srgbClr val="434343"/>
              </a:solidFill>
              <a:latin typeface="Helvetica Neue"/>
              <a:ea typeface="Helvetica Neue"/>
              <a:cs typeface="Helvetica Neue"/>
              <a:sym typeface="Helvetica Neue"/>
            </a:endParaRPr>
          </a:p>
          <a:p>
            <a:pPr indent="-336550" lvl="0" marL="457200" rtl="0" algn="l">
              <a:lnSpc>
                <a:spcPct val="115000"/>
              </a:lnSpc>
              <a:spcBef>
                <a:spcPts val="0"/>
              </a:spcBef>
              <a:spcAft>
                <a:spcPts val="0"/>
              </a:spcAft>
              <a:buClr>
                <a:srgbClr val="434343"/>
              </a:buClr>
              <a:buSzPts val="1700"/>
              <a:buFont typeface="Helvetica Neue"/>
              <a:buChar char="●"/>
            </a:pPr>
            <a:r>
              <a:rPr b="1" lang="fr" sz="1700">
                <a:solidFill>
                  <a:srgbClr val="434343"/>
                </a:solidFill>
                <a:latin typeface="Helvetica Neue"/>
                <a:ea typeface="Helvetica Neue"/>
                <a:cs typeface="Helvetica Neue"/>
                <a:sym typeface="Helvetica Neue"/>
              </a:rPr>
              <a:t>Registry Operators:</a:t>
            </a:r>
            <a:r>
              <a:rPr lang="fr" sz="1700">
                <a:solidFill>
                  <a:srgbClr val="434343"/>
                </a:solidFill>
                <a:latin typeface="Helvetica Neue"/>
                <a:ea typeface="Helvetica Neue"/>
                <a:cs typeface="Helvetica Neue"/>
                <a:sym typeface="Helvetica Neue"/>
              </a:rPr>
              <a:t> Responsible for specific TLDs (like Verisign for .com), they maintain the records of domains under each TLD.</a:t>
            </a:r>
            <a:endParaRPr sz="1700">
              <a:solidFill>
                <a:srgbClr val="434343"/>
              </a:solidFill>
              <a:latin typeface="Helvetica Neue"/>
              <a:ea typeface="Helvetica Neue"/>
              <a:cs typeface="Helvetica Neue"/>
              <a:sym typeface="Helvetica Neue"/>
            </a:endParaRPr>
          </a:p>
          <a:p>
            <a:pPr indent="-336550" lvl="0" marL="457200" rtl="0" algn="l">
              <a:lnSpc>
                <a:spcPct val="115000"/>
              </a:lnSpc>
              <a:spcBef>
                <a:spcPts val="0"/>
              </a:spcBef>
              <a:spcAft>
                <a:spcPts val="0"/>
              </a:spcAft>
              <a:buClr>
                <a:srgbClr val="434343"/>
              </a:buClr>
              <a:buSzPts val="1700"/>
              <a:buFont typeface="Helvetica Neue"/>
              <a:buChar char="●"/>
            </a:pPr>
            <a:r>
              <a:rPr b="1" lang="fr" sz="1700">
                <a:solidFill>
                  <a:srgbClr val="434343"/>
                </a:solidFill>
                <a:latin typeface="Helvetica Neue"/>
                <a:ea typeface="Helvetica Neue"/>
                <a:cs typeface="Helvetica Neue"/>
                <a:sym typeface="Helvetica Neue"/>
              </a:rPr>
              <a:t>Registrars: </a:t>
            </a:r>
            <a:r>
              <a:rPr lang="fr" sz="1700">
                <a:solidFill>
                  <a:srgbClr val="434343"/>
                </a:solidFill>
                <a:latin typeface="Helvetica Neue"/>
                <a:ea typeface="Helvetica Neue"/>
                <a:cs typeface="Helvetica Neue"/>
                <a:sym typeface="Helvetica Neue"/>
              </a:rPr>
              <a:t>Accredited companies (e.g., GoDaddy) that allow individuals and organizations to register domain names.</a:t>
            </a:r>
            <a:endParaRPr sz="1700">
              <a:solidFill>
                <a:srgbClr val="434343"/>
              </a:solidFill>
              <a:latin typeface="Helvetica Neue"/>
              <a:ea typeface="Helvetica Neue"/>
              <a:cs typeface="Helvetica Neue"/>
              <a:sym typeface="Helvetica Neue"/>
            </a:endParaRPr>
          </a:p>
          <a:p>
            <a:pPr indent="-336550" lvl="0" marL="457200" rtl="0" algn="l">
              <a:lnSpc>
                <a:spcPct val="115000"/>
              </a:lnSpc>
              <a:spcBef>
                <a:spcPts val="0"/>
              </a:spcBef>
              <a:spcAft>
                <a:spcPts val="0"/>
              </a:spcAft>
              <a:buClr>
                <a:srgbClr val="434343"/>
              </a:buClr>
              <a:buSzPts val="1700"/>
              <a:buFont typeface="Helvetica Neue"/>
              <a:buChar char="●"/>
            </a:pPr>
            <a:r>
              <a:rPr b="1" lang="fr" sz="1700">
                <a:solidFill>
                  <a:srgbClr val="434343"/>
                </a:solidFill>
                <a:latin typeface="Helvetica Neue"/>
                <a:ea typeface="Helvetica Neue"/>
                <a:cs typeface="Helvetica Neue"/>
                <a:sym typeface="Helvetica Neue"/>
              </a:rPr>
              <a:t>ISPs and Network Admins</a:t>
            </a:r>
            <a:r>
              <a:rPr lang="fr" sz="1700">
                <a:solidFill>
                  <a:srgbClr val="434343"/>
                </a:solidFill>
                <a:latin typeface="Helvetica Neue"/>
                <a:ea typeface="Helvetica Neue"/>
                <a:cs typeface="Helvetica Neue"/>
                <a:sym typeface="Helvetica Neue"/>
              </a:rPr>
              <a:t>: Provide local DNS servers, translating domain names to IP addresses for end-users.</a:t>
            </a:r>
            <a:endParaRPr sz="1700">
              <a:solidFill>
                <a:srgbClr val="434343"/>
              </a:solidFill>
              <a:latin typeface="Helvetica Neue"/>
              <a:ea typeface="Helvetica Neue"/>
              <a:cs typeface="Helvetica Neue"/>
              <a:sym typeface="Helvetica Neue"/>
            </a:endParaRPr>
          </a:p>
        </p:txBody>
      </p:sp>
      <p:sp>
        <p:nvSpPr>
          <p:cNvPr id="270" name="Google Shape;270;p30"/>
          <p:cNvSpPr txBox="1"/>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3000">
                <a:solidFill>
                  <a:srgbClr val="434343"/>
                </a:solidFill>
                <a:latin typeface="Helvetica Neue"/>
                <a:ea typeface="Helvetica Neue"/>
                <a:cs typeface="Helvetica Neue"/>
                <a:sym typeface="Helvetica Neue"/>
              </a:rPr>
              <a:t>Who is responsible for DNS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31"/>
          <p:cNvGrpSpPr/>
          <p:nvPr/>
        </p:nvGrpSpPr>
        <p:grpSpPr>
          <a:xfrm>
            <a:off x="5884460" y="2705555"/>
            <a:ext cx="2735609" cy="1969596"/>
            <a:chOff x="830400" y="3274596"/>
            <a:chExt cx="2501700" cy="1353953"/>
          </a:xfrm>
        </p:grpSpPr>
        <p:sp>
          <p:nvSpPr>
            <p:cNvPr id="277" name="Google Shape;277;p31"/>
            <p:cNvSpPr/>
            <p:nvPr/>
          </p:nvSpPr>
          <p:spPr>
            <a:xfrm>
              <a:off x="830400" y="3360750"/>
              <a:ext cx="2501700" cy="1267800"/>
            </a:xfrm>
            <a:prstGeom prst="rect">
              <a:avLst/>
            </a:prstGeom>
            <a:solidFill>
              <a:srgbClr val="C0D7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78" name="Google Shape;278;p31"/>
            <p:cNvSpPr/>
            <p:nvPr/>
          </p:nvSpPr>
          <p:spPr>
            <a:xfrm>
              <a:off x="1059092" y="3274596"/>
              <a:ext cx="219600" cy="93600"/>
            </a:xfrm>
            <a:prstGeom prst="triangle">
              <a:avLst>
                <a:gd fmla="val 50000" name="adj"/>
              </a:avLst>
            </a:prstGeom>
            <a:solidFill>
              <a:srgbClr val="C0D7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grpSp>
      <p:grpSp>
        <p:nvGrpSpPr>
          <p:cNvPr id="279" name="Google Shape;279;p31"/>
          <p:cNvGrpSpPr/>
          <p:nvPr/>
        </p:nvGrpSpPr>
        <p:grpSpPr>
          <a:xfrm flipH="1">
            <a:off x="3150854" y="2720631"/>
            <a:ext cx="2735609" cy="1954539"/>
            <a:chOff x="824381" y="3274596"/>
            <a:chExt cx="2501700" cy="1343603"/>
          </a:xfrm>
        </p:grpSpPr>
        <p:sp>
          <p:nvSpPr>
            <p:cNvPr id="280" name="Google Shape;280;p31"/>
            <p:cNvSpPr/>
            <p:nvPr/>
          </p:nvSpPr>
          <p:spPr>
            <a:xfrm flipH="1" rot="10800000">
              <a:off x="824381" y="3350399"/>
              <a:ext cx="2501700" cy="1267800"/>
            </a:xfrm>
            <a:prstGeom prst="rect">
              <a:avLst/>
            </a:prstGeom>
            <a:solidFill>
              <a:srgbClr val="B2C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81" name="Google Shape;281;p31"/>
            <p:cNvSpPr/>
            <p:nvPr/>
          </p:nvSpPr>
          <p:spPr>
            <a:xfrm>
              <a:off x="1059092" y="3274596"/>
              <a:ext cx="219600" cy="93600"/>
            </a:xfrm>
            <a:prstGeom prst="triangle">
              <a:avLst>
                <a:gd fmla="val 50000" name="adj"/>
              </a:avLst>
            </a:prstGeom>
            <a:solidFill>
              <a:srgbClr val="B2C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grpSp>
      <p:grpSp>
        <p:nvGrpSpPr>
          <p:cNvPr id="282" name="Google Shape;282;p31"/>
          <p:cNvGrpSpPr/>
          <p:nvPr/>
        </p:nvGrpSpPr>
        <p:grpSpPr>
          <a:xfrm rot="10800000">
            <a:off x="5887596" y="984144"/>
            <a:ext cx="2735609" cy="1954539"/>
            <a:chOff x="824381" y="3274596"/>
            <a:chExt cx="2501700" cy="1343603"/>
          </a:xfrm>
        </p:grpSpPr>
        <p:sp>
          <p:nvSpPr>
            <p:cNvPr id="283" name="Google Shape;283;p31"/>
            <p:cNvSpPr/>
            <p:nvPr/>
          </p:nvSpPr>
          <p:spPr>
            <a:xfrm flipH="1" rot="10800000">
              <a:off x="824381" y="3350399"/>
              <a:ext cx="2501700" cy="1267800"/>
            </a:xfrm>
            <a:prstGeom prst="rect">
              <a:avLst/>
            </a:prstGeom>
            <a:solidFill>
              <a:srgbClr val="B2C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84" name="Google Shape;284;p31"/>
            <p:cNvSpPr/>
            <p:nvPr/>
          </p:nvSpPr>
          <p:spPr>
            <a:xfrm>
              <a:off x="1059092" y="3274596"/>
              <a:ext cx="219600" cy="93600"/>
            </a:xfrm>
            <a:prstGeom prst="triangle">
              <a:avLst>
                <a:gd fmla="val 50000" name="adj"/>
              </a:avLst>
            </a:prstGeom>
            <a:solidFill>
              <a:srgbClr val="B2C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grpSp>
      <p:sp>
        <p:nvSpPr>
          <p:cNvPr id="285" name="Google Shape;285;p31"/>
          <p:cNvSpPr txBox="1"/>
          <p:nvPr/>
        </p:nvSpPr>
        <p:spPr>
          <a:xfrm>
            <a:off x="449765" y="1459818"/>
            <a:ext cx="641400" cy="136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600"/>
              </a:spcAft>
              <a:buNone/>
            </a:pPr>
            <a:r>
              <a:rPr lang="fr" sz="1200">
                <a:solidFill>
                  <a:schemeClr val="lt1"/>
                </a:solidFill>
                <a:latin typeface="Helvetica Neue Light"/>
                <a:ea typeface="Helvetica Neue Light"/>
                <a:cs typeface="Helvetica Neue Light"/>
                <a:sym typeface="Helvetica Neue Light"/>
              </a:rPr>
              <a:t>01 </a:t>
            </a:r>
            <a:endParaRPr sz="1200">
              <a:solidFill>
                <a:schemeClr val="lt1"/>
              </a:solidFill>
              <a:latin typeface="Helvetica Neue Light"/>
              <a:ea typeface="Helvetica Neue Light"/>
              <a:cs typeface="Helvetica Neue Light"/>
              <a:sym typeface="Helvetica Neue Light"/>
            </a:endParaRPr>
          </a:p>
        </p:txBody>
      </p:sp>
      <p:grpSp>
        <p:nvGrpSpPr>
          <p:cNvPr id="286" name="Google Shape;286;p31"/>
          <p:cNvGrpSpPr/>
          <p:nvPr/>
        </p:nvGrpSpPr>
        <p:grpSpPr>
          <a:xfrm>
            <a:off x="414266" y="2705555"/>
            <a:ext cx="2735609" cy="1969596"/>
            <a:chOff x="830400" y="3274596"/>
            <a:chExt cx="2501700" cy="1353953"/>
          </a:xfrm>
        </p:grpSpPr>
        <p:sp>
          <p:nvSpPr>
            <p:cNvPr id="287" name="Google Shape;287;p31"/>
            <p:cNvSpPr/>
            <p:nvPr/>
          </p:nvSpPr>
          <p:spPr>
            <a:xfrm>
              <a:off x="830400" y="3360750"/>
              <a:ext cx="2501700" cy="1267800"/>
            </a:xfrm>
            <a:prstGeom prst="rect">
              <a:avLst/>
            </a:prstGeom>
            <a:solidFill>
              <a:srgbClr val="C0D7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88" name="Google Shape;288;p31"/>
            <p:cNvSpPr/>
            <p:nvPr/>
          </p:nvSpPr>
          <p:spPr>
            <a:xfrm>
              <a:off x="1059092" y="3274596"/>
              <a:ext cx="219600" cy="93600"/>
            </a:xfrm>
            <a:prstGeom prst="triangle">
              <a:avLst>
                <a:gd fmla="val 50000" name="adj"/>
              </a:avLst>
            </a:prstGeom>
            <a:solidFill>
              <a:srgbClr val="C0D7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grpSp>
      <p:sp>
        <p:nvSpPr>
          <p:cNvPr id="289" name="Google Shape;289;p31"/>
          <p:cNvSpPr txBox="1"/>
          <p:nvPr>
            <p:ph type="title"/>
          </p:nvPr>
        </p:nvSpPr>
        <p:spPr>
          <a:xfrm>
            <a:off x="564425" y="2904150"/>
            <a:ext cx="2585100" cy="35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fr" sz="1200">
                <a:solidFill>
                  <a:srgbClr val="006A7E"/>
                </a:solidFill>
              </a:rPr>
              <a:t>unsponsored top-level domains</a:t>
            </a:r>
            <a:endParaRPr b="1" sz="1200">
              <a:solidFill>
                <a:srgbClr val="006A7E"/>
              </a:solidFill>
            </a:endParaRPr>
          </a:p>
        </p:txBody>
      </p:sp>
      <p:sp>
        <p:nvSpPr>
          <p:cNvPr id="290" name="Google Shape;290;p31"/>
          <p:cNvSpPr txBox="1"/>
          <p:nvPr>
            <p:ph idx="1" type="body"/>
          </p:nvPr>
        </p:nvSpPr>
        <p:spPr>
          <a:xfrm>
            <a:off x="564273" y="3412669"/>
            <a:ext cx="2447700" cy="94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1200">
                <a:solidFill>
                  <a:srgbClr val="006A7E"/>
                </a:solidFill>
              </a:rPr>
              <a:t>Domains that operate directly under policies established by ICANN processes for the global Internet community, for example "edu".</a:t>
            </a:r>
            <a:endParaRPr sz="1200">
              <a:solidFill>
                <a:srgbClr val="006A7E"/>
              </a:solidFill>
            </a:endParaRPr>
          </a:p>
        </p:txBody>
      </p:sp>
      <p:grpSp>
        <p:nvGrpSpPr>
          <p:cNvPr id="291" name="Google Shape;291;p31"/>
          <p:cNvGrpSpPr/>
          <p:nvPr/>
        </p:nvGrpSpPr>
        <p:grpSpPr>
          <a:xfrm flipH="1" rot="10800000">
            <a:off x="3150863" y="984153"/>
            <a:ext cx="2735609" cy="1969596"/>
            <a:chOff x="830400" y="3274596"/>
            <a:chExt cx="2501700" cy="1353953"/>
          </a:xfrm>
        </p:grpSpPr>
        <p:sp>
          <p:nvSpPr>
            <p:cNvPr id="292" name="Google Shape;292;p31"/>
            <p:cNvSpPr/>
            <p:nvPr/>
          </p:nvSpPr>
          <p:spPr>
            <a:xfrm>
              <a:off x="830400" y="3360750"/>
              <a:ext cx="2501700" cy="1267800"/>
            </a:xfrm>
            <a:prstGeom prst="rect">
              <a:avLst/>
            </a:prstGeom>
            <a:solidFill>
              <a:srgbClr val="C0D7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93" name="Google Shape;293;p31"/>
            <p:cNvSpPr/>
            <p:nvPr/>
          </p:nvSpPr>
          <p:spPr>
            <a:xfrm>
              <a:off x="1059092" y="3274596"/>
              <a:ext cx="219600" cy="93600"/>
            </a:xfrm>
            <a:prstGeom prst="triangle">
              <a:avLst>
                <a:gd fmla="val 50000" name="adj"/>
              </a:avLst>
            </a:prstGeom>
            <a:solidFill>
              <a:srgbClr val="C0D7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grpSp>
      <p:sp>
        <p:nvSpPr>
          <p:cNvPr id="294" name="Google Shape;294;p31"/>
          <p:cNvSpPr txBox="1"/>
          <p:nvPr>
            <p:ph type="title"/>
          </p:nvPr>
        </p:nvSpPr>
        <p:spPr>
          <a:xfrm>
            <a:off x="3306087" y="936369"/>
            <a:ext cx="2447700" cy="625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fr" sz="1200">
                <a:solidFill>
                  <a:srgbClr val="006A7E"/>
                </a:solidFill>
              </a:rPr>
              <a:t>internationalized country code top-level domains (IDN ccTLD)</a:t>
            </a:r>
            <a:endParaRPr b="1" sz="1200">
              <a:solidFill>
                <a:srgbClr val="006A7E"/>
              </a:solidFill>
            </a:endParaRPr>
          </a:p>
        </p:txBody>
      </p:sp>
      <p:sp>
        <p:nvSpPr>
          <p:cNvPr id="295" name="Google Shape;295;p31"/>
          <p:cNvSpPr txBox="1"/>
          <p:nvPr>
            <p:ph idx="1" type="body"/>
          </p:nvPr>
        </p:nvSpPr>
        <p:spPr>
          <a:xfrm>
            <a:off x="3294646" y="1733606"/>
            <a:ext cx="2447700" cy="94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800"/>
              <a:buFont typeface="Arial"/>
              <a:buNone/>
            </a:pPr>
            <a:r>
              <a:rPr lang="fr" sz="1200">
                <a:solidFill>
                  <a:srgbClr val="006A7E"/>
                </a:solidFill>
              </a:rPr>
              <a:t>ccTLDs in non-Latin character sets (e.g., Arabic or Chinese).</a:t>
            </a:r>
            <a:endParaRPr sz="1200">
              <a:solidFill>
                <a:srgbClr val="006A7E"/>
              </a:solidFill>
            </a:endParaRPr>
          </a:p>
          <a:p>
            <a:pPr indent="0" lvl="0" marL="0" rtl="0" algn="l">
              <a:lnSpc>
                <a:spcPct val="115000"/>
              </a:lnSpc>
              <a:spcBef>
                <a:spcPts val="1200"/>
              </a:spcBef>
              <a:spcAft>
                <a:spcPts val="0"/>
              </a:spcAft>
              <a:buClr>
                <a:schemeClr val="dk1"/>
              </a:buClr>
              <a:buSzPts val="800"/>
              <a:buFont typeface="Arial"/>
              <a:buNone/>
            </a:pPr>
            <a:r>
              <a:t/>
            </a:r>
            <a:endParaRPr sz="1200">
              <a:solidFill>
                <a:srgbClr val="006A7E"/>
              </a:solidFill>
            </a:endParaRPr>
          </a:p>
          <a:p>
            <a:pPr indent="0" lvl="0" marL="0" rtl="0" algn="l">
              <a:lnSpc>
                <a:spcPct val="115000"/>
              </a:lnSpc>
              <a:spcBef>
                <a:spcPts val="1200"/>
              </a:spcBef>
              <a:spcAft>
                <a:spcPts val="1200"/>
              </a:spcAft>
              <a:buNone/>
            </a:pPr>
            <a:r>
              <a:t/>
            </a:r>
            <a:endParaRPr sz="1200">
              <a:solidFill>
                <a:srgbClr val="006A7E"/>
              </a:solidFill>
            </a:endParaRPr>
          </a:p>
        </p:txBody>
      </p:sp>
      <p:sp>
        <p:nvSpPr>
          <p:cNvPr id="296" name="Google Shape;296;p31"/>
          <p:cNvSpPr txBox="1"/>
          <p:nvPr>
            <p:ph type="title"/>
          </p:nvPr>
        </p:nvSpPr>
        <p:spPr>
          <a:xfrm>
            <a:off x="6025052" y="2568698"/>
            <a:ext cx="2447700" cy="625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fr" sz="1200" u="sng">
                <a:solidFill>
                  <a:schemeClr val="hlink"/>
                </a:solidFill>
                <a:hlinkClick r:id="rId3"/>
              </a:rPr>
              <a:t>Special-Use top-level domain</a:t>
            </a:r>
            <a:endParaRPr b="1" sz="1200">
              <a:solidFill>
                <a:srgbClr val="006A7E"/>
              </a:solidFill>
            </a:endParaRPr>
          </a:p>
        </p:txBody>
      </p:sp>
      <p:sp>
        <p:nvSpPr>
          <p:cNvPr id="297" name="Google Shape;297;p31"/>
          <p:cNvSpPr txBox="1"/>
          <p:nvPr>
            <p:ph idx="1" type="body"/>
          </p:nvPr>
        </p:nvSpPr>
        <p:spPr>
          <a:xfrm>
            <a:off x="6024909" y="3423085"/>
            <a:ext cx="2447700" cy="94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800"/>
              <a:buFont typeface="Arial"/>
              <a:buNone/>
            </a:pPr>
            <a:r>
              <a:rPr lang="fr" sz="1200">
                <a:solidFill>
                  <a:srgbClr val="006A7E"/>
                </a:solidFill>
              </a:rPr>
              <a:t>This group consists of Address and Routing Parameter Area (ARPA), Private TLD (corp, local, etc) or specific TLD such as TOR .onion</a:t>
            </a:r>
            <a:endParaRPr sz="1200">
              <a:solidFill>
                <a:srgbClr val="006A7E"/>
              </a:solidFill>
            </a:endParaRPr>
          </a:p>
          <a:p>
            <a:pPr indent="0" lvl="0" marL="0" rtl="0" algn="l">
              <a:lnSpc>
                <a:spcPct val="115000"/>
              </a:lnSpc>
              <a:spcBef>
                <a:spcPts val="1200"/>
              </a:spcBef>
              <a:spcAft>
                <a:spcPts val="0"/>
              </a:spcAft>
              <a:buClr>
                <a:schemeClr val="dk1"/>
              </a:buClr>
              <a:buSzPts val="800"/>
              <a:buFont typeface="Arial"/>
              <a:buNone/>
            </a:pPr>
            <a:r>
              <a:t/>
            </a:r>
            <a:endParaRPr sz="1200">
              <a:solidFill>
                <a:srgbClr val="006A7E"/>
              </a:solidFill>
            </a:endParaRPr>
          </a:p>
          <a:p>
            <a:pPr indent="0" lvl="0" marL="0" rtl="0" algn="l">
              <a:lnSpc>
                <a:spcPct val="115000"/>
              </a:lnSpc>
              <a:spcBef>
                <a:spcPts val="1200"/>
              </a:spcBef>
              <a:spcAft>
                <a:spcPts val="1200"/>
              </a:spcAft>
              <a:buNone/>
            </a:pPr>
            <a:r>
              <a:t/>
            </a:r>
            <a:endParaRPr sz="1200">
              <a:solidFill>
                <a:srgbClr val="006A7E"/>
              </a:solidFill>
            </a:endParaRPr>
          </a:p>
        </p:txBody>
      </p:sp>
      <p:grpSp>
        <p:nvGrpSpPr>
          <p:cNvPr id="298" name="Google Shape;298;p31"/>
          <p:cNvGrpSpPr/>
          <p:nvPr/>
        </p:nvGrpSpPr>
        <p:grpSpPr>
          <a:xfrm rot="10800000">
            <a:off x="413947" y="984144"/>
            <a:ext cx="2735609" cy="1954539"/>
            <a:chOff x="824381" y="3274596"/>
            <a:chExt cx="2501700" cy="1343603"/>
          </a:xfrm>
        </p:grpSpPr>
        <p:sp>
          <p:nvSpPr>
            <p:cNvPr id="299" name="Google Shape;299;p31"/>
            <p:cNvSpPr/>
            <p:nvPr/>
          </p:nvSpPr>
          <p:spPr>
            <a:xfrm flipH="1" rot="10800000">
              <a:off x="824381" y="3350399"/>
              <a:ext cx="2501700" cy="1267800"/>
            </a:xfrm>
            <a:prstGeom prst="rect">
              <a:avLst/>
            </a:prstGeom>
            <a:solidFill>
              <a:srgbClr val="B2C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300" name="Google Shape;300;p31"/>
            <p:cNvSpPr/>
            <p:nvPr/>
          </p:nvSpPr>
          <p:spPr>
            <a:xfrm>
              <a:off x="1059092" y="3274596"/>
              <a:ext cx="219600" cy="93600"/>
            </a:xfrm>
            <a:prstGeom prst="triangle">
              <a:avLst>
                <a:gd fmla="val 50000" name="adj"/>
              </a:avLst>
            </a:prstGeom>
            <a:solidFill>
              <a:srgbClr val="B2C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grpSp>
      <p:sp>
        <p:nvSpPr>
          <p:cNvPr id="301" name="Google Shape;301;p31"/>
          <p:cNvSpPr txBox="1"/>
          <p:nvPr>
            <p:ph type="title"/>
          </p:nvPr>
        </p:nvSpPr>
        <p:spPr>
          <a:xfrm>
            <a:off x="575619" y="921304"/>
            <a:ext cx="2447700" cy="625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fr" sz="1200">
                <a:solidFill>
                  <a:schemeClr val="lt1"/>
                </a:solidFill>
              </a:rPr>
              <a:t>country-code top-level domains (ccTLD)</a:t>
            </a:r>
            <a:endParaRPr b="1" sz="1200">
              <a:solidFill>
                <a:schemeClr val="lt1"/>
              </a:solidFill>
            </a:endParaRPr>
          </a:p>
        </p:txBody>
      </p:sp>
      <p:sp>
        <p:nvSpPr>
          <p:cNvPr id="302" name="Google Shape;302;p31"/>
          <p:cNvSpPr txBox="1"/>
          <p:nvPr>
            <p:ph idx="1" type="body"/>
          </p:nvPr>
        </p:nvSpPr>
        <p:spPr>
          <a:xfrm>
            <a:off x="564175" y="1642352"/>
            <a:ext cx="2447700" cy="1185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800"/>
              <a:buFont typeface="Arial"/>
              <a:buNone/>
            </a:pPr>
            <a:r>
              <a:rPr lang="fr" sz="1200">
                <a:solidFill>
                  <a:schemeClr val="lt1"/>
                </a:solidFill>
              </a:rPr>
              <a:t>Two-character domains established for countries or territories. Example: .us for United States. .ca, .uk, .ae, and .fr are all ccTLDs.</a:t>
            </a:r>
            <a:endParaRPr sz="1200">
              <a:solidFill>
                <a:schemeClr val="lt1"/>
              </a:solidFill>
            </a:endParaRPr>
          </a:p>
        </p:txBody>
      </p:sp>
      <p:sp>
        <p:nvSpPr>
          <p:cNvPr id="303" name="Google Shape;303;p31"/>
          <p:cNvSpPr txBox="1"/>
          <p:nvPr>
            <p:ph type="title"/>
          </p:nvPr>
        </p:nvSpPr>
        <p:spPr>
          <a:xfrm>
            <a:off x="3236325" y="2769183"/>
            <a:ext cx="2447700" cy="625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fr" sz="1200">
                <a:solidFill>
                  <a:schemeClr val="lt1"/>
                </a:solidFill>
              </a:rPr>
              <a:t>sponsored top-level domains (sTLD)</a:t>
            </a:r>
            <a:endParaRPr b="1" sz="1200">
              <a:solidFill>
                <a:schemeClr val="lt1"/>
              </a:solidFill>
            </a:endParaRPr>
          </a:p>
        </p:txBody>
      </p:sp>
      <p:sp>
        <p:nvSpPr>
          <p:cNvPr id="304" name="Google Shape;304;p31"/>
          <p:cNvSpPr txBox="1"/>
          <p:nvPr>
            <p:ph type="title"/>
          </p:nvPr>
        </p:nvSpPr>
        <p:spPr>
          <a:xfrm>
            <a:off x="6049268" y="1149904"/>
            <a:ext cx="2447700" cy="62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rPr b="1" lang="fr" sz="1200">
                <a:solidFill>
                  <a:schemeClr val="lt1"/>
                </a:solidFill>
              </a:rPr>
              <a:t>generic top-level domains (gTLD)</a:t>
            </a:r>
            <a:endParaRPr b="1" sz="1200">
              <a:solidFill>
                <a:schemeClr val="lt1"/>
              </a:solidFill>
            </a:endParaRPr>
          </a:p>
          <a:p>
            <a:pPr indent="0" lvl="0" marL="0" rtl="0" algn="l">
              <a:spcBef>
                <a:spcPts val="0"/>
              </a:spcBef>
              <a:spcAft>
                <a:spcPts val="0"/>
              </a:spcAft>
              <a:buNone/>
            </a:pPr>
            <a:r>
              <a:t/>
            </a:r>
            <a:endParaRPr sz="1200">
              <a:solidFill>
                <a:schemeClr val="lt1"/>
              </a:solidFill>
            </a:endParaRPr>
          </a:p>
        </p:txBody>
      </p:sp>
      <p:sp>
        <p:nvSpPr>
          <p:cNvPr id="305" name="Google Shape;305;p31"/>
          <p:cNvSpPr txBox="1"/>
          <p:nvPr>
            <p:ph idx="1" type="body"/>
          </p:nvPr>
        </p:nvSpPr>
        <p:spPr>
          <a:xfrm>
            <a:off x="6088062" y="1739393"/>
            <a:ext cx="2447700" cy="94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1200">
                <a:solidFill>
                  <a:schemeClr val="lt1"/>
                </a:solidFill>
              </a:rPr>
              <a:t>Top-level domains with three or more characters which include the generic .com, .net, .gov, .org, and more.</a:t>
            </a:r>
            <a:endParaRPr sz="1200">
              <a:solidFill>
                <a:schemeClr val="lt1"/>
              </a:solidFill>
            </a:endParaRPr>
          </a:p>
        </p:txBody>
      </p:sp>
      <p:sp>
        <p:nvSpPr>
          <p:cNvPr id="306" name="Google Shape;306;p31"/>
          <p:cNvSpPr txBox="1"/>
          <p:nvPr>
            <p:ph idx="1" type="body"/>
          </p:nvPr>
        </p:nvSpPr>
        <p:spPr>
          <a:xfrm>
            <a:off x="3198325" y="3283547"/>
            <a:ext cx="2686200" cy="94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1200">
                <a:solidFill>
                  <a:schemeClr val="lt1"/>
                </a:solidFill>
              </a:rPr>
              <a:t>These domains are proposed and sponsored by private organizations that decide whether an applicant is eligible to use the TLD, based on community theme concepts. Include .airbus, .museum, .travel, etc</a:t>
            </a:r>
            <a:endParaRPr sz="1200">
              <a:solidFill>
                <a:schemeClr val="lt1"/>
              </a:solidFill>
              <a:latin typeface="Helvetica Neue Light"/>
              <a:ea typeface="Helvetica Neue Light"/>
              <a:cs typeface="Helvetica Neue Light"/>
              <a:sym typeface="Helvetica Neue Light"/>
            </a:endParaRPr>
          </a:p>
        </p:txBody>
      </p:sp>
      <p:sp>
        <p:nvSpPr>
          <p:cNvPr id="307" name="Google Shape;307;p31"/>
          <p:cNvSpPr txBox="1"/>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IANA type of TLDs</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32"/>
          <p:cNvPicPr preferRelativeResize="0"/>
          <p:nvPr/>
        </p:nvPicPr>
        <p:blipFill rotWithShape="1">
          <a:blip r:embed="rId3">
            <a:alphaModFix/>
          </a:blip>
          <a:srcRect b="0" l="0" r="2685" t="0"/>
          <a:stretch/>
        </p:blipFill>
        <p:spPr>
          <a:xfrm>
            <a:off x="1023019" y="1452094"/>
            <a:ext cx="6165581" cy="2539331"/>
          </a:xfrm>
          <a:prstGeom prst="rect">
            <a:avLst/>
          </a:prstGeom>
          <a:noFill/>
          <a:ln>
            <a:noFill/>
          </a:ln>
        </p:spPr>
      </p:pic>
      <p:sp>
        <p:nvSpPr>
          <p:cNvPr id="314" name="Google Shape;314;p32"/>
          <p:cNvSpPr txBox="1"/>
          <p:nvPr/>
        </p:nvSpPr>
        <p:spPr>
          <a:xfrm>
            <a:off x="6908719" y="2424713"/>
            <a:ext cx="2250000" cy="634950"/>
          </a:xfrm>
          <a:prstGeom prst="rect">
            <a:avLst/>
          </a:prstGeom>
          <a:noFill/>
          <a:ln>
            <a:noFill/>
          </a:ln>
        </p:spPr>
        <p:txBody>
          <a:bodyPr anchorCtr="0" anchor="t" bIns="68575" lIns="68575" spcFirstLastPara="1" rIns="68575" wrap="square" tIns="68575">
            <a:spAutoFit/>
          </a:bodyPr>
          <a:lstStyle/>
          <a:p>
            <a:pPr indent="0" lvl="0" marL="342900" marR="0" rtl="0" algn="l">
              <a:lnSpc>
                <a:spcPct val="115000"/>
              </a:lnSpc>
              <a:spcBef>
                <a:spcPts val="900"/>
              </a:spcBef>
              <a:spcAft>
                <a:spcPts val="900"/>
              </a:spcAft>
              <a:buClr>
                <a:srgbClr val="000000"/>
              </a:buClr>
              <a:buSzPts val="1500"/>
              <a:buFont typeface="Arial"/>
              <a:buNone/>
            </a:pPr>
            <a:r>
              <a:rPr b="1" i="0" lang="fr" sz="1500" u="none" cap="none" strike="noStrike">
                <a:solidFill>
                  <a:schemeClr val="dk2"/>
                </a:solidFill>
                <a:highlight>
                  <a:schemeClr val="lt1"/>
                </a:highlight>
                <a:latin typeface="Helvetica Neue"/>
                <a:ea typeface="Helvetica Neue"/>
                <a:cs typeface="Helvetica Neue"/>
                <a:sym typeface="Helvetica Neue"/>
              </a:rPr>
              <a:t>Root</a:t>
            </a:r>
            <a:r>
              <a:rPr b="0" i="0" lang="fr" sz="1500" u="none" cap="none" strike="noStrike">
                <a:solidFill>
                  <a:schemeClr val="dk2"/>
                </a:solidFill>
                <a:highlight>
                  <a:schemeClr val="lt1"/>
                </a:highlight>
                <a:latin typeface="Helvetica Neue"/>
                <a:ea typeface="Helvetica Neue"/>
                <a:cs typeface="Helvetica Neue"/>
                <a:sym typeface="Helvetica Neue"/>
              </a:rPr>
              <a:t> domain is the highest domain : “.”</a:t>
            </a:r>
            <a:endParaRPr b="0" i="0" sz="1500" u="none" cap="none" strike="noStrike">
              <a:solidFill>
                <a:schemeClr val="dk2"/>
              </a:solidFill>
              <a:highlight>
                <a:schemeClr val="lt1"/>
              </a:highlight>
              <a:latin typeface="Helvetica Neue"/>
              <a:ea typeface="Helvetica Neue"/>
              <a:cs typeface="Helvetica Neue"/>
              <a:sym typeface="Helvetica Neue"/>
            </a:endParaRPr>
          </a:p>
        </p:txBody>
      </p:sp>
      <p:sp>
        <p:nvSpPr>
          <p:cNvPr id="315" name="Google Shape;315;p32"/>
          <p:cNvSpPr txBox="1"/>
          <p:nvPr/>
        </p:nvSpPr>
        <p:spPr>
          <a:xfrm>
            <a:off x="5762700" y="3548119"/>
            <a:ext cx="3040200" cy="634950"/>
          </a:xfrm>
          <a:prstGeom prst="rect">
            <a:avLst/>
          </a:prstGeom>
          <a:noFill/>
          <a:ln>
            <a:noFill/>
          </a:ln>
        </p:spPr>
        <p:txBody>
          <a:bodyPr anchorCtr="0" anchor="t" bIns="68575" lIns="68575" spcFirstLastPara="1" rIns="68575" wrap="square" tIns="68575">
            <a:spAutoFit/>
          </a:bodyPr>
          <a:lstStyle/>
          <a:p>
            <a:pPr indent="0" lvl="0" marL="342900" marR="0" rtl="0" algn="l">
              <a:lnSpc>
                <a:spcPct val="115000"/>
              </a:lnSpc>
              <a:spcBef>
                <a:spcPts val="900"/>
              </a:spcBef>
              <a:spcAft>
                <a:spcPts val="900"/>
              </a:spcAft>
              <a:buClr>
                <a:srgbClr val="000000"/>
              </a:buClr>
              <a:buSzPts val="1500"/>
              <a:buFont typeface="Arial"/>
              <a:buNone/>
            </a:pPr>
            <a:r>
              <a:rPr b="1" i="0" lang="fr" sz="1500" u="none" cap="none" strike="noStrike">
                <a:solidFill>
                  <a:schemeClr val="dk2"/>
                </a:solidFill>
                <a:latin typeface="Helvetica Neue"/>
                <a:ea typeface="Helvetica Neue"/>
                <a:cs typeface="Helvetica Neue"/>
                <a:sym typeface="Helvetica Neue"/>
              </a:rPr>
              <a:t>top-level domain</a:t>
            </a:r>
            <a:r>
              <a:rPr b="0" i="0" lang="fr" sz="1500" u="none" cap="none" strike="noStrike">
                <a:solidFill>
                  <a:schemeClr val="dk2"/>
                </a:solidFill>
                <a:latin typeface="Helvetica Neue"/>
                <a:ea typeface="Helvetica Neue"/>
                <a:cs typeface="Helvetica Neue"/>
                <a:sym typeface="Helvetica Neue"/>
              </a:rPr>
              <a:t> is the most general part of the domain</a:t>
            </a:r>
            <a:endParaRPr b="0" i="0" sz="1500" u="none" cap="none" strike="noStrike">
              <a:solidFill>
                <a:schemeClr val="dk2"/>
              </a:solidFill>
              <a:latin typeface="Helvetica Neue"/>
              <a:ea typeface="Helvetica Neue"/>
              <a:cs typeface="Helvetica Neue"/>
              <a:sym typeface="Helvetica Neue"/>
            </a:endParaRPr>
          </a:p>
        </p:txBody>
      </p:sp>
      <p:sp>
        <p:nvSpPr>
          <p:cNvPr id="316" name="Google Shape;316;p32"/>
          <p:cNvSpPr txBox="1"/>
          <p:nvPr/>
        </p:nvSpPr>
        <p:spPr>
          <a:xfrm>
            <a:off x="1948725" y="4298419"/>
            <a:ext cx="4823775" cy="634950"/>
          </a:xfrm>
          <a:prstGeom prst="rect">
            <a:avLst/>
          </a:prstGeom>
          <a:noFill/>
          <a:ln>
            <a:noFill/>
          </a:ln>
        </p:spPr>
        <p:txBody>
          <a:bodyPr anchorCtr="0" anchor="t" bIns="68575" lIns="68575" spcFirstLastPara="1" rIns="68575" wrap="square" tIns="68575">
            <a:spAutoFit/>
          </a:bodyPr>
          <a:lstStyle/>
          <a:p>
            <a:pPr indent="0" lvl="0" marL="342900" marR="0" rtl="0" algn="l">
              <a:lnSpc>
                <a:spcPct val="115000"/>
              </a:lnSpc>
              <a:spcBef>
                <a:spcPts val="900"/>
              </a:spcBef>
              <a:spcAft>
                <a:spcPts val="900"/>
              </a:spcAft>
              <a:buClr>
                <a:srgbClr val="000000"/>
              </a:buClr>
              <a:buSzPts val="1500"/>
              <a:buFont typeface="Arial"/>
              <a:buNone/>
            </a:pPr>
            <a:r>
              <a:rPr b="0" i="0" lang="fr" sz="1500" u="none" cap="none" strike="noStrike">
                <a:solidFill>
                  <a:schemeClr val="dk2"/>
                </a:solidFill>
                <a:latin typeface="Helvetica Neue"/>
                <a:ea typeface="Helvetica Neue"/>
                <a:cs typeface="Helvetica Neue"/>
                <a:sym typeface="Helvetica Neue"/>
              </a:rPr>
              <a:t>The </a:t>
            </a:r>
            <a:r>
              <a:rPr b="1" i="0" lang="fr" sz="1500" u="none" cap="none" strike="noStrike">
                <a:solidFill>
                  <a:schemeClr val="dk2"/>
                </a:solidFill>
                <a:latin typeface="Helvetica Neue"/>
                <a:ea typeface="Helvetica Neue"/>
                <a:cs typeface="Helvetica Neue"/>
                <a:sym typeface="Helvetica Neue"/>
              </a:rPr>
              <a:t>domain</a:t>
            </a:r>
            <a:r>
              <a:rPr b="0" i="0" lang="fr" sz="1500" u="none" cap="none" strike="noStrike">
                <a:solidFill>
                  <a:schemeClr val="dk2"/>
                </a:solidFill>
                <a:latin typeface="Helvetica Neue"/>
                <a:ea typeface="Helvetica Neue"/>
                <a:cs typeface="Helvetica Neue"/>
                <a:sym typeface="Helvetica Neue"/>
              </a:rPr>
              <a:t> part of a FQDN. This is usually the part that needs to be loaned/registered to be used </a:t>
            </a:r>
            <a:endParaRPr b="0" i="0" sz="1500" u="none" cap="none" strike="noStrike">
              <a:solidFill>
                <a:schemeClr val="dk2"/>
              </a:solidFill>
              <a:latin typeface="Helvetica Neue"/>
              <a:ea typeface="Helvetica Neue"/>
              <a:cs typeface="Helvetica Neue"/>
              <a:sym typeface="Helvetica Neue"/>
            </a:endParaRPr>
          </a:p>
        </p:txBody>
      </p:sp>
      <p:sp>
        <p:nvSpPr>
          <p:cNvPr id="317" name="Google Shape;317;p32"/>
          <p:cNvSpPr txBox="1"/>
          <p:nvPr/>
        </p:nvSpPr>
        <p:spPr>
          <a:xfrm>
            <a:off x="2425921" y="3019435"/>
            <a:ext cx="2034300" cy="3540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900"/>
              </a:spcAft>
              <a:buClr>
                <a:srgbClr val="000000"/>
              </a:buClr>
              <a:buSzPts val="1400"/>
              <a:buFont typeface="Arial"/>
              <a:buNone/>
            </a:pPr>
            <a:r>
              <a:rPr b="1" i="0" lang="fr" sz="1400" u="none" cap="none" strike="noStrike">
                <a:solidFill>
                  <a:schemeClr val="dk2"/>
                </a:solidFill>
                <a:latin typeface="Helvetica Neue"/>
                <a:ea typeface="Helvetica Neue"/>
                <a:cs typeface="Helvetica Neue"/>
                <a:sym typeface="Helvetica Neue"/>
              </a:rPr>
              <a:t>second level domain:</a:t>
            </a:r>
            <a:endParaRPr b="1" i="0" sz="1400" u="none" cap="none" strike="noStrike">
              <a:solidFill>
                <a:schemeClr val="dk2"/>
              </a:solidFill>
              <a:latin typeface="Arial"/>
              <a:ea typeface="Arial"/>
              <a:cs typeface="Arial"/>
              <a:sym typeface="Arial"/>
            </a:endParaRPr>
          </a:p>
        </p:txBody>
      </p:sp>
      <p:sp>
        <p:nvSpPr>
          <p:cNvPr id="318" name="Google Shape;318;p32"/>
          <p:cNvSpPr txBox="1"/>
          <p:nvPr/>
        </p:nvSpPr>
        <p:spPr>
          <a:xfrm>
            <a:off x="125269" y="3433388"/>
            <a:ext cx="3551175" cy="63495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900"/>
              </a:spcAft>
              <a:buClr>
                <a:srgbClr val="000000"/>
              </a:buClr>
              <a:buSzPts val="1500"/>
              <a:buFont typeface="Arial"/>
              <a:buNone/>
            </a:pPr>
            <a:r>
              <a:rPr b="1" i="0" lang="fr" sz="1500" u="none" cap="none" strike="noStrike">
                <a:solidFill>
                  <a:schemeClr val="dk2"/>
                </a:solidFill>
                <a:latin typeface="Helvetica Neue"/>
                <a:ea typeface="Helvetica Neue"/>
                <a:cs typeface="Helvetica Neue"/>
                <a:sym typeface="Helvetica Neue"/>
              </a:rPr>
              <a:t>Host</a:t>
            </a:r>
            <a:r>
              <a:rPr b="0" i="0" lang="fr" sz="1500" u="none" cap="none" strike="noStrike">
                <a:solidFill>
                  <a:schemeClr val="dk2"/>
                </a:solidFill>
                <a:latin typeface="Helvetica Neue"/>
                <a:ea typeface="Helvetica Neue"/>
                <a:cs typeface="Helvetica Neue"/>
                <a:sym typeface="Helvetica Neue"/>
              </a:rPr>
              <a:t> refer to separate computers or services accessible under a domain</a:t>
            </a:r>
            <a:endParaRPr b="0" i="0" sz="1500" u="none" cap="none" strike="noStrike">
              <a:solidFill>
                <a:schemeClr val="dk2"/>
              </a:solidFill>
              <a:latin typeface="Arial"/>
              <a:ea typeface="Arial"/>
              <a:cs typeface="Arial"/>
              <a:sym typeface="Arial"/>
            </a:endParaRPr>
          </a:p>
        </p:txBody>
      </p:sp>
      <p:sp>
        <p:nvSpPr>
          <p:cNvPr id="319" name="Google Shape;319;p32"/>
          <p:cNvSpPr txBox="1"/>
          <p:nvPr/>
        </p:nvSpPr>
        <p:spPr>
          <a:xfrm>
            <a:off x="960956" y="785869"/>
            <a:ext cx="7638525" cy="63495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900"/>
              </a:spcAft>
              <a:buClr>
                <a:srgbClr val="000000"/>
              </a:buClr>
              <a:buSzPts val="1500"/>
              <a:buFont typeface="Arial"/>
              <a:buNone/>
            </a:pPr>
            <a:r>
              <a:rPr b="0" i="0" lang="fr" sz="1500" u="none" cap="none" strike="noStrike">
                <a:solidFill>
                  <a:schemeClr val="dk2"/>
                </a:solidFill>
                <a:latin typeface="Helvetica Neue"/>
                <a:ea typeface="Helvetica Neue"/>
                <a:cs typeface="Helvetica Neue"/>
                <a:sym typeface="Helvetica Neue"/>
              </a:rPr>
              <a:t>A </a:t>
            </a:r>
            <a:r>
              <a:rPr b="1" i="0" lang="fr" sz="1500" u="none" cap="none" strike="noStrike">
                <a:solidFill>
                  <a:schemeClr val="dk2"/>
                </a:solidFill>
                <a:latin typeface="Helvetica Neue"/>
                <a:ea typeface="Helvetica Neue"/>
                <a:cs typeface="Helvetica Neue"/>
                <a:sym typeface="Helvetica Neue"/>
              </a:rPr>
              <a:t>Fully Qualified Domain Name </a:t>
            </a:r>
            <a:r>
              <a:rPr b="0" i="0" lang="fr" sz="1500" u="none" cap="none" strike="noStrike">
                <a:solidFill>
                  <a:schemeClr val="dk2"/>
                </a:solidFill>
                <a:latin typeface="Helvetica Neue"/>
                <a:ea typeface="Helvetica Neue"/>
                <a:cs typeface="Helvetica Neue"/>
                <a:sym typeface="Helvetica Neue"/>
              </a:rPr>
              <a:t>is an absolute name containing the host and the domain. </a:t>
            </a:r>
            <a:r>
              <a:rPr b="1" i="0" lang="fr" sz="1500" u="none" cap="none" strike="noStrike">
                <a:solidFill>
                  <a:schemeClr val="dk2"/>
                </a:solidFill>
                <a:latin typeface="Helvetica Neue"/>
                <a:ea typeface="Helvetica Neue"/>
                <a:cs typeface="Helvetica Neue"/>
                <a:sym typeface="Helvetica Neue"/>
              </a:rPr>
              <a:t>A proper FQDN ends with a dot</a:t>
            </a:r>
            <a:r>
              <a:rPr b="0" i="0" lang="fr" sz="1500" u="none" cap="none" strike="noStrike">
                <a:solidFill>
                  <a:schemeClr val="dk2"/>
                </a:solidFill>
                <a:latin typeface="Helvetica Neue"/>
                <a:ea typeface="Helvetica Neue"/>
                <a:cs typeface="Helvetica Neue"/>
                <a:sym typeface="Helvetica Neue"/>
              </a:rPr>
              <a:t>, indicating the root of the DNS hierarchy. </a:t>
            </a:r>
            <a:endParaRPr b="0" i="0" sz="1500" u="none" cap="none" strike="noStrike">
              <a:solidFill>
                <a:schemeClr val="dk2"/>
              </a:solidFill>
              <a:latin typeface="Helvetica Neue"/>
              <a:ea typeface="Helvetica Neue"/>
              <a:cs typeface="Helvetica Neue"/>
              <a:sym typeface="Helvetica Neue"/>
            </a:endParaRPr>
          </a:p>
        </p:txBody>
      </p:sp>
      <p:sp>
        <p:nvSpPr>
          <p:cNvPr id="320" name="Google Shape;320;p32"/>
          <p:cNvSpPr txBox="1"/>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3000">
                <a:solidFill>
                  <a:srgbClr val="434343"/>
                </a:solidFill>
                <a:latin typeface="Helvetica Neue"/>
                <a:ea typeface="Helvetica Neue"/>
                <a:cs typeface="Helvetica Neue"/>
                <a:sym typeface="Helvetica Neue"/>
              </a:rPr>
              <a:t>DNS Terminology: “name” decomposition</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3"/>
          <p:cNvSpPr txBox="1"/>
          <p:nvPr>
            <p:ph idx="1" type="body"/>
          </p:nvPr>
        </p:nvSpPr>
        <p:spPr>
          <a:xfrm>
            <a:off x="359100" y="972650"/>
            <a:ext cx="8784900" cy="32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900"/>
              </a:spcBef>
              <a:spcAft>
                <a:spcPts val="900"/>
              </a:spcAft>
              <a:buSzPts val="600"/>
              <a:buNone/>
            </a:pPr>
            <a:r>
              <a:rPr lang="fr" sz="1700">
                <a:solidFill>
                  <a:schemeClr val="dk1"/>
                </a:solidFill>
                <a:latin typeface="Helvetica Neue"/>
                <a:ea typeface="Helvetica Neue"/>
                <a:cs typeface="Helvetica Neue"/>
                <a:sym typeface="Helvetica Neue"/>
              </a:rPr>
              <a:t>They are 47 active DNS types and 43 obsoleted ones. (</a:t>
            </a:r>
            <a:r>
              <a:rPr lang="fr" sz="1700" u="sng">
                <a:solidFill>
                  <a:schemeClr val="hlink"/>
                </a:solidFill>
                <a:latin typeface="Helvetica Neue"/>
                <a:ea typeface="Helvetica Neue"/>
                <a:cs typeface="Helvetica Neue"/>
                <a:sym typeface="Helvetica Neue"/>
                <a:hlinkClick r:id="rId3"/>
              </a:rPr>
              <a:t>List here</a:t>
            </a:r>
            <a:r>
              <a:rPr lang="fr" sz="1700">
                <a:solidFill>
                  <a:schemeClr val="dk1"/>
                </a:solidFill>
                <a:latin typeface="Helvetica Neue"/>
                <a:ea typeface="Helvetica Neue"/>
                <a:cs typeface="Helvetica Neue"/>
                <a:sym typeface="Helvetica Neue"/>
              </a:rPr>
              <a:t>). The most common are: </a:t>
            </a:r>
            <a:endParaRPr sz="1700">
              <a:solidFill>
                <a:schemeClr val="dk1"/>
              </a:solidFill>
              <a:latin typeface="Helvetica Neue"/>
              <a:ea typeface="Helvetica Neue"/>
              <a:cs typeface="Helvetica Neue"/>
              <a:sym typeface="Helvetica Neue"/>
            </a:endParaRPr>
          </a:p>
        </p:txBody>
      </p:sp>
      <p:sp>
        <p:nvSpPr>
          <p:cNvPr id="327" name="Google Shape;327;p33"/>
          <p:cNvSpPr/>
          <p:nvPr/>
        </p:nvSpPr>
        <p:spPr>
          <a:xfrm>
            <a:off x="564862" y="1380938"/>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28" name="Google Shape;328;p33"/>
          <p:cNvSpPr/>
          <p:nvPr/>
        </p:nvSpPr>
        <p:spPr>
          <a:xfrm>
            <a:off x="403651" y="1380938"/>
            <a:ext cx="1263375" cy="765450"/>
          </a:xfrm>
          <a:prstGeom prst="homePlate">
            <a:avLst>
              <a:gd fmla="val 23456" name="adj"/>
            </a:avLst>
          </a:prstGeom>
          <a:solidFill>
            <a:srgbClr val="533A7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29" name="Google Shape;329;p33"/>
          <p:cNvSpPr txBox="1"/>
          <p:nvPr/>
        </p:nvSpPr>
        <p:spPr>
          <a:xfrm flipH="1">
            <a:off x="1802239" y="1480677"/>
            <a:ext cx="28215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Links the hostname to the IP address. (A: IPv4, AAAA: IPv6)</a:t>
            </a:r>
            <a:endParaRPr b="0" i="0" sz="1400" u="none" cap="none" strike="noStrike">
              <a:solidFill>
                <a:srgbClr val="262626"/>
              </a:solidFill>
              <a:latin typeface="Helvetica Neue"/>
              <a:ea typeface="Helvetica Neue"/>
              <a:cs typeface="Helvetica Neue"/>
              <a:sym typeface="Helvetica Neue"/>
            </a:endParaRPr>
          </a:p>
        </p:txBody>
      </p:sp>
      <p:sp>
        <p:nvSpPr>
          <p:cNvPr id="330" name="Google Shape;330;p33"/>
          <p:cNvSpPr/>
          <p:nvPr/>
        </p:nvSpPr>
        <p:spPr>
          <a:xfrm>
            <a:off x="4826324" y="1380938"/>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31" name="Google Shape;331;p33"/>
          <p:cNvSpPr/>
          <p:nvPr/>
        </p:nvSpPr>
        <p:spPr>
          <a:xfrm>
            <a:off x="4665114" y="1380938"/>
            <a:ext cx="1263375" cy="765450"/>
          </a:xfrm>
          <a:prstGeom prst="homePlate">
            <a:avLst>
              <a:gd fmla="val 23456" name="adj"/>
            </a:avLst>
          </a:prstGeom>
          <a:solidFill>
            <a:srgbClr val="C3C82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32" name="Google Shape;332;p33"/>
          <p:cNvSpPr txBox="1"/>
          <p:nvPr/>
        </p:nvSpPr>
        <p:spPr>
          <a:xfrm flipH="1">
            <a:off x="6063701" y="1480677"/>
            <a:ext cx="28215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identify the Start of Authority with essential parameters of the zone (NS, contact info, default TTLs)</a:t>
            </a:r>
            <a:endParaRPr b="0" i="0" sz="1400" u="none" cap="none" strike="noStrike">
              <a:solidFill>
                <a:srgbClr val="262626"/>
              </a:solidFill>
              <a:latin typeface="Helvetica Neue"/>
              <a:ea typeface="Helvetica Neue"/>
              <a:cs typeface="Helvetica Neue"/>
              <a:sym typeface="Helvetica Neue"/>
            </a:endParaRPr>
          </a:p>
        </p:txBody>
      </p:sp>
      <p:sp>
        <p:nvSpPr>
          <p:cNvPr id="333" name="Google Shape;333;p33"/>
          <p:cNvSpPr/>
          <p:nvPr/>
        </p:nvSpPr>
        <p:spPr>
          <a:xfrm>
            <a:off x="564862" y="2227594"/>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34" name="Google Shape;334;p33"/>
          <p:cNvSpPr/>
          <p:nvPr/>
        </p:nvSpPr>
        <p:spPr>
          <a:xfrm>
            <a:off x="403651" y="2227594"/>
            <a:ext cx="1263375" cy="765450"/>
          </a:xfrm>
          <a:prstGeom prst="homePlate">
            <a:avLst>
              <a:gd fmla="val 23456" name="adj"/>
            </a:avLst>
          </a:prstGeom>
          <a:solidFill>
            <a:srgbClr val="50C5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35" name="Google Shape;335;p33"/>
          <p:cNvSpPr txBox="1"/>
          <p:nvPr/>
        </p:nvSpPr>
        <p:spPr>
          <a:xfrm flipH="1">
            <a:off x="1802239" y="2327333"/>
            <a:ext cx="28215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Point a Domain Name to another Domain Name</a:t>
            </a:r>
            <a:endParaRPr b="0" i="0" sz="1400" u="none" cap="none" strike="noStrike">
              <a:solidFill>
                <a:srgbClr val="262626"/>
              </a:solidFill>
              <a:latin typeface="Helvetica Neue"/>
              <a:ea typeface="Helvetica Neue"/>
              <a:cs typeface="Helvetica Neue"/>
              <a:sym typeface="Helvetica Neue"/>
            </a:endParaRPr>
          </a:p>
        </p:txBody>
      </p:sp>
      <p:sp>
        <p:nvSpPr>
          <p:cNvPr id="336" name="Google Shape;336;p33"/>
          <p:cNvSpPr/>
          <p:nvPr/>
        </p:nvSpPr>
        <p:spPr>
          <a:xfrm>
            <a:off x="4826324" y="2227594"/>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37" name="Google Shape;337;p33"/>
          <p:cNvSpPr/>
          <p:nvPr/>
        </p:nvSpPr>
        <p:spPr>
          <a:xfrm>
            <a:off x="4665114" y="2227594"/>
            <a:ext cx="1263375" cy="765450"/>
          </a:xfrm>
          <a:prstGeom prst="homePlate">
            <a:avLst>
              <a:gd fmla="val 23456" name="adj"/>
            </a:avLst>
          </a:prstGeom>
          <a:solidFill>
            <a:srgbClr val="818AA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38" name="Google Shape;338;p33"/>
          <p:cNvSpPr txBox="1"/>
          <p:nvPr/>
        </p:nvSpPr>
        <p:spPr>
          <a:xfrm flipH="1">
            <a:off x="6063701" y="2327333"/>
            <a:ext cx="28215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NameServer records identify the responsible DNS Server for answering this zone.</a:t>
            </a:r>
            <a:endParaRPr b="0" i="0" sz="1400" u="none" cap="none" strike="noStrike">
              <a:solidFill>
                <a:srgbClr val="262626"/>
              </a:solidFill>
              <a:latin typeface="Helvetica Neue"/>
              <a:ea typeface="Helvetica Neue"/>
              <a:cs typeface="Helvetica Neue"/>
              <a:sym typeface="Helvetica Neue"/>
            </a:endParaRPr>
          </a:p>
        </p:txBody>
      </p:sp>
      <p:sp>
        <p:nvSpPr>
          <p:cNvPr id="339" name="Google Shape;339;p33"/>
          <p:cNvSpPr/>
          <p:nvPr/>
        </p:nvSpPr>
        <p:spPr>
          <a:xfrm>
            <a:off x="564862" y="3083882"/>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40" name="Google Shape;340;p33"/>
          <p:cNvSpPr/>
          <p:nvPr/>
        </p:nvSpPr>
        <p:spPr>
          <a:xfrm>
            <a:off x="403651" y="3083882"/>
            <a:ext cx="1263375" cy="765450"/>
          </a:xfrm>
          <a:prstGeom prst="homePlate">
            <a:avLst>
              <a:gd fmla="val 23456" name="adj"/>
            </a:avLst>
          </a:prstGeom>
          <a:solidFill>
            <a:srgbClr val="C47B9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41" name="Google Shape;341;p33"/>
          <p:cNvSpPr txBox="1"/>
          <p:nvPr/>
        </p:nvSpPr>
        <p:spPr>
          <a:xfrm flipH="1">
            <a:off x="1802239" y="3183621"/>
            <a:ext cx="28215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Text records are used to store descriptive text (site verification, SPF/DMARC mail record, etc)</a:t>
            </a:r>
            <a:endParaRPr b="0" i="0" sz="1400" u="none" cap="none" strike="noStrike">
              <a:solidFill>
                <a:srgbClr val="262626"/>
              </a:solidFill>
              <a:latin typeface="Helvetica Neue"/>
              <a:ea typeface="Helvetica Neue"/>
              <a:cs typeface="Helvetica Neue"/>
              <a:sym typeface="Helvetica Neue"/>
            </a:endParaRPr>
          </a:p>
        </p:txBody>
      </p:sp>
      <p:sp>
        <p:nvSpPr>
          <p:cNvPr id="342" name="Google Shape;342;p33"/>
          <p:cNvSpPr/>
          <p:nvPr/>
        </p:nvSpPr>
        <p:spPr>
          <a:xfrm>
            <a:off x="4826324" y="3083882"/>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43" name="Google Shape;343;p33"/>
          <p:cNvSpPr/>
          <p:nvPr/>
        </p:nvSpPr>
        <p:spPr>
          <a:xfrm>
            <a:off x="4665114" y="3083882"/>
            <a:ext cx="1263375" cy="765450"/>
          </a:xfrm>
          <a:prstGeom prst="homePlate">
            <a:avLst>
              <a:gd fmla="val 23456" name="adj"/>
            </a:avLst>
          </a:prstGeom>
          <a:solidFill>
            <a:srgbClr val="9CEC5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44" name="Google Shape;344;p33"/>
          <p:cNvSpPr txBox="1"/>
          <p:nvPr/>
        </p:nvSpPr>
        <p:spPr>
          <a:xfrm flipH="1">
            <a:off x="6063701" y="3183621"/>
            <a:ext cx="28215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Pointer record links an IP address to a domain name (opposite to A)</a:t>
            </a:r>
            <a:endParaRPr b="0" i="0" sz="1400" u="none" cap="none" strike="noStrike">
              <a:solidFill>
                <a:srgbClr val="262626"/>
              </a:solidFill>
              <a:latin typeface="Helvetica Neue"/>
              <a:ea typeface="Helvetica Neue"/>
              <a:cs typeface="Helvetica Neue"/>
              <a:sym typeface="Helvetica Neue"/>
            </a:endParaRPr>
          </a:p>
        </p:txBody>
      </p:sp>
      <p:sp>
        <p:nvSpPr>
          <p:cNvPr id="345" name="Google Shape;345;p33"/>
          <p:cNvSpPr/>
          <p:nvPr/>
        </p:nvSpPr>
        <p:spPr>
          <a:xfrm>
            <a:off x="564862" y="3930538"/>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46" name="Google Shape;346;p33"/>
          <p:cNvSpPr/>
          <p:nvPr/>
        </p:nvSpPr>
        <p:spPr>
          <a:xfrm>
            <a:off x="403651" y="3930538"/>
            <a:ext cx="1263375" cy="765450"/>
          </a:xfrm>
          <a:prstGeom prst="homePlate">
            <a:avLst>
              <a:gd fmla="val 23456" name="adj"/>
            </a:avLst>
          </a:prstGeom>
          <a:solidFill>
            <a:srgbClr val="6184D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47" name="Google Shape;347;p33"/>
          <p:cNvSpPr txBox="1"/>
          <p:nvPr/>
        </p:nvSpPr>
        <p:spPr>
          <a:xfrm flipH="1">
            <a:off x="1802239" y="4030277"/>
            <a:ext cx="2821500" cy="565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Mail Exchanger record point the </a:t>
            </a:r>
            <a:r>
              <a:rPr b="1" i="0" lang="fr" sz="1400" u="none" cap="none" strike="noStrike">
                <a:solidFill>
                  <a:srgbClr val="262626"/>
                </a:solidFill>
                <a:latin typeface="Helvetica Neue"/>
                <a:ea typeface="Helvetica Neue"/>
                <a:cs typeface="Helvetica Neue"/>
                <a:sym typeface="Helvetica Neue"/>
              </a:rPr>
              <a:t>domain name </a:t>
            </a:r>
            <a:r>
              <a:rPr b="0" i="0" lang="fr" sz="1400" u="none" cap="none" strike="noStrike">
                <a:solidFill>
                  <a:srgbClr val="262626"/>
                </a:solidFill>
                <a:latin typeface="Helvetica Neue"/>
                <a:ea typeface="Helvetica Neue"/>
                <a:cs typeface="Helvetica Neue"/>
                <a:sym typeface="Helvetica Neue"/>
              </a:rPr>
              <a:t>of the email server responsible for the domain name.</a:t>
            </a:r>
            <a:endParaRPr b="0" i="0" sz="1400" u="none" cap="none" strike="noStrike">
              <a:solidFill>
                <a:srgbClr val="262626"/>
              </a:solidFill>
              <a:latin typeface="Helvetica Neue"/>
              <a:ea typeface="Helvetica Neue"/>
              <a:cs typeface="Helvetica Neue"/>
              <a:sym typeface="Helvetica Neue"/>
            </a:endParaRPr>
          </a:p>
        </p:txBody>
      </p:sp>
      <p:sp>
        <p:nvSpPr>
          <p:cNvPr id="348" name="Google Shape;348;p33"/>
          <p:cNvSpPr/>
          <p:nvPr/>
        </p:nvSpPr>
        <p:spPr>
          <a:xfrm>
            <a:off x="4826324" y="3930538"/>
            <a:ext cx="3991950" cy="765450"/>
          </a:xfrm>
          <a:prstGeom prst="homePlate">
            <a:avLst>
              <a:gd fmla="val 0" name="adj"/>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49" name="Google Shape;349;p33"/>
          <p:cNvSpPr/>
          <p:nvPr/>
        </p:nvSpPr>
        <p:spPr>
          <a:xfrm>
            <a:off x="4665114" y="3930538"/>
            <a:ext cx="1263375" cy="765450"/>
          </a:xfrm>
          <a:prstGeom prst="homePlate">
            <a:avLst>
              <a:gd fmla="val 23456" name="adj"/>
            </a:avLst>
          </a:prstGeom>
          <a:solidFill>
            <a:srgbClr val="64B6A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Helvetica Neue"/>
              <a:ea typeface="Helvetica Neue"/>
              <a:cs typeface="Helvetica Neue"/>
              <a:sym typeface="Helvetica Neue"/>
            </a:endParaRPr>
          </a:p>
        </p:txBody>
      </p:sp>
      <p:sp>
        <p:nvSpPr>
          <p:cNvPr id="350" name="Google Shape;350;p33"/>
          <p:cNvSpPr txBox="1"/>
          <p:nvPr/>
        </p:nvSpPr>
        <p:spPr>
          <a:xfrm flipH="1">
            <a:off x="6063700" y="4030275"/>
            <a:ext cx="2821500" cy="56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262626"/>
                </a:solidFill>
                <a:latin typeface="Helvetica Neue"/>
                <a:ea typeface="Helvetica Neue"/>
                <a:cs typeface="Helvetica Neue"/>
                <a:sym typeface="Helvetica Neue"/>
              </a:rPr>
              <a:t>SeRVice record </a:t>
            </a:r>
            <a:r>
              <a:rPr lang="fr">
                <a:solidFill>
                  <a:srgbClr val="262626"/>
                </a:solidFill>
                <a:latin typeface="Helvetica Neue"/>
                <a:ea typeface="Helvetica Neue"/>
                <a:cs typeface="Helvetica Neue"/>
                <a:sym typeface="Helvetica Neue"/>
              </a:rPr>
              <a:t>points to</a:t>
            </a:r>
            <a:r>
              <a:rPr b="0" i="0" lang="fr" sz="1400" u="none" cap="none" strike="noStrike">
                <a:solidFill>
                  <a:srgbClr val="262626"/>
                </a:solidFill>
                <a:latin typeface="Helvetica Neue"/>
                <a:ea typeface="Helvetica Neue"/>
                <a:cs typeface="Helvetica Neue"/>
                <a:sym typeface="Helvetica Neue"/>
              </a:rPr>
              <a:t> a host and its corresponding port for a specific service with a priority. It is used for discovering a services.</a:t>
            </a:r>
            <a:endParaRPr b="0" i="0" sz="1400" u="none" cap="none" strike="noStrike">
              <a:solidFill>
                <a:srgbClr val="262626"/>
              </a:solidFill>
              <a:latin typeface="Helvetica Neue"/>
              <a:ea typeface="Helvetica Neue"/>
              <a:cs typeface="Helvetica Neue"/>
              <a:sym typeface="Helvetica Neue"/>
            </a:endParaRPr>
          </a:p>
        </p:txBody>
      </p:sp>
      <p:sp>
        <p:nvSpPr>
          <p:cNvPr id="351" name="Google Shape;351;p33"/>
          <p:cNvSpPr txBox="1"/>
          <p:nvPr/>
        </p:nvSpPr>
        <p:spPr>
          <a:xfrm>
            <a:off x="498372" y="1392975"/>
            <a:ext cx="1168650" cy="785025"/>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    A</a:t>
            </a:r>
            <a:endParaRPr b="1" i="0" sz="2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AAAA</a:t>
            </a:r>
            <a:endParaRPr b="1" i="0" sz="2100" u="none" cap="none" strike="noStrike">
              <a:solidFill>
                <a:schemeClr val="lt1"/>
              </a:solidFill>
              <a:latin typeface="Arial"/>
              <a:ea typeface="Arial"/>
              <a:cs typeface="Arial"/>
              <a:sym typeface="Arial"/>
            </a:endParaRPr>
          </a:p>
        </p:txBody>
      </p:sp>
      <p:sp>
        <p:nvSpPr>
          <p:cNvPr id="352" name="Google Shape;352;p33"/>
          <p:cNvSpPr txBox="1"/>
          <p:nvPr/>
        </p:nvSpPr>
        <p:spPr>
          <a:xfrm>
            <a:off x="441222" y="2355225"/>
            <a:ext cx="1168650" cy="461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CNAME</a:t>
            </a:r>
            <a:endParaRPr b="1" i="0" sz="2100" u="none" cap="none" strike="noStrike">
              <a:solidFill>
                <a:schemeClr val="lt1"/>
              </a:solidFill>
              <a:latin typeface="Arial"/>
              <a:ea typeface="Arial"/>
              <a:cs typeface="Arial"/>
              <a:sym typeface="Arial"/>
            </a:endParaRPr>
          </a:p>
        </p:txBody>
      </p:sp>
      <p:sp>
        <p:nvSpPr>
          <p:cNvPr id="353" name="Google Shape;353;p33"/>
          <p:cNvSpPr txBox="1"/>
          <p:nvPr/>
        </p:nvSpPr>
        <p:spPr>
          <a:xfrm>
            <a:off x="612671" y="3230944"/>
            <a:ext cx="758025" cy="461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TXT</a:t>
            </a:r>
            <a:endParaRPr b="1" i="0" sz="2100" u="none" cap="none" strike="noStrike">
              <a:solidFill>
                <a:schemeClr val="lt1"/>
              </a:solidFill>
              <a:latin typeface="Arial"/>
              <a:ea typeface="Arial"/>
              <a:cs typeface="Arial"/>
              <a:sym typeface="Arial"/>
            </a:endParaRPr>
          </a:p>
        </p:txBody>
      </p:sp>
      <p:sp>
        <p:nvSpPr>
          <p:cNvPr id="354" name="Google Shape;354;p33"/>
          <p:cNvSpPr txBox="1"/>
          <p:nvPr/>
        </p:nvSpPr>
        <p:spPr>
          <a:xfrm>
            <a:off x="656321" y="4111388"/>
            <a:ext cx="758025" cy="461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MX</a:t>
            </a:r>
            <a:endParaRPr b="1" i="0" sz="2100" u="none" cap="none" strike="noStrike">
              <a:solidFill>
                <a:schemeClr val="lt1"/>
              </a:solidFill>
              <a:latin typeface="Arial"/>
              <a:ea typeface="Arial"/>
              <a:cs typeface="Arial"/>
              <a:sym typeface="Arial"/>
            </a:endParaRPr>
          </a:p>
        </p:txBody>
      </p:sp>
      <p:sp>
        <p:nvSpPr>
          <p:cNvPr id="355" name="Google Shape;355;p33"/>
          <p:cNvSpPr txBox="1"/>
          <p:nvPr/>
        </p:nvSpPr>
        <p:spPr>
          <a:xfrm>
            <a:off x="4826321" y="1523297"/>
            <a:ext cx="758025" cy="461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SOA</a:t>
            </a:r>
            <a:endParaRPr b="1" i="0" sz="2100" u="none" cap="none" strike="noStrike">
              <a:solidFill>
                <a:schemeClr val="lt1"/>
              </a:solidFill>
              <a:latin typeface="Arial"/>
              <a:ea typeface="Arial"/>
              <a:cs typeface="Arial"/>
              <a:sym typeface="Arial"/>
            </a:endParaRPr>
          </a:p>
        </p:txBody>
      </p:sp>
      <p:sp>
        <p:nvSpPr>
          <p:cNvPr id="356" name="Google Shape;356;p33"/>
          <p:cNvSpPr txBox="1"/>
          <p:nvPr/>
        </p:nvSpPr>
        <p:spPr>
          <a:xfrm>
            <a:off x="4931237" y="2384288"/>
            <a:ext cx="758025" cy="461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NS</a:t>
            </a:r>
            <a:endParaRPr b="1" i="0" sz="2100" u="none" cap="none" strike="noStrike">
              <a:solidFill>
                <a:schemeClr val="lt1"/>
              </a:solidFill>
              <a:latin typeface="Arial"/>
              <a:ea typeface="Arial"/>
              <a:cs typeface="Arial"/>
              <a:sym typeface="Arial"/>
            </a:endParaRPr>
          </a:p>
        </p:txBody>
      </p:sp>
      <p:sp>
        <p:nvSpPr>
          <p:cNvPr id="357" name="Google Shape;357;p33"/>
          <p:cNvSpPr txBox="1"/>
          <p:nvPr/>
        </p:nvSpPr>
        <p:spPr>
          <a:xfrm>
            <a:off x="4876121" y="3230944"/>
            <a:ext cx="758025" cy="461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PTR</a:t>
            </a:r>
            <a:endParaRPr b="1" i="0" sz="2100" u="none" cap="none" strike="noStrike">
              <a:solidFill>
                <a:schemeClr val="lt1"/>
              </a:solidFill>
              <a:latin typeface="Arial"/>
              <a:ea typeface="Arial"/>
              <a:cs typeface="Arial"/>
              <a:sym typeface="Arial"/>
            </a:endParaRPr>
          </a:p>
        </p:txBody>
      </p:sp>
      <p:sp>
        <p:nvSpPr>
          <p:cNvPr id="358" name="Google Shape;358;p33"/>
          <p:cNvSpPr txBox="1"/>
          <p:nvPr/>
        </p:nvSpPr>
        <p:spPr>
          <a:xfrm>
            <a:off x="4876121" y="4087238"/>
            <a:ext cx="758025" cy="461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Arial"/>
                <a:ea typeface="Arial"/>
                <a:cs typeface="Arial"/>
                <a:sym typeface="Arial"/>
              </a:rPr>
              <a:t>SRV</a:t>
            </a:r>
            <a:endParaRPr b="1" i="0" sz="2100" u="none" cap="none" strike="noStrike">
              <a:solidFill>
                <a:schemeClr val="lt1"/>
              </a:solidFill>
              <a:latin typeface="Arial"/>
              <a:ea typeface="Arial"/>
              <a:cs typeface="Arial"/>
              <a:sym typeface="Arial"/>
            </a:endParaRPr>
          </a:p>
        </p:txBody>
      </p:sp>
      <p:sp>
        <p:nvSpPr>
          <p:cNvPr id="359" name="Google Shape;359;p33"/>
          <p:cNvSpPr txBox="1"/>
          <p:nvPr/>
        </p:nvSpPr>
        <p:spPr>
          <a:xfrm>
            <a:off x="1395277" y="4795678"/>
            <a:ext cx="7035600" cy="3078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rgbClr val="000000"/>
                </a:solidFill>
                <a:latin typeface="Arial"/>
                <a:ea typeface="Arial"/>
                <a:cs typeface="Arial"/>
                <a:sym typeface="Arial"/>
              </a:rPr>
              <a:t>CAA, LOC, HINFO, RRSIG, NSEC, DNSKEY, </a:t>
            </a:r>
            <a:r>
              <a:rPr b="0" i="0" lang="fr" sz="1100" u="sng" cap="none" strike="noStrike">
                <a:solidFill>
                  <a:schemeClr val="hlink"/>
                </a:solidFill>
                <a:latin typeface="Arial"/>
                <a:ea typeface="Arial"/>
                <a:cs typeface="Arial"/>
                <a:sym typeface="Arial"/>
                <a:hlinkClick r:id="rId4"/>
              </a:rPr>
              <a:t>GLUE</a:t>
            </a:r>
            <a:r>
              <a:rPr b="0" i="0" lang="fr" sz="1100" u="none" cap="none" strike="noStrike">
                <a:solidFill>
                  <a:srgbClr val="000000"/>
                </a:solidFill>
                <a:latin typeface="Arial"/>
                <a:ea typeface="Arial"/>
                <a:cs typeface="Arial"/>
                <a:sym typeface="Arial"/>
              </a:rPr>
              <a:t> are also seen but are more “advanced ones”</a:t>
            </a:r>
            <a:endParaRPr b="0" i="0" sz="1100" u="none" cap="none" strike="noStrike">
              <a:solidFill>
                <a:srgbClr val="000000"/>
              </a:solidFill>
              <a:latin typeface="Arial"/>
              <a:ea typeface="Arial"/>
              <a:cs typeface="Arial"/>
              <a:sym typeface="Arial"/>
            </a:endParaRPr>
          </a:p>
        </p:txBody>
      </p:sp>
      <p:sp>
        <p:nvSpPr>
          <p:cNvPr id="360" name="Google Shape;360;p33"/>
          <p:cNvSpPr txBox="1"/>
          <p:nvPr/>
        </p:nvSpPr>
        <p:spPr>
          <a:xfrm>
            <a:off x="311700" y="1402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Types of DNS Record</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pic>
        <p:nvPicPr>
          <p:cNvPr id="367" name="Google Shape;367;p34"/>
          <p:cNvPicPr preferRelativeResize="0"/>
          <p:nvPr/>
        </p:nvPicPr>
        <p:blipFill rotWithShape="1">
          <a:blip r:embed="rId3">
            <a:alphaModFix/>
          </a:blip>
          <a:srcRect b="0" l="0" r="0" t="0"/>
          <a:stretch/>
        </p:blipFill>
        <p:spPr>
          <a:xfrm>
            <a:off x="4595044" y="652613"/>
            <a:ext cx="4180388" cy="4180388"/>
          </a:xfrm>
          <a:prstGeom prst="rect">
            <a:avLst/>
          </a:prstGeom>
          <a:noFill/>
          <a:ln>
            <a:noFill/>
          </a:ln>
        </p:spPr>
      </p:pic>
      <p:sp>
        <p:nvSpPr>
          <p:cNvPr id="368" name="Google Shape;368;p34"/>
          <p:cNvSpPr txBox="1"/>
          <p:nvPr/>
        </p:nvSpPr>
        <p:spPr>
          <a:xfrm>
            <a:off x="498900" y="2367125"/>
            <a:ext cx="4377300" cy="492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0" i="0" lang="fr" sz="2300" u="none" cap="none" strike="noStrike">
                <a:solidFill>
                  <a:srgbClr val="000000"/>
                </a:solidFill>
                <a:latin typeface="Arial"/>
                <a:ea typeface="Arial"/>
                <a:cs typeface="Arial"/>
                <a:sym typeface="Arial"/>
              </a:rPr>
              <a:t>www.pollev.com/jmanteau973</a:t>
            </a:r>
            <a:endParaRPr b="0" i="0" sz="2300" u="none" cap="none" strike="noStrike">
              <a:solidFill>
                <a:srgbClr val="000000"/>
              </a:solidFill>
              <a:latin typeface="Arial"/>
              <a:ea typeface="Arial"/>
              <a:cs typeface="Arial"/>
              <a:sym typeface="Arial"/>
            </a:endParaRPr>
          </a:p>
        </p:txBody>
      </p:sp>
      <p:sp>
        <p:nvSpPr>
          <p:cNvPr id="369" name="Google Shape;369;p34"/>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Quizz Time</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5"/>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sp>
        <p:nvSpPr>
          <p:cNvPr id="376" name="Google Shape;376;p35"/>
          <p:cNvSpPr txBox="1"/>
          <p:nvPr>
            <p:ph idx="1" type="body"/>
          </p:nvPr>
        </p:nvSpPr>
        <p:spPr>
          <a:xfrm>
            <a:off x="245276" y="1086400"/>
            <a:ext cx="8898600" cy="3634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900"/>
              </a:spcBef>
              <a:spcAft>
                <a:spcPts val="0"/>
              </a:spcAft>
              <a:buSzPts val="600"/>
              <a:buNone/>
            </a:pPr>
            <a:r>
              <a:rPr b="1" lang="fr" sz="1800">
                <a:solidFill>
                  <a:schemeClr val="dk1"/>
                </a:solidFill>
                <a:latin typeface="Helvetica Neue"/>
                <a:ea typeface="Helvetica Neue"/>
                <a:cs typeface="Helvetica Neue"/>
                <a:sym typeface="Helvetica Neue"/>
              </a:rPr>
              <a:t>nslookup</a:t>
            </a:r>
            <a:r>
              <a:rPr lang="fr" sz="1800">
                <a:solidFill>
                  <a:schemeClr val="dk1"/>
                </a:solidFill>
                <a:latin typeface="Helvetica Neue"/>
                <a:ea typeface="Helvetica Neue"/>
                <a:cs typeface="Helvetica Neue"/>
                <a:sym typeface="Helvetica Neue"/>
              </a:rPr>
              <a:t> is officially deprecated in favour of </a:t>
            </a:r>
            <a:r>
              <a:rPr b="1" lang="fr" sz="1800">
                <a:solidFill>
                  <a:schemeClr val="dk1"/>
                </a:solidFill>
                <a:latin typeface="Helvetica Neue"/>
                <a:ea typeface="Helvetica Neue"/>
                <a:cs typeface="Helvetica Neue"/>
                <a:sym typeface="Helvetica Neue"/>
              </a:rPr>
              <a:t>dig</a:t>
            </a:r>
            <a:r>
              <a:rPr lang="fr" sz="1800">
                <a:solidFill>
                  <a:schemeClr val="dk1"/>
                </a:solidFill>
                <a:latin typeface="Helvetica Neue"/>
                <a:ea typeface="Helvetica Neue"/>
                <a:cs typeface="Helvetica Neue"/>
                <a:sym typeface="Helvetica Neue"/>
              </a:rPr>
              <a:t>. </a:t>
            </a:r>
            <a:endParaRPr sz="18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600"/>
              <a:buNone/>
            </a:pPr>
            <a:r>
              <a:rPr lang="fr" sz="1800">
                <a:solidFill>
                  <a:schemeClr val="dk1"/>
                </a:solidFill>
                <a:latin typeface="Helvetica Neue"/>
                <a:ea typeface="Helvetica Neue"/>
                <a:cs typeface="Helvetica Neue"/>
                <a:sym typeface="Helvetica Neue"/>
              </a:rPr>
              <a:t>nslookup is however almost universally available (e.g. only resolver on Windows).</a:t>
            </a:r>
            <a:endParaRPr sz="18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600"/>
              <a:buNone/>
            </a:pPr>
            <a:r>
              <a:rPr lang="fr" sz="1800">
                <a:solidFill>
                  <a:schemeClr val="dk1"/>
                </a:solidFill>
                <a:latin typeface="Helvetica Neue"/>
                <a:ea typeface="Helvetica Neue"/>
                <a:cs typeface="Helvetica Neue"/>
                <a:sym typeface="Helvetica Neue"/>
              </a:rPr>
              <a:t>So my recommendation is:</a:t>
            </a:r>
            <a:endParaRPr sz="1800">
              <a:solidFill>
                <a:schemeClr val="dk1"/>
              </a:solidFill>
              <a:latin typeface="Helvetica Neue"/>
              <a:ea typeface="Helvetica Neue"/>
              <a:cs typeface="Helvetica Neue"/>
              <a:sym typeface="Helvetica Neue"/>
            </a:endParaRPr>
          </a:p>
          <a:p>
            <a:pPr indent="-279400" lvl="0" marL="342900" rtl="0" algn="l">
              <a:lnSpc>
                <a:spcPct val="115000"/>
              </a:lnSpc>
              <a:spcBef>
                <a:spcPts val="900"/>
              </a:spcBef>
              <a:spcAft>
                <a:spcPts val="0"/>
              </a:spcAft>
              <a:buClr>
                <a:schemeClr val="dk1"/>
              </a:buClr>
              <a:buSzPts val="1800"/>
              <a:buFont typeface="Helvetica Neue"/>
              <a:buChar char="●"/>
            </a:pPr>
            <a:r>
              <a:rPr lang="fr" sz="1800">
                <a:solidFill>
                  <a:schemeClr val="dk1"/>
                </a:solidFill>
                <a:latin typeface="Helvetica Neue"/>
                <a:ea typeface="Helvetica Neue"/>
                <a:cs typeface="Helvetica Neue"/>
                <a:sym typeface="Helvetica Neue"/>
              </a:rPr>
              <a:t>Master and have dig on your system for dns investigation and testing.</a:t>
            </a:r>
            <a:endParaRPr sz="1800">
              <a:solidFill>
                <a:schemeClr val="dk1"/>
              </a:solidFill>
              <a:latin typeface="Helvetica Neue"/>
              <a:ea typeface="Helvetica Neue"/>
              <a:cs typeface="Helvetica Neue"/>
              <a:sym typeface="Helvetica Neue"/>
            </a:endParaRPr>
          </a:p>
          <a:p>
            <a:pPr indent="-279400" lvl="0" marL="342900" rtl="0" algn="l">
              <a:lnSpc>
                <a:spcPct val="115000"/>
              </a:lnSpc>
              <a:spcBef>
                <a:spcPts val="0"/>
              </a:spcBef>
              <a:spcAft>
                <a:spcPts val="0"/>
              </a:spcAft>
              <a:buClr>
                <a:schemeClr val="dk1"/>
              </a:buClr>
              <a:buSzPts val="1800"/>
              <a:buFont typeface="Helvetica Neue"/>
              <a:buChar char="●"/>
            </a:pPr>
            <a:r>
              <a:rPr lang="fr" sz="1800">
                <a:solidFill>
                  <a:schemeClr val="dk1"/>
                </a:solidFill>
                <a:latin typeface="Helvetica Neue"/>
                <a:ea typeface="Helvetica Neue"/>
                <a:cs typeface="Helvetica Neue"/>
                <a:sym typeface="Helvetica Neue"/>
              </a:rPr>
              <a:t>Know enough nslookup for basic troubleshooting on others devices</a:t>
            </a:r>
            <a:endParaRPr sz="18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600"/>
              <a:buNone/>
            </a:pPr>
            <a:r>
              <a:t/>
            </a:r>
            <a:endParaRPr sz="18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900"/>
              </a:spcAft>
              <a:buSzPts val="600"/>
              <a:buNone/>
            </a:pPr>
            <a:r>
              <a:t/>
            </a:r>
            <a:endParaRPr sz="1800">
              <a:solidFill>
                <a:schemeClr val="dk1"/>
              </a:solidFill>
              <a:latin typeface="Helvetica Neue"/>
              <a:ea typeface="Helvetica Neue"/>
              <a:cs typeface="Helvetica Neue"/>
              <a:sym typeface="Helvetica Neue"/>
            </a:endParaRPr>
          </a:p>
        </p:txBody>
      </p:sp>
      <p:pic>
        <p:nvPicPr>
          <p:cNvPr id="377" name="Google Shape;377;p35"/>
          <p:cNvPicPr preferRelativeResize="0"/>
          <p:nvPr/>
        </p:nvPicPr>
        <p:blipFill rotWithShape="1">
          <a:blip r:embed="rId3">
            <a:alphaModFix/>
          </a:blip>
          <a:srcRect b="0" l="0" r="0" t="0"/>
          <a:stretch/>
        </p:blipFill>
        <p:spPr>
          <a:xfrm>
            <a:off x="876199" y="3424594"/>
            <a:ext cx="1294106" cy="1010495"/>
          </a:xfrm>
          <a:prstGeom prst="rect">
            <a:avLst/>
          </a:prstGeom>
          <a:noFill/>
          <a:ln>
            <a:noFill/>
          </a:ln>
        </p:spPr>
      </p:pic>
      <p:sp>
        <p:nvSpPr>
          <p:cNvPr id="378" name="Google Shape;378;p35"/>
          <p:cNvSpPr txBox="1"/>
          <p:nvPr/>
        </p:nvSpPr>
        <p:spPr>
          <a:xfrm>
            <a:off x="2401444" y="3670725"/>
            <a:ext cx="5595000" cy="446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rgbClr val="000000"/>
                </a:solidFill>
                <a:latin typeface="Arial"/>
                <a:ea typeface="Arial"/>
                <a:cs typeface="Arial"/>
                <a:sym typeface="Arial"/>
              </a:rPr>
              <a:t>Practical Exercise: Request DNS with Dig </a:t>
            </a:r>
            <a:endParaRPr b="1" i="0" sz="2000" u="none" cap="none" strike="noStrike">
              <a:solidFill>
                <a:srgbClr val="000000"/>
              </a:solidFill>
              <a:latin typeface="Arial"/>
              <a:ea typeface="Arial"/>
              <a:cs typeface="Arial"/>
              <a:sym typeface="Arial"/>
            </a:endParaRPr>
          </a:p>
        </p:txBody>
      </p:sp>
      <p:sp>
        <p:nvSpPr>
          <p:cNvPr id="379" name="Google Shape;379;p35"/>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DNS Client: nslookup/dig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36"/>
          <p:cNvPicPr preferRelativeResize="0"/>
          <p:nvPr/>
        </p:nvPicPr>
        <p:blipFill rotWithShape="1">
          <a:blip r:embed="rId4">
            <a:alphaModFix/>
          </a:blip>
          <a:srcRect b="0" l="0" r="0" t="0"/>
          <a:stretch/>
        </p:blipFill>
        <p:spPr>
          <a:xfrm>
            <a:off x="157163" y="719550"/>
            <a:ext cx="8922204" cy="4195350"/>
          </a:xfrm>
          <a:prstGeom prst="rect">
            <a:avLst/>
          </a:prstGeom>
          <a:noFill/>
          <a:ln>
            <a:noFill/>
          </a:ln>
        </p:spPr>
      </p:pic>
      <p:sp>
        <p:nvSpPr>
          <p:cNvPr id="386" name="Google Shape;386;p36"/>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Full DNS Query and types of DNS Server</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37"/>
          <p:cNvPicPr preferRelativeResize="0"/>
          <p:nvPr/>
        </p:nvPicPr>
        <p:blipFill>
          <a:blip r:embed="rId3">
            <a:alphaModFix/>
          </a:blip>
          <a:stretch>
            <a:fillRect/>
          </a:stretch>
        </p:blipFill>
        <p:spPr>
          <a:xfrm>
            <a:off x="166013" y="780500"/>
            <a:ext cx="8811977" cy="4263500"/>
          </a:xfrm>
          <a:prstGeom prst="rect">
            <a:avLst/>
          </a:prstGeom>
          <a:noFill/>
          <a:ln>
            <a:noFill/>
          </a:ln>
        </p:spPr>
      </p:pic>
      <p:sp>
        <p:nvSpPr>
          <p:cNvPr id="393" name="Google Shape;393;p37"/>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u="sng">
                <a:solidFill>
                  <a:schemeClr val="hlink"/>
                </a:solidFill>
                <a:latin typeface="Helvetica Neue"/>
                <a:ea typeface="Helvetica Neue"/>
                <a:cs typeface="Helvetica Neue"/>
                <a:sym typeface="Helvetica Neue"/>
                <a:hlinkClick r:id="rId4"/>
              </a:rPr>
              <a:t>Full DNS Query</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8"/>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2600"/>
              <a:buNone/>
            </a:pPr>
            <a:r>
              <a:rPr lang="fr" sz="1900">
                <a:solidFill>
                  <a:srgbClr val="006A7E"/>
                </a:solidFill>
              </a:rPr>
              <a:t>Lab: Full DNS Query sequence diagram for </a:t>
            </a:r>
            <a:r>
              <a:rPr b="1" lang="fr" sz="1900">
                <a:solidFill>
                  <a:srgbClr val="006A7E"/>
                </a:solidFill>
              </a:rPr>
              <a:t>www.impots.gouv.fr</a:t>
            </a:r>
            <a:endParaRPr b="1" sz="1100"/>
          </a:p>
        </p:txBody>
      </p:sp>
      <p:sp>
        <p:nvSpPr>
          <p:cNvPr id="400" name="Google Shape;400;p38"/>
          <p:cNvSpPr txBox="1"/>
          <p:nvPr/>
        </p:nvSpPr>
        <p:spPr>
          <a:xfrm>
            <a:off x="564694" y="2717663"/>
            <a:ext cx="7888500" cy="2139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000000"/>
                </a:solidFill>
                <a:latin typeface="Arial"/>
                <a:ea typeface="Arial"/>
                <a:cs typeface="Arial"/>
                <a:sym typeface="Arial"/>
              </a:rPr>
              <a:t>Based on the previous sequence diagram (click on link), please recreate the full chain of the resolution of </a:t>
            </a:r>
            <a:r>
              <a:rPr lang="fr" sz="1800"/>
              <a:t>www.impots.gouv.fr</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fr" sz="1300">
                <a:solidFill>
                  <a:srgbClr val="434343"/>
                </a:solidFill>
                <a:latin typeface="Roboto Mono Light"/>
                <a:ea typeface="Roboto Mono Light"/>
                <a:cs typeface="Roboto Mono Light"/>
                <a:sym typeface="Roboto Mono Light"/>
              </a:rPr>
              <a:t>❯ dig www.impots.gouv.fr +noall +answer</a:t>
            </a:r>
            <a:endParaRPr sz="1300">
              <a:solidFill>
                <a:srgbClr val="434343"/>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fr" sz="1300">
                <a:solidFill>
                  <a:srgbClr val="434343"/>
                </a:solidFill>
                <a:latin typeface="Roboto Mono Light"/>
                <a:ea typeface="Roboto Mono Light"/>
                <a:cs typeface="Roboto Mono Light"/>
                <a:sym typeface="Roboto Mono Light"/>
              </a:rPr>
              <a:t>www.impots.gouv.fr.	129	IN	CNAME	www.impots.gouv.fr.edgesuite.net.</a:t>
            </a:r>
            <a:endParaRPr sz="1300">
              <a:solidFill>
                <a:srgbClr val="434343"/>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fr" sz="1300">
                <a:solidFill>
                  <a:srgbClr val="434343"/>
                </a:solidFill>
                <a:latin typeface="Roboto Mono Light"/>
                <a:ea typeface="Roboto Mono Light"/>
                <a:cs typeface="Roboto Mono Light"/>
                <a:sym typeface="Roboto Mono Light"/>
              </a:rPr>
              <a:t>www.impots.gouv.fr.edgesuite.net. 21429	IN CNAME a1352.dscb.akamai.net.</a:t>
            </a:r>
            <a:endParaRPr sz="1300">
              <a:solidFill>
                <a:srgbClr val="434343"/>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fr" sz="1300">
                <a:solidFill>
                  <a:srgbClr val="434343"/>
                </a:solidFill>
                <a:latin typeface="Roboto Mono Light"/>
                <a:ea typeface="Roboto Mono Light"/>
                <a:cs typeface="Roboto Mono Light"/>
                <a:sym typeface="Roboto Mono Light"/>
              </a:rPr>
              <a:t>a1352.dscb.akamai.net.	20	IN	A	95.100.133.81</a:t>
            </a:r>
            <a:endParaRPr sz="1300">
              <a:solidFill>
                <a:srgbClr val="434343"/>
              </a:solidFill>
              <a:latin typeface="Roboto Mono Light"/>
              <a:ea typeface="Roboto Mono Light"/>
              <a:cs typeface="Roboto Mono Light"/>
              <a:sym typeface="Roboto Mono Light"/>
            </a:endParaRPr>
          </a:p>
          <a:p>
            <a:pPr indent="0" lvl="0" marL="0" marR="0" rtl="0" algn="l">
              <a:lnSpc>
                <a:spcPct val="100000"/>
              </a:lnSpc>
              <a:spcBef>
                <a:spcPts val="0"/>
              </a:spcBef>
              <a:spcAft>
                <a:spcPts val="0"/>
              </a:spcAft>
              <a:buClr>
                <a:srgbClr val="000000"/>
              </a:buClr>
              <a:buSzPts val="1100"/>
              <a:buFont typeface="Arial"/>
              <a:buNone/>
            </a:pPr>
            <a:r>
              <a:rPr lang="fr" sz="1300">
                <a:solidFill>
                  <a:srgbClr val="434343"/>
                </a:solidFill>
                <a:latin typeface="Roboto Mono Light"/>
                <a:ea typeface="Roboto Mono Light"/>
                <a:cs typeface="Roboto Mono Light"/>
                <a:sym typeface="Roboto Mono Light"/>
              </a:rPr>
              <a:t>a1352.dscb.akamai.net.	20	IN	A	95.100.133.74</a:t>
            </a:r>
            <a:endParaRPr sz="1300">
              <a:solidFill>
                <a:srgbClr val="434343"/>
              </a:solidFill>
              <a:latin typeface="Roboto Mono Light"/>
              <a:ea typeface="Roboto Mono Light"/>
              <a:cs typeface="Roboto Mono Light"/>
              <a:sym typeface="Roboto Mono Light"/>
            </a:endParaRPr>
          </a:p>
        </p:txBody>
      </p:sp>
      <p:pic>
        <p:nvPicPr>
          <p:cNvPr id="401" name="Google Shape;401;p38"/>
          <p:cNvPicPr preferRelativeResize="0"/>
          <p:nvPr/>
        </p:nvPicPr>
        <p:blipFill rotWithShape="1">
          <a:blip r:embed="rId3">
            <a:alphaModFix/>
          </a:blip>
          <a:srcRect b="0" l="0" r="0" t="0"/>
          <a:stretch/>
        </p:blipFill>
        <p:spPr>
          <a:xfrm>
            <a:off x="689656" y="1168013"/>
            <a:ext cx="1294106" cy="1010495"/>
          </a:xfrm>
          <a:prstGeom prst="rect">
            <a:avLst/>
          </a:prstGeom>
          <a:noFill/>
          <a:ln>
            <a:noFill/>
          </a:ln>
        </p:spPr>
      </p:pic>
      <p:sp>
        <p:nvSpPr>
          <p:cNvPr id="402" name="Google Shape;402;p38"/>
          <p:cNvSpPr txBox="1"/>
          <p:nvPr/>
        </p:nvSpPr>
        <p:spPr>
          <a:xfrm>
            <a:off x="2214900" y="1490344"/>
            <a:ext cx="5594850" cy="43875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rgbClr val="000000"/>
                </a:solidFill>
                <a:latin typeface="Arial"/>
                <a:ea typeface="Arial"/>
                <a:cs typeface="Arial"/>
                <a:sym typeface="Arial"/>
              </a:rPr>
              <a:t>Practical Exercise: Full DNS Query</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9"/>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900"/>
              </a:spcBef>
              <a:spcAft>
                <a:spcPts val="0"/>
              </a:spcAft>
              <a:buSzPts val="1100"/>
              <a:buNone/>
            </a:pPr>
            <a:r>
              <a:rPr lang="fr" sz="1700">
                <a:solidFill>
                  <a:schemeClr val="dk1"/>
                </a:solidFill>
                <a:latin typeface="Helvetica Neue"/>
                <a:ea typeface="Helvetica Neue"/>
                <a:cs typeface="Helvetica Neue"/>
                <a:sym typeface="Helvetica Neue"/>
              </a:rPr>
              <a:t>TTL (Time To Live) is a value configured on the DNS Server which informs the client / resolver </a:t>
            </a:r>
            <a:r>
              <a:rPr b="1" lang="fr" sz="1700">
                <a:solidFill>
                  <a:schemeClr val="dk1"/>
                </a:solidFill>
                <a:latin typeface="Helvetica Neue"/>
                <a:ea typeface="Helvetica Neue"/>
                <a:cs typeface="Helvetica Neue"/>
                <a:sym typeface="Helvetica Neue"/>
              </a:rPr>
              <a:t>how long it should store the DNS record details before sending the query to get the updated information</a:t>
            </a:r>
            <a:r>
              <a:rPr lang="fr" sz="1700">
                <a:solidFill>
                  <a:schemeClr val="dk1"/>
                </a:solidFill>
                <a:latin typeface="Helvetica Neue"/>
                <a:ea typeface="Helvetica Neue"/>
                <a:cs typeface="Helvetica Neue"/>
                <a:sym typeface="Helvetica Neue"/>
              </a:rPr>
              <a:t>. The DNS Server returns the TTL Value along the record.</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rPr lang="fr" sz="1700">
                <a:solidFill>
                  <a:schemeClr val="dk1"/>
                </a:solidFill>
                <a:latin typeface="Helvetica Neue"/>
                <a:ea typeface="Helvetica Neue"/>
                <a:cs typeface="Helvetica Neue"/>
                <a:sym typeface="Helvetica Neue"/>
              </a:rPr>
              <a:t>Per the DNS RFC, DNS TTL values can be configured from 0 seconds to 248555 days.</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rPr lang="fr" sz="1700">
                <a:solidFill>
                  <a:schemeClr val="dk1"/>
                </a:solidFill>
                <a:latin typeface="Helvetica Neue"/>
                <a:ea typeface="Helvetica Neue"/>
                <a:cs typeface="Helvetica Neue"/>
                <a:sym typeface="Helvetica Neue"/>
              </a:rPr>
              <a:t>However </a:t>
            </a:r>
            <a:r>
              <a:rPr lang="fr" sz="1700" u="sng">
                <a:solidFill>
                  <a:schemeClr val="hlink"/>
                </a:solidFill>
                <a:latin typeface="Helvetica Neue"/>
                <a:ea typeface="Helvetica Neue"/>
                <a:cs typeface="Helvetica Neue"/>
                <a:sym typeface="Helvetica Neue"/>
                <a:hlinkClick r:id="rId3"/>
              </a:rPr>
              <a:t>DNS client implementations</a:t>
            </a:r>
            <a:r>
              <a:rPr lang="fr" sz="1700">
                <a:solidFill>
                  <a:schemeClr val="dk1"/>
                </a:solidFill>
                <a:latin typeface="Helvetica Neue"/>
                <a:ea typeface="Helvetica Neue"/>
                <a:cs typeface="Helvetica Neue"/>
                <a:sym typeface="Helvetica Neue"/>
              </a:rPr>
              <a:t> can have different values.</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rPr lang="fr" sz="1700">
                <a:solidFill>
                  <a:schemeClr val="dk1"/>
                </a:solidFill>
                <a:latin typeface="Helvetica Neue"/>
                <a:ea typeface="Helvetica Neue"/>
                <a:cs typeface="Helvetica Neue"/>
                <a:sym typeface="Helvetica Neue"/>
              </a:rPr>
              <a:t>This is why I personally advise TTL values between 1min and 1 day.</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900"/>
              </a:spcAft>
              <a:buSzPts val="1100"/>
              <a:buNone/>
            </a:pPr>
            <a:r>
              <a:t/>
            </a:r>
            <a:endParaRPr sz="1700">
              <a:solidFill>
                <a:schemeClr val="dk1"/>
              </a:solidFill>
              <a:latin typeface="Helvetica Neue"/>
              <a:ea typeface="Helvetica Neue"/>
              <a:cs typeface="Helvetica Neue"/>
              <a:sym typeface="Helvetica Neue"/>
            </a:endParaRPr>
          </a:p>
        </p:txBody>
      </p:sp>
      <p:pic>
        <p:nvPicPr>
          <p:cNvPr id="409" name="Google Shape;409;p39"/>
          <p:cNvPicPr preferRelativeResize="0"/>
          <p:nvPr/>
        </p:nvPicPr>
        <p:blipFill rotWithShape="1">
          <a:blip r:embed="rId4">
            <a:alphaModFix/>
          </a:blip>
          <a:srcRect b="10372" l="0" r="0" t="30117"/>
          <a:stretch/>
        </p:blipFill>
        <p:spPr>
          <a:xfrm>
            <a:off x="2349700" y="3614175"/>
            <a:ext cx="3998976" cy="1297876"/>
          </a:xfrm>
          <a:prstGeom prst="rect">
            <a:avLst/>
          </a:prstGeom>
          <a:noFill/>
          <a:ln>
            <a:noFill/>
          </a:ln>
        </p:spPr>
      </p:pic>
      <p:sp>
        <p:nvSpPr>
          <p:cNvPr id="410" name="Google Shape;410;p39"/>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3000">
                <a:solidFill>
                  <a:srgbClr val="434343"/>
                </a:solidFill>
                <a:latin typeface="Helvetica Neue"/>
                <a:ea typeface="Helvetica Neue"/>
                <a:cs typeface="Helvetica Neue"/>
                <a:sym typeface="Helvetica Neue"/>
              </a:rPr>
              <a:t>TTL: Definition</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0"/>
          <p:cNvSpPr txBox="1"/>
          <p:nvPr>
            <p:ph idx="1" type="body"/>
          </p:nvPr>
        </p:nvSpPr>
        <p:spPr>
          <a:xfrm>
            <a:off x="311700" y="923875"/>
            <a:ext cx="8520600" cy="341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900"/>
              </a:spcBef>
              <a:spcAft>
                <a:spcPts val="0"/>
              </a:spcAft>
              <a:buSzPts val="1100"/>
              <a:buNone/>
            </a:pPr>
            <a:r>
              <a:rPr lang="fr" sz="1700">
                <a:solidFill>
                  <a:schemeClr val="dk1"/>
                </a:solidFill>
                <a:latin typeface="Helvetica Neue"/>
                <a:ea typeface="Helvetica Neue"/>
                <a:cs typeface="Helvetica Neue"/>
                <a:sym typeface="Helvetica Neue"/>
              </a:rPr>
              <a:t>DNS Cache (sometimes called a DNS resolver cache) is a temporary database, maintained by an OS, that contains records of all recent DNS lookups.</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rPr lang="fr" sz="1700">
                <a:solidFill>
                  <a:schemeClr val="dk1"/>
                </a:solidFill>
                <a:latin typeface="Helvetica Neue"/>
                <a:ea typeface="Helvetica Neue"/>
                <a:cs typeface="Helvetica Neue"/>
                <a:sym typeface="Helvetica Neue"/>
              </a:rPr>
              <a:t>Before attempting to resolve a name, the OS will check if the entry is present in the cache. The entries are cleared according to their TTL. Before requesting he will also check the “static cache”: the hosts file.</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rPr lang="fr" sz="1700">
                <a:solidFill>
                  <a:schemeClr val="dk1"/>
                </a:solidFill>
                <a:latin typeface="Helvetica Neue"/>
                <a:ea typeface="Helvetica Neue"/>
                <a:cs typeface="Helvetica Neue"/>
                <a:sym typeface="Helvetica Neue"/>
              </a:rPr>
              <a:t>A browser will also have a DNS cache that they will use before using the OS cache (and the default resolver if not in OS cache OR their own resolver)</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1100"/>
              <a:buNone/>
            </a:pPr>
            <a:r>
              <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900"/>
              </a:spcAft>
              <a:buSzPts val="1100"/>
              <a:buNone/>
            </a:pPr>
            <a:r>
              <a:t/>
            </a:r>
            <a:endParaRPr sz="1700">
              <a:solidFill>
                <a:schemeClr val="dk1"/>
              </a:solidFill>
              <a:latin typeface="Helvetica Neue"/>
              <a:ea typeface="Helvetica Neue"/>
              <a:cs typeface="Helvetica Neue"/>
              <a:sym typeface="Helvetica Neue"/>
            </a:endParaRPr>
          </a:p>
        </p:txBody>
      </p:sp>
      <p:sp>
        <p:nvSpPr>
          <p:cNvPr id="417" name="Google Shape;417;p40"/>
          <p:cNvSpPr txBox="1"/>
          <p:nvPr/>
        </p:nvSpPr>
        <p:spPr>
          <a:xfrm>
            <a:off x="0" y="0"/>
            <a:ext cx="2250000" cy="30015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graphicFrame>
        <p:nvGraphicFramePr>
          <p:cNvPr id="418" name="Google Shape;418;p40"/>
          <p:cNvGraphicFramePr/>
          <p:nvPr/>
        </p:nvGraphicFramePr>
        <p:xfrm>
          <a:off x="346725" y="3387075"/>
          <a:ext cx="3000000" cy="3000000"/>
        </p:xfrm>
        <a:graphic>
          <a:graphicData uri="http://schemas.openxmlformats.org/drawingml/2006/table">
            <a:tbl>
              <a:tblPr>
                <a:noFill/>
                <a:tableStyleId>{814B28DB-4BC7-46AB-893A-5D1E6F475B14}</a:tableStyleId>
              </a:tblPr>
              <a:tblGrid>
                <a:gridCol w="1138575"/>
                <a:gridCol w="1702600"/>
                <a:gridCol w="1249500"/>
                <a:gridCol w="1591675"/>
                <a:gridCol w="1420575"/>
                <a:gridCol w="1420575"/>
              </a:tblGrid>
              <a:tr h="3048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Windows</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Linux (if present)</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Mac (12.x)</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Chrome</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Firefox</a:t>
                      </a:r>
                      <a:endParaRPr sz="1100" u="none" cap="none" strike="noStrike"/>
                    </a:p>
                  </a:txBody>
                  <a:tcPr marT="68575" marB="68575" marR="68575" marL="68575"/>
                </a:tc>
              </a:tr>
              <a:tr h="468950">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Check Cache</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ipconfig /displaydns</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resolvectl query $HOSTNAME</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Hashed as considered as private data</a:t>
                      </a:r>
                      <a:endParaRPr sz="1100" u="none" cap="none" strike="noStrike"/>
                    </a:p>
                  </a:txBody>
                  <a:tcPr marT="68575" marB="68575" marR="68575" marL="68575"/>
                </a:tc>
                <a:tc rowSpan="2">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chrome://net-internals/#dns</a:t>
                      </a:r>
                      <a:endParaRPr sz="1100" u="none" cap="none" strike="noStrike"/>
                    </a:p>
                  </a:txBody>
                  <a:tcPr marT="68575" marB="68575" marR="68575" marL="68575"/>
                </a:tc>
                <a:tc rowSpan="2">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about:networking#dns</a:t>
                      </a:r>
                      <a:endParaRPr sz="1100" u="none" cap="none" strike="noStrike"/>
                    </a:p>
                  </a:txBody>
                  <a:tcPr marT="68575" marB="68575" marR="68575" marL="68575"/>
                </a:tc>
              </a:tr>
              <a:tr h="468950">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Clear Cache</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ipconfig /flushdns</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resolvectl flush-caches</a:t>
                      </a:r>
                      <a:endParaRPr sz="11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100" u="none" cap="none" strike="noStrike"/>
                        <a:t>sudo dscacheutil -flushcache; sudo killall -HUP mDNSResponder</a:t>
                      </a:r>
                      <a:endParaRPr sz="1100" u="none" cap="none" strike="noStrike"/>
                    </a:p>
                  </a:txBody>
                  <a:tcPr marT="68575" marB="68575" marR="68575" marL="68575"/>
                </a:tc>
                <a:tc vMerge="1"/>
                <a:tc vMerge="1"/>
              </a:tr>
            </a:tbl>
          </a:graphicData>
        </a:graphic>
      </p:graphicFrame>
      <p:sp>
        <p:nvSpPr>
          <p:cNvPr id="419" name="Google Shape;419;p40"/>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DNS Cache</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1"/>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p>
            <a:pPr indent="0" lvl="0" marL="0" rtl="0" algn="l">
              <a:lnSpc>
                <a:spcPct val="50000"/>
              </a:lnSpc>
              <a:spcBef>
                <a:spcPts val="900"/>
              </a:spcBef>
              <a:spcAft>
                <a:spcPts val="0"/>
              </a:spcAft>
              <a:buClr>
                <a:schemeClr val="dk1"/>
              </a:buClr>
              <a:buSzPts val="800"/>
              <a:buFont typeface="Arial"/>
              <a:buNone/>
            </a:pPr>
            <a:r>
              <a:rPr lang="fr" sz="1500">
                <a:solidFill>
                  <a:schemeClr val="dk1"/>
                </a:solidFill>
                <a:latin typeface="Roboto Mono Light"/>
                <a:ea typeface="Roboto Mono Light"/>
                <a:cs typeface="Roboto Mono Light"/>
                <a:sym typeface="Roboto Mono Light"/>
              </a:rPr>
              <a:t>❯ dig wikipedia.org +noall +answer</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SzPts val="1100"/>
              <a:buNone/>
            </a:pPr>
            <a:r>
              <a:rPr lang="fr" sz="1500">
                <a:solidFill>
                  <a:schemeClr val="dk1"/>
                </a:solidFill>
                <a:latin typeface="Roboto Mono Light"/>
                <a:ea typeface="Roboto Mono Light"/>
                <a:cs typeface="Roboto Mono Light"/>
                <a:sym typeface="Roboto Mono Light"/>
              </a:rPr>
              <a:t>wikipedia.org.   	 </a:t>
            </a:r>
            <a:r>
              <a:rPr b="1" lang="fr" sz="1500">
                <a:solidFill>
                  <a:schemeClr val="dk1"/>
                </a:solidFill>
                <a:latin typeface="Roboto Mono"/>
                <a:ea typeface="Roboto Mono"/>
                <a:cs typeface="Roboto Mono"/>
                <a:sym typeface="Roboto Mono"/>
              </a:rPr>
              <a:t>403</a:t>
            </a:r>
            <a:r>
              <a:rPr lang="fr" sz="1500">
                <a:solidFill>
                  <a:schemeClr val="dk1"/>
                </a:solidFill>
                <a:latin typeface="Roboto Mono Light"/>
                <a:ea typeface="Roboto Mono Light"/>
                <a:cs typeface="Roboto Mono Light"/>
                <a:sym typeface="Roboto Mono Light"/>
              </a:rPr>
              <a:t>    IN    A    185.15.58.224</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SzPts val="1100"/>
              <a:buNone/>
            </a:pPr>
            <a:r>
              <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Clr>
                <a:schemeClr val="dk1"/>
              </a:buClr>
              <a:buSzPts val="800"/>
              <a:buFont typeface="Arial"/>
              <a:buNone/>
            </a:pPr>
            <a:r>
              <a:rPr lang="fr" sz="1500">
                <a:solidFill>
                  <a:schemeClr val="dk1"/>
                </a:solidFill>
                <a:latin typeface="Roboto Mono Light"/>
                <a:ea typeface="Roboto Mono Light"/>
                <a:cs typeface="Roboto Mono Light"/>
                <a:sym typeface="Roboto Mono Light"/>
              </a:rPr>
              <a:t>❯ dig ns wikipedia.org +noall +answer</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Clr>
                <a:schemeClr val="dk1"/>
              </a:buClr>
              <a:buSzPts val="800"/>
              <a:buFont typeface="Arial"/>
              <a:buNone/>
            </a:pPr>
            <a:r>
              <a:rPr lang="fr" sz="1500">
                <a:solidFill>
                  <a:schemeClr val="dk1"/>
                </a:solidFill>
                <a:latin typeface="Roboto Mono Light"/>
                <a:ea typeface="Roboto Mono Light"/>
                <a:cs typeface="Roboto Mono Light"/>
                <a:sym typeface="Roboto Mono Light"/>
              </a:rPr>
              <a:t>wikipedia.org.   	 2907    IN    NS    ns0.wikimedia.org.</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Clr>
                <a:schemeClr val="dk1"/>
              </a:buClr>
              <a:buSzPts val="800"/>
              <a:buFont typeface="Arial"/>
              <a:buNone/>
            </a:pPr>
            <a:r>
              <a:rPr lang="fr" sz="1500">
                <a:solidFill>
                  <a:schemeClr val="dk1"/>
                </a:solidFill>
                <a:latin typeface="Roboto Mono Light"/>
                <a:ea typeface="Roboto Mono Light"/>
                <a:cs typeface="Roboto Mono Light"/>
                <a:sym typeface="Roboto Mono Light"/>
              </a:rPr>
              <a:t>wikipedia.org.   	 2907    IN    NS    ns2.wikimedia.org.</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SzPts val="1100"/>
              <a:buNone/>
            </a:pPr>
            <a:r>
              <a:rPr lang="fr" sz="1500">
                <a:solidFill>
                  <a:schemeClr val="dk1"/>
                </a:solidFill>
                <a:latin typeface="Roboto Mono Light"/>
                <a:ea typeface="Roboto Mono Light"/>
                <a:cs typeface="Roboto Mono Light"/>
                <a:sym typeface="Roboto Mono Light"/>
              </a:rPr>
              <a:t>wikipedia.org.   	 2907    IN    NS    ns1.wikimedia.org.</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SzPts val="1100"/>
              <a:buNone/>
            </a:pPr>
            <a:r>
              <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0"/>
              </a:spcAft>
              <a:buClr>
                <a:schemeClr val="dk1"/>
              </a:buClr>
              <a:buSzPts val="800"/>
              <a:buFont typeface="Arial"/>
              <a:buNone/>
            </a:pPr>
            <a:r>
              <a:rPr lang="fr" sz="1500">
                <a:solidFill>
                  <a:schemeClr val="dk1"/>
                </a:solidFill>
                <a:latin typeface="Roboto Mono Light"/>
                <a:ea typeface="Roboto Mono Light"/>
                <a:cs typeface="Roboto Mono Light"/>
                <a:sym typeface="Roboto Mono Light"/>
              </a:rPr>
              <a:t>❯ dig wikipedia.org +norecurse @ns0.wikimedia.org +noall +answer</a:t>
            </a:r>
            <a:endParaRPr sz="1500">
              <a:solidFill>
                <a:schemeClr val="dk1"/>
              </a:solidFill>
              <a:latin typeface="Roboto Mono Light"/>
              <a:ea typeface="Roboto Mono Light"/>
              <a:cs typeface="Roboto Mono Light"/>
              <a:sym typeface="Roboto Mono Light"/>
            </a:endParaRPr>
          </a:p>
          <a:p>
            <a:pPr indent="0" lvl="0" marL="0" rtl="0" algn="l">
              <a:lnSpc>
                <a:spcPct val="50000"/>
              </a:lnSpc>
              <a:spcBef>
                <a:spcPts val="900"/>
              </a:spcBef>
              <a:spcAft>
                <a:spcPts val="900"/>
              </a:spcAft>
              <a:buSzPts val="1100"/>
              <a:buNone/>
            </a:pPr>
            <a:r>
              <a:rPr lang="fr" sz="1500">
                <a:solidFill>
                  <a:schemeClr val="dk1"/>
                </a:solidFill>
                <a:latin typeface="Roboto Mono Light"/>
                <a:ea typeface="Roboto Mono Light"/>
                <a:cs typeface="Roboto Mono Light"/>
                <a:sym typeface="Roboto Mono Light"/>
              </a:rPr>
              <a:t>wikipedia.org.   	 </a:t>
            </a:r>
            <a:r>
              <a:rPr b="1" lang="fr" sz="1500">
                <a:solidFill>
                  <a:schemeClr val="dk1"/>
                </a:solidFill>
                <a:latin typeface="Roboto Mono"/>
                <a:ea typeface="Roboto Mono"/>
                <a:cs typeface="Roboto Mono"/>
                <a:sym typeface="Roboto Mono"/>
              </a:rPr>
              <a:t>600</a:t>
            </a:r>
            <a:r>
              <a:rPr lang="fr" sz="1500">
                <a:solidFill>
                  <a:schemeClr val="dk1"/>
                </a:solidFill>
                <a:latin typeface="Roboto Mono Light"/>
                <a:ea typeface="Roboto Mono Light"/>
                <a:cs typeface="Roboto Mono Light"/>
                <a:sym typeface="Roboto Mono Light"/>
              </a:rPr>
              <a:t>    IN    A    185.15.58.224</a:t>
            </a:r>
            <a:endParaRPr sz="1500">
              <a:solidFill>
                <a:schemeClr val="dk1"/>
              </a:solidFill>
              <a:latin typeface="Roboto Mono Light"/>
              <a:ea typeface="Roboto Mono Light"/>
              <a:cs typeface="Roboto Mono Light"/>
              <a:sym typeface="Roboto Mono Light"/>
            </a:endParaRPr>
          </a:p>
        </p:txBody>
      </p:sp>
      <p:sp>
        <p:nvSpPr>
          <p:cNvPr id="426" name="Google Shape;426;p41"/>
          <p:cNvSpPr txBox="1"/>
          <p:nvPr/>
        </p:nvSpPr>
        <p:spPr>
          <a:xfrm>
            <a:off x="408750" y="3625425"/>
            <a:ext cx="8243325" cy="976725"/>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900"/>
              </a:spcBef>
              <a:spcAft>
                <a:spcPts val="900"/>
              </a:spcAft>
              <a:buClr>
                <a:srgbClr val="000000"/>
              </a:buClr>
              <a:buSzPts val="1700"/>
              <a:buFont typeface="Arial"/>
              <a:buNone/>
            </a:pPr>
            <a:r>
              <a:rPr b="0" i="0" lang="fr" sz="1700" u="none" cap="none" strike="noStrike">
                <a:solidFill>
                  <a:schemeClr val="dk1"/>
                </a:solidFill>
                <a:latin typeface="Helvetica Neue"/>
                <a:ea typeface="Helvetica Neue"/>
                <a:cs typeface="Helvetica Neue"/>
                <a:sym typeface="Helvetica Neue"/>
              </a:rPr>
              <a:t>If your default DNS server is not the authoritative server for the zone you are digging (so 99,99% of the time) dig will show the time remaining (until the next refresh) instead of the raw TTL value in this position.</a:t>
            </a:r>
            <a:endParaRPr b="0" i="0" sz="1100" u="none" cap="none" strike="noStrike">
              <a:solidFill>
                <a:srgbClr val="000000"/>
              </a:solidFill>
              <a:latin typeface="Arial"/>
              <a:ea typeface="Arial"/>
              <a:cs typeface="Arial"/>
              <a:sym typeface="Arial"/>
            </a:endParaRPr>
          </a:p>
        </p:txBody>
      </p:sp>
      <p:sp>
        <p:nvSpPr>
          <p:cNvPr id="427" name="Google Shape;427;p41"/>
          <p:cNvSpPr txBox="1"/>
          <p:nvPr/>
        </p:nvSpPr>
        <p:spPr>
          <a:xfrm>
            <a:off x="6412331" y="1129069"/>
            <a:ext cx="3235950" cy="346275"/>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E5000"/>
                </a:solidFill>
                <a:latin typeface="Arial"/>
                <a:ea typeface="Arial"/>
                <a:cs typeface="Arial"/>
                <a:sym typeface="Arial"/>
              </a:rPr>
              <a:t>ISP DNS Resolver Local TTL</a:t>
            </a:r>
            <a:endParaRPr b="1" i="0" sz="1400" u="none" cap="none" strike="noStrike">
              <a:solidFill>
                <a:srgbClr val="FE5000"/>
              </a:solidFill>
              <a:latin typeface="Arial"/>
              <a:ea typeface="Arial"/>
              <a:cs typeface="Arial"/>
              <a:sym typeface="Arial"/>
            </a:endParaRPr>
          </a:p>
        </p:txBody>
      </p:sp>
      <p:sp>
        <p:nvSpPr>
          <p:cNvPr id="428" name="Google Shape;428;p41"/>
          <p:cNvSpPr txBox="1"/>
          <p:nvPr/>
        </p:nvSpPr>
        <p:spPr>
          <a:xfrm>
            <a:off x="7185506" y="1979756"/>
            <a:ext cx="3235800" cy="7851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E5000"/>
                </a:solidFill>
                <a:latin typeface="Arial"/>
                <a:ea typeface="Arial"/>
                <a:cs typeface="Arial"/>
                <a:sym typeface="Arial"/>
              </a:rPr>
              <a:t>Locate and direct</a:t>
            </a:r>
            <a:endParaRPr b="1" i="0" sz="1400" u="none" cap="none" strike="noStrike">
              <a:solidFill>
                <a:srgbClr val="FE5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E5000"/>
                </a:solidFill>
                <a:latin typeface="Arial"/>
                <a:ea typeface="Arial"/>
                <a:cs typeface="Arial"/>
                <a:sym typeface="Arial"/>
              </a:rPr>
              <a:t>Query to authoritative</a:t>
            </a:r>
            <a:endParaRPr b="1" i="0" sz="1400" u="none" cap="none" strike="noStrike">
              <a:solidFill>
                <a:srgbClr val="FE5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E5000"/>
                </a:solidFill>
                <a:latin typeface="Arial"/>
                <a:ea typeface="Arial"/>
                <a:cs typeface="Arial"/>
                <a:sym typeface="Arial"/>
              </a:rPr>
              <a:t>NS</a:t>
            </a:r>
            <a:endParaRPr b="1" i="0" sz="1400" u="none" cap="none" strike="noStrike">
              <a:solidFill>
                <a:srgbClr val="FE5000"/>
              </a:solidFill>
              <a:latin typeface="Arial"/>
              <a:ea typeface="Arial"/>
              <a:cs typeface="Arial"/>
              <a:sym typeface="Arial"/>
            </a:endParaRPr>
          </a:p>
        </p:txBody>
      </p:sp>
      <p:sp>
        <p:nvSpPr>
          <p:cNvPr id="429" name="Google Shape;429;p41"/>
          <p:cNvSpPr txBox="1"/>
          <p:nvPr/>
        </p:nvSpPr>
        <p:spPr>
          <a:xfrm>
            <a:off x="6517031" y="3048335"/>
            <a:ext cx="3235800" cy="3540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E5000"/>
                </a:solidFill>
                <a:latin typeface="Arial"/>
                <a:ea typeface="Arial"/>
                <a:cs typeface="Arial"/>
                <a:sym typeface="Arial"/>
              </a:rPr>
              <a:t>Authoritative TTL answer</a:t>
            </a:r>
            <a:endParaRPr b="1" i="0" sz="1400" u="none" cap="none" strike="noStrike">
              <a:solidFill>
                <a:srgbClr val="FE5000"/>
              </a:solidFill>
              <a:latin typeface="Arial"/>
              <a:ea typeface="Arial"/>
              <a:cs typeface="Arial"/>
              <a:sym typeface="Arial"/>
            </a:endParaRPr>
          </a:p>
        </p:txBody>
      </p:sp>
      <p:sp>
        <p:nvSpPr>
          <p:cNvPr id="430" name="Google Shape;430;p41"/>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3000">
                <a:solidFill>
                  <a:srgbClr val="434343"/>
                </a:solidFill>
                <a:latin typeface="Helvetica Neue"/>
                <a:ea typeface="Helvetica Neue"/>
                <a:cs typeface="Helvetica Neue"/>
                <a:sym typeface="Helvetica Neue"/>
              </a:rPr>
              <a:t>TTL: Lookup</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2"/>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sp>
        <p:nvSpPr>
          <p:cNvPr id="437" name="Google Shape;437;p42"/>
          <p:cNvSpPr txBox="1"/>
          <p:nvPr/>
        </p:nvSpPr>
        <p:spPr>
          <a:xfrm>
            <a:off x="4181850" y="2308894"/>
            <a:ext cx="5479425" cy="3348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300"/>
              <a:buFont typeface="Arial"/>
              <a:buNone/>
            </a:pPr>
            <a:r>
              <a:rPr b="0" i="0" lang="fr" sz="1300" u="none" cap="none" strike="noStrike">
                <a:solidFill>
                  <a:srgbClr val="262626"/>
                </a:solidFill>
                <a:latin typeface="Roboto Mono Light"/>
                <a:ea typeface="Roboto Mono Light"/>
                <a:cs typeface="Roboto Mono Light"/>
                <a:sym typeface="Roboto Mono Light"/>
              </a:rPr>
              <a:t>78.224.34.164.in-addr.arpa PTR mail.megacorp.com</a:t>
            </a:r>
            <a:endParaRPr b="0" i="0" sz="1300" u="none" cap="none" strike="noStrike">
              <a:solidFill>
                <a:srgbClr val="262626"/>
              </a:solidFill>
              <a:latin typeface="Roboto Mono Light"/>
              <a:ea typeface="Roboto Mono Light"/>
              <a:cs typeface="Roboto Mono Light"/>
              <a:sym typeface="Roboto Mono Light"/>
            </a:endParaRPr>
          </a:p>
        </p:txBody>
      </p:sp>
      <p:sp>
        <p:nvSpPr>
          <p:cNvPr id="438" name="Google Shape;438;p42"/>
          <p:cNvSpPr txBox="1"/>
          <p:nvPr/>
        </p:nvSpPr>
        <p:spPr>
          <a:xfrm>
            <a:off x="4239000" y="3079613"/>
            <a:ext cx="4905000" cy="6003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000000"/>
                </a:solidFill>
                <a:latin typeface="Arial"/>
                <a:ea typeface="Arial"/>
                <a:cs typeface="Arial"/>
                <a:sym typeface="Arial"/>
              </a:rPr>
              <a:t>This is equal to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000000"/>
                </a:solidFill>
                <a:latin typeface="Arial"/>
                <a:ea typeface="Arial"/>
                <a:cs typeface="Arial"/>
                <a:sym typeface="Arial"/>
              </a:rPr>
              <a:t>"Pointer from IP 164.34.224.78 to mail.megacorp.com"</a:t>
            </a:r>
            <a:endParaRPr b="0" i="0" sz="1500" u="none" cap="none" strike="noStrike">
              <a:solidFill>
                <a:srgbClr val="000000"/>
              </a:solidFill>
              <a:latin typeface="Arial"/>
              <a:ea typeface="Arial"/>
              <a:cs typeface="Arial"/>
              <a:sym typeface="Arial"/>
            </a:endParaRPr>
          </a:p>
        </p:txBody>
      </p:sp>
      <p:pic>
        <p:nvPicPr>
          <p:cNvPr id="439" name="Google Shape;439;p42"/>
          <p:cNvPicPr preferRelativeResize="0"/>
          <p:nvPr/>
        </p:nvPicPr>
        <p:blipFill rotWithShape="1">
          <a:blip r:embed="rId3">
            <a:alphaModFix/>
          </a:blip>
          <a:srcRect b="0" l="0" r="0" t="0"/>
          <a:stretch/>
        </p:blipFill>
        <p:spPr>
          <a:xfrm>
            <a:off x="114300" y="804076"/>
            <a:ext cx="4067551" cy="3914624"/>
          </a:xfrm>
          <a:prstGeom prst="rect">
            <a:avLst/>
          </a:prstGeom>
          <a:noFill/>
          <a:ln>
            <a:noFill/>
          </a:ln>
        </p:spPr>
      </p:pic>
      <p:sp>
        <p:nvSpPr>
          <p:cNvPr id="440" name="Google Shape;440;p42"/>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400">
                <a:solidFill>
                  <a:srgbClr val="434343"/>
                </a:solidFill>
                <a:latin typeface="Helvetica Neue"/>
                <a:ea typeface="Helvetica Neue"/>
                <a:cs typeface="Helvetica Neue"/>
                <a:sym typeface="Helvetica Neue"/>
              </a:rPr>
              <a:t>DNS Concepts: Reverse Mapping / DNS Lookup, PTR Record</a:t>
            </a:r>
            <a:endParaRPr sz="2400">
              <a:solidFill>
                <a:srgbClr val="434343"/>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3"/>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pic>
        <p:nvPicPr>
          <p:cNvPr id="447" name="Google Shape;447;p43"/>
          <p:cNvPicPr preferRelativeResize="0"/>
          <p:nvPr/>
        </p:nvPicPr>
        <p:blipFill rotWithShape="1">
          <a:blip r:embed="rId3">
            <a:alphaModFix/>
          </a:blip>
          <a:srcRect b="0" l="0" r="0" t="0"/>
          <a:stretch/>
        </p:blipFill>
        <p:spPr>
          <a:xfrm>
            <a:off x="114300" y="1280700"/>
            <a:ext cx="8655466" cy="3438002"/>
          </a:xfrm>
          <a:prstGeom prst="rect">
            <a:avLst/>
          </a:prstGeom>
          <a:noFill/>
          <a:ln>
            <a:noFill/>
          </a:ln>
        </p:spPr>
      </p:pic>
      <p:sp>
        <p:nvSpPr>
          <p:cNvPr id="448" name="Google Shape;448;p43"/>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DNS Concepts: Views</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4"/>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pic>
        <p:nvPicPr>
          <p:cNvPr id="455" name="Google Shape;455;p44"/>
          <p:cNvPicPr preferRelativeResize="0"/>
          <p:nvPr/>
        </p:nvPicPr>
        <p:blipFill rotWithShape="1">
          <a:blip r:embed="rId3">
            <a:alphaModFix/>
          </a:blip>
          <a:srcRect b="0" l="0" r="0" t="0"/>
          <a:stretch/>
        </p:blipFill>
        <p:spPr>
          <a:xfrm>
            <a:off x="684844" y="986699"/>
            <a:ext cx="7438717" cy="2440838"/>
          </a:xfrm>
          <a:prstGeom prst="rect">
            <a:avLst/>
          </a:prstGeom>
          <a:noFill/>
          <a:ln>
            <a:noFill/>
          </a:ln>
        </p:spPr>
      </p:pic>
      <p:sp>
        <p:nvSpPr>
          <p:cNvPr id="456" name="Google Shape;456;p44"/>
          <p:cNvSpPr txBox="1"/>
          <p:nvPr/>
        </p:nvSpPr>
        <p:spPr>
          <a:xfrm>
            <a:off x="684844" y="3427538"/>
            <a:ext cx="7848000" cy="1523925"/>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000000"/>
                </a:solidFill>
                <a:latin typeface="Arial"/>
                <a:ea typeface="Arial"/>
                <a:cs typeface="Arial"/>
                <a:sym typeface="Arial"/>
              </a:rPr>
              <a:t>Split Horizon is the DNS concept that the same resource is having different DNS entry depending from where the resolution is done. It can be implemented in different ways:</a:t>
            </a:r>
            <a:endParaRPr b="0" i="0" sz="1500" u="none" cap="none" strike="noStrike">
              <a:solidFill>
                <a:srgbClr val="000000"/>
              </a:solidFill>
              <a:latin typeface="Arial"/>
              <a:ea typeface="Arial"/>
              <a:cs typeface="Arial"/>
              <a:sym typeface="Arial"/>
            </a:endParaRPr>
          </a:p>
          <a:p>
            <a:pPr indent="-260350" lvl="0" marL="342900" marR="0" rtl="0" algn="l">
              <a:lnSpc>
                <a:spcPct val="100000"/>
              </a:lnSpc>
              <a:spcBef>
                <a:spcPts val="0"/>
              </a:spcBef>
              <a:spcAft>
                <a:spcPts val="0"/>
              </a:spcAft>
              <a:buClr>
                <a:srgbClr val="000000"/>
              </a:buClr>
              <a:buSzPts val="1500"/>
              <a:buFont typeface="Arial"/>
              <a:buChar char="●"/>
            </a:pPr>
            <a:r>
              <a:rPr b="0" i="0" lang="fr" sz="1500" u="none" cap="none" strike="noStrike">
                <a:solidFill>
                  <a:srgbClr val="000000"/>
                </a:solidFill>
                <a:latin typeface="Arial"/>
                <a:ea typeface="Arial"/>
                <a:cs typeface="Arial"/>
                <a:sym typeface="Arial"/>
              </a:rPr>
              <a:t>DNS Views</a:t>
            </a:r>
            <a:endParaRPr b="0" i="0" sz="1500" u="none" cap="none" strike="noStrike">
              <a:solidFill>
                <a:srgbClr val="000000"/>
              </a:solidFill>
              <a:latin typeface="Arial"/>
              <a:ea typeface="Arial"/>
              <a:cs typeface="Arial"/>
              <a:sym typeface="Arial"/>
            </a:endParaRPr>
          </a:p>
          <a:p>
            <a:pPr indent="-260350" lvl="0" marL="342900" marR="0" rtl="0" algn="l">
              <a:lnSpc>
                <a:spcPct val="100000"/>
              </a:lnSpc>
              <a:spcBef>
                <a:spcPts val="0"/>
              </a:spcBef>
              <a:spcAft>
                <a:spcPts val="0"/>
              </a:spcAft>
              <a:buClr>
                <a:srgbClr val="000000"/>
              </a:buClr>
              <a:buSzPts val="1500"/>
              <a:buFont typeface="Arial"/>
              <a:buChar char="●"/>
            </a:pPr>
            <a:r>
              <a:rPr b="0" i="0" lang="fr" sz="1500" u="none" cap="none" strike="noStrike">
                <a:solidFill>
                  <a:srgbClr val="000000"/>
                </a:solidFill>
                <a:latin typeface="Arial"/>
                <a:ea typeface="Arial"/>
                <a:cs typeface="Arial"/>
                <a:sym typeface="Arial"/>
              </a:rPr>
              <a:t>Different DNS servers (hence different zones)</a:t>
            </a:r>
            <a:endParaRPr b="0" i="0" sz="1500" u="none" cap="none" strike="noStrike">
              <a:solidFill>
                <a:srgbClr val="000000"/>
              </a:solidFill>
              <a:latin typeface="Arial"/>
              <a:ea typeface="Arial"/>
              <a:cs typeface="Arial"/>
              <a:sym typeface="Arial"/>
            </a:endParaRPr>
          </a:p>
          <a:p>
            <a:pPr indent="-260350" lvl="0" marL="342900" marR="0" rtl="0" algn="l">
              <a:lnSpc>
                <a:spcPct val="100000"/>
              </a:lnSpc>
              <a:spcBef>
                <a:spcPts val="0"/>
              </a:spcBef>
              <a:spcAft>
                <a:spcPts val="0"/>
              </a:spcAft>
              <a:buClr>
                <a:srgbClr val="000000"/>
              </a:buClr>
              <a:buSzPts val="1500"/>
              <a:buFont typeface="Arial"/>
              <a:buChar char="●"/>
            </a:pPr>
            <a:r>
              <a:rPr b="0" i="0" lang="fr" sz="1500" u="none" cap="none" strike="noStrike">
                <a:solidFill>
                  <a:srgbClr val="000000"/>
                </a:solidFill>
                <a:latin typeface="Arial"/>
                <a:ea typeface="Arial"/>
                <a:cs typeface="Arial"/>
                <a:sym typeface="Arial"/>
              </a:rPr>
              <a:t>DNS Global Load Balancing</a:t>
            </a:r>
            <a:endParaRPr b="0" i="0" sz="1500" u="none" cap="none" strike="noStrike">
              <a:solidFill>
                <a:srgbClr val="000000"/>
              </a:solidFill>
              <a:latin typeface="Arial"/>
              <a:ea typeface="Arial"/>
              <a:cs typeface="Arial"/>
              <a:sym typeface="Arial"/>
            </a:endParaRPr>
          </a:p>
          <a:p>
            <a:pPr indent="-260350" lvl="0" marL="342900" marR="0" rtl="0" algn="l">
              <a:lnSpc>
                <a:spcPct val="100000"/>
              </a:lnSpc>
              <a:spcBef>
                <a:spcPts val="0"/>
              </a:spcBef>
              <a:spcAft>
                <a:spcPts val="0"/>
              </a:spcAft>
              <a:buClr>
                <a:srgbClr val="000000"/>
              </a:buClr>
              <a:buSzPts val="1500"/>
              <a:buFont typeface="Arial"/>
              <a:buChar char="●"/>
            </a:pPr>
            <a:r>
              <a:rPr b="0" i="0" lang="fr" sz="1500" u="none" cap="none" strike="noStrike">
                <a:solidFill>
                  <a:srgbClr val="000000"/>
                </a:solidFill>
                <a:latin typeface="Arial"/>
                <a:ea typeface="Arial"/>
                <a:cs typeface="Arial"/>
                <a:sym typeface="Arial"/>
              </a:rPr>
              <a:t>RPZ</a:t>
            </a:r>
            <a:endParaRPr b="0" i="0" sz="1500" u="none" cap="none" strike="noStrike">
              <a:solidFill>
                <a:srgbClr val="000000"/>
              </a:solidFill>
              <a:latin typeface="Arial"/>
              <a:ea typeface="Arial"/>
              <a:cs typeface="Arial"/>
              <a:sym typeface="Arial"/>
            </a:endParaRPr>
          </a:p>
        </p:txBody>
      </p:sp>
      <p:sp>
        <p:nvSpPr>
          <p:cNvPr id="457" name="Google Shape;457;p44"/>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DNS Concepts: Split Horizon</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5"/>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sp>
        <p:nvSpPr>
          <p:cNvPr id="464" name="Google Shape;464;p45"/>
          <p:cNvSpPr txBox="1"/>
          <p:nvPr/>
        </p:nvSpPr>
        <p:spPr>
          <a:xfrm>
            <a:off x="282900" y="2908025"/>
            <a:ext cx="8649900" cy="2008800"/>
          </a:xfrm>
          <a:prstGeom prst="rect">
            <a:avLst/>
          </a:prstGeom>
          <a:noFill/>
          <a:ln>
            <a:noFill/>
          </a:ln>
        </p:spPr>
        <p:txBody>
          <a:bodyPr anchorCtr="0" anchor="t" bIns="68575" lIns="68575" spcFirstLastPara="1" rIns="68575" wrap="square" tIns="68575">
            <a:spAutoFit/>
          </a:bodyPr>
          <a:lstStyle/>
          <a:p>
            <a:pPr indent="-342900" lvl="0" marL="457200" rtl="0" algn="l">
              <a:lnSpc>
                <a:spcPct val="115000"/>
              </a:lnSpc>
              <a:spcBef>
                <a:spcPts val="0"/>
              </a:spcBef>
              <a:spcAft>
                <a:spcPts val="0"/>
              </a:spcAft>
              <a:buSzPts val="1800"/>
              <a:buChar char="●"/>
            </a:pPr>
            <a:r>
              <a:rPr b="1" lang="fr" sz="1800"/>
              <a:t>What it is</a:t>
            </a:r>
            <a:r>
              <a:rPr lang="fr" sz="1800"/>
              <a:t>: A DNS load balancing method managed by the authoritative nameserver, without needing dedicated load-balancing hardware.</a:t>
            </a:r>
            <a:endParaRPr sz="1800"/>
          </a:p>
          <a:p>
            <a:pPr indent="-342900" lvl="0" marL="457200" rtl="0" algn="l">
              <a:lnSpc>
                <a:spcPct val="115000"/>
              </a:lnSpc>
              <a:spcBef>
                <a:spcPts val="0"/>
              </a:spcBef>
              <a:spcAft>
                <a:spcPts val="0"/>
              </a:spcAft>
              <a:buSzPts val="1800"/>
              <a:buChar char="●"/>
            </a:pPr>
            <a:r>
              <a:rPr b="1" lang="fr" sz="1800"/>
              <a:t>Use Cases</a:t>
            </a:r>
            <a:r>
              <a:rPr lang="fr" sz="1800"/>
              <a:t>: Ideal for websites or services hosted on multiple redundant servers or when a single DNS name directs to multiple proxy servers.</a:t>
            </a:r>
            <a:endParaRPr sz="1800"/>
          </a:p>
          <a:p>
            <a:pPr indent="-342900" lvl="0" marL="457200" marR="0" rtl="0" algn="l">
              <a:lnSpc>
                <a:spcPct val="115000"/>
              </a:lnSpc>
              <a:spcBef>
                <a:spcPts val="0"/>
              </a:spcBef>
              <a:spcAft>
                <a:spcPts val="0"/>
              </a:spcAft>
              <a:buSzPts val="1800"/>
              <a:buChar char="●"/>
            </a:pPr>
            <a:r>
              <a:rPr b="1" lang="fr" sz="1800"/>
              <a:t>How it works</a:t>
            </a:r>
            <a:r>
              <a:rPr lang="fr" sz="1800"/>
              <a:t>: The nameserver provides a different IP address in each DNS response, rotating through available server IPs for balanced traffic distribution.</a:t>
            </a:r>
            <a:endParaRPr sz="1800"/>
          </a:p>
        </p:txBody>
      </p:sp>
      <p:pic>
        <p:nvPicPr>
          <p:cNvPr id="465" name="Google Shape;465;p45"/>
          <p:cNvPicPr preferRelativeResize="0"/>
          <p:nvPr/>
        </p:nvPicPr>
        <p:blipFill rotWithShape="1">
          <a:blip r:embed="rId3">
            <a:alphaModFix/>
          </a:blip>
          <a:srcRect b="0" l="0" r="0" t="0"/>
          <a:stretch/>
        </p:blipFill>
        <p:spPr>
          <a:xfrm>
            <a:off x="1210650" y="889350"/>
            <a:ext cx="5938140" cy="2032537"/>
          </a:xfrm>
          <a:prstGeom prst="rect">
            <a:avLst/>
          </a:prstGeom>
          <a:noFill/>
          <a:ln>
            <a:noFill/>
          </a:ln>
        </p:spPr>
      </p:pic>
      <p:sp>
        <p:nvSpPr>
          <p:cNvPr id="466" name="Google Shape;466;p45"/>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DNS Concepts: Round Robin</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6"/>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sp>
        <p:nvSpPr>
          <p:cNvPr id="473" name="Google Shape;473;p46"/>
          <p:cNvSpPr txBox="1"/>
          <p:nvPr/>
        </p:nvSpPr>
        <p:spPr>
          <a:xfrm>
            <a:off x="359100" y="969656"/>
            <a:ext cx="8424000" cy="3601800"/>
          </a:xfrm>
          <a:prstGeom prst="rect">
            <a:avLst/>
          </a:prstGeom>
          <a:noFill/>
          <a:ln>
            <a:noFill/>
          </a:ln>
        </p:spPr>
        <p:txBody>
          <a:bodyPr anchorCtr="0" anchor="t" bIns="68575" lIns="68575" spcFirstLastPara="1" rIns="68575" wrap="square" tIns="68575">
            <a:spAutoFit/>
          </a:bodyPr>
          <a:lstStyle/>
          <a:p>
            <a:pPr indent="-311150" lvl="0" marL="342900" marR="0" rtl="0" algn="l">
              <a:lnSpc>
                <a:spcPct val="100000"/>
              </a:lnSpc>
              <a:spcBef>
                <a:spcPts val="0"/>
              </a:spcBef>
              <a:spcAft>
                <a:spcPts val="0"/>
              </a:spcAft>
              <a:buClr>
                <a:srgbClr val="000000"/>
              </a:buClr>
              <a:buSzPts val="2300"/>
              <a:buFont typeface="Arial"/>
              <a:buChar char="●"/>
            </a:pPr>
            <a:r>
              <a:rPr b="0" i="0" lang="fr" sz="2300" u="none" cap="none" strike="noStrike">
                <a:solidFill>
                  <a:srgbClr val="000000"/>
                </a:solidFill>
                <a:latin typeface="Arial"/>
                <a:ea typeface="Arial"/>
                <a:cs typeface="Arial"/>
                <a:sym typeface="Arial"/>
              </a:rPr>
              <a:t>DNS Response Policy Zone (RPZ) is a DNS zone which allow to customize policy in DNS servers, so that the server returns modified answers to clients’ queries. </a:t>
            </a:r>
            <a:endParaRPr b="0" i="0" sz="2300" u="none" cap="none" strike="noStrike">
              <a:solidFill>
                <a:srgbClr val="000000"/>
              </a:solidFill>
              <a:latin typeface="Arial"/>
              <a:ea typeface="Arial"/>
              <a:cs typeface="Arial"/>
              <a:sym typeface="Arial"/>
            </a:endParaRPr>
          </a:p>
          <a:p>
            <a:pPr indent="-311150" lvl="0" marL="342900" marR="0" rtl="0" algn="l">
              <a:lnSpc>
                <a:spcPct val="100000"/>
              </a:lnSpc>
              <a:spcBef>
                <a:spcPts val="0"/>
              </a:spcBef>
              <a:spcAft>
                <a:spcPts val="0"/>
              </a:spcAft>
              <a:buClr>
                <a:srgbClr val="000000"/>
              </a:buClr>
              <a:buSzPts val="2300"/>
              <a:buFont typeface="Arial"/>
              <a:buChar char="●"/>
            </a:pPr>
            <a:r>
              <a:rPr b="1" i="0" lang="fr" sz="2300" u="none" cap="none" strike="noStrike">
                <a:solidFill>
                  <a:srgbClr val="000000"/>
                </a:solidFill>
                <a:latin typeface="Arial"/>
                <a:ea typeface="Arial"/>
                <a:cs typeface="Arial"/>
                <a:sym typeface="Arial"/>
              </a:rPr>
              <a:t>RPZ</a:t>
            </a:r>
            <a:r>
              <a:rPr b="0" i="0" lang="fr" sz="2300" u="none" cap="none" strike="noStrike">
                <a:solidFill>
                  <a:srgbClr val="000000"/>
                </a:solidFill>
                <a:latin typeface="Arial"/>
                <a:ea typeface="Arial"/>
                <a:cs typeface="Arial"/>
                <a:sym typeface="Arial"/>
              </a:rPr>
              <a:t>  provides a way to </a:t>
            </a:r>
            <a:r>
              <a:rPr b="1" i="0" lang="fr" sz="2300" u="none" cap="none" strike="noStrike">
                <a:solidFill>
                  <a:srgbClr val="000000"/>
                </a:solidFill>
                <a:latin typeface="Arial"/>
                <a:ea typeface="Arial"/>
                <a:cs typeface="Arial"/>
                <a:sym typeface="Arial"/>
              </a:rPr>
              <a:t>alter a DNS response</a:t>
            </a:r>
            <a:r>
              <a:rPr b="0" i="0" lang="fr" sz="2300" u="none" cap="none" strike="noStrike">
                <a:solidFill>
                  <a:srgbClr val="000000"/>
                </a:solidFill>
                <a:latin typeface="Arial"/>
                <a:ea typeface="Arial"/>
                <a:cs typeface="Arial"/>
                <a:sym typeface="Arial"/>
              </a:rPr>
              <a:t> in real time. RPZ is a “lying” mechanism.</a:t>
            </a:r>
            <a:endParaRPr b="0" i="0" sz="2300" u="none" cap="none" strike="noStrike">
              <a:solidFill>
                <a:srgbClr val="000000"/>
              </a:solidFill>
              <a:latin typeface="Arial"/>
              <a:ea typeface="Arial"/>
              <a:cs typeface="Arial"/>
              <a:sym typeface="Arial"/>
            </a:endParaRPr>
          </a:p>
          <a:p>
            <a:pPr indent="-311150" lvl="0" marL="342900" marR="0" rtl="0" algn="l">
              <a:lnSpc>
                <a:spcPct val="100000"/>
              </a:lnSpc>
              <a:spcBef>
                <a:spcPts val="0"/>
              </a:spcBef>
              <a:spcAft>
                <a:spcPts val="0"/>
              </a:spcAft>
              <a:buClr>
                <a:srgbClr val="000000"/>
              </a:buClr>
              <a:buSzPts val="2300"/>
              <a:buFont typeface="Arial"/>
              <a:buChar char="●"/>
            </a:pPr>
            <a:r>
              <a:rPr b="0" i="0" lang="fr" sz="2300" u="none" cap="none" strike="noStrike">
                <a:solidFill>
                  <a:srgbClr val="000000"/>
                </a:solidFill>
                <a:latin typeface="Arial"/>
                <a:ea typeface="Arial"/>
                <a:cs typeface="Arial"/>
                <a:sym typeface="Arial"/>
              </a:rPr>
              <a:t>It can be used to modify potentially unsafe DNS Data to block communication or provide local data to redirect to a “walled garden”. </a:t>
            </a:r>
            <a:endParaRPr b="0" i="0" sz="2300" u="none" cap="none" strike="noStrike">
              <a:solidFill>
                <a:srgbClr val="000000"/>
              </a:solidFill>
              <a:latin typeface="Arial"/>
              <a:ea typeface="Arial"/>
              <a:cs typeface="Arial"/>
              <a:sym typeface="Arial"/>
            </a:endParaRPr>
          </a:p>
          <a:p>
            <a:pPr indent="-311150" lvl="0" marL="342900" marR="0" rtl="0" algn="l">
              <a:lnSpc>
                <a:spcPct val="100000"/>
              </a:lnSpc>
              <a:spcBef>
                <a:spcPts val="0"/>
              </a:spcBef>
              <a:spcAft>
                <a:spcPts val="0"/>
              </a:spcAft>
              <a:buClr>
                <a:srgbClr val="000000"/>
              </a:buClr>
              <a:buSzPts val="2300"/>
              <a:buFont typeface="Arial"/>
              <a:buChar char="●"/>
            </a:pPr>
            <a:r>
              <a:rPr b="0" i="0" lang="fr" sz="2300" u="none" cap="none" strike="noStrike">
                <a:solidFill>
                  <a:srgbClr val="000000"/>
                </a:solidFill>
                <a:latin typeface="Arial"/>
                <a:ea typeface="Arial"/>
                <a:cs typeface="Arial"/>
                <a:sym typeface="Arial"/>
              </a:rPr>
              <a:t>As we can alter query response or block any domain using RPZ it is also known as </a:t>
            </a:r>
            <a:r>
              <a:rPr b="1" i="0" lang="fr" sz="2300" u="none" cap="none" strike="noStrike">
                <a:solidFill>
                  <a:srgbClr val="000000"/>
                </a:solidFill>
                <a:latin typeface="Arial"/>
                <a:ea typeface="Arial"/>
                <a:cs typeface="Arial"/>
                <a:sym typeface="Arial"/>
              </a:rPr>
              <a:t>DNS firewall (or DNS Sinkhole)</a:t>
            </a:r>
            <a:r>
              <a:rPr b="0" i="0" lang="fr" sz="2300" u="none" cap="none" strike="noStrike">
                <a:solidFill>
                  <a:srgbClr val="000000"/>
                </a:solidFill>
                <a:latin typeface="Arial"/>
                <a:ea typeface="Arial"/>
                <a:cs typeface="Arial"/>
                <a:sym typeface="Arial"/>
              </a:rPr>
              <a:t>.</a:t>
            </a:r>
            <a:endParaRPr b="0" i="0" sz="2300" u="none" cap="none" strike="noStrike">
              <a:solidFill>
                <a:srgbClr val="000000"/>
              </a:solidFill>
              <a:latin typeface="Arial"/>
              <a:ea typeface="Arial"/>
              <a:cs typeface="Arial"/>
              <a:sym typeface="Arial"/>
            </a:endParaRPr>
          </a:p>
        </p:txBody>
      </p:sp>
      <p:sp>
        <p:nvSpPr>
          <p:cNvPr id="474" name="Google Shape;474;p46"/>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3000">
                <a:solidFill>
                  <a:srgbClr val="434343"/>
                </a:solidFill>
                <a:latin typeface="Helvetica Neue"/>
                <a:ea typeface="Helvetica Neue"/>
                <a:cs typeface="Helvetica Neue"/>
                <a:sym typeface="Helvetica Neue"/>
              </a:rPr>
              <a:t>DNS Concepts: RPZ definition</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30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7"/>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pic>
        <p:nvPicPr>
          <p:cNvPr id="481" name="Google Shape;481;p47"/>
          <p:cNvPicPr preferRelativeResize="0"/>
          <p:nvPr/>
        </p:nvPicPr>
        <p:blipFill rotWithShape="1">
          <a:blip r:embed="rId3">
            <a:alphaModFix/>
          </a:blip>
          <a:srcRect b="0" l="0" r="0" t="0"/>
          <a:stretch/>
        </p:blipFill>
        <p:spPr>
          <a:xfrm>
            <a:off x="622163" y="913050"/>
            <a:ext cx="7447350" cy="4064006"/>
          </a:xfrm>
          <a:prstGeom prst="rect">
            <a:avLst/>
          </a:prstGeom>
          <a:noFill/>
          <a:ln>
            <a:noFill/>
          </a:ln>
        </p:spPr>
      </p:pic>
      <p:sp>
        <p:nvSpPr>
          <p:cNvPr id="482" name="Google Shape;482;p47"/>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DNS Concepts: RPZ schema</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8"/>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sp>
        <p:nvSpPr>
          <p:cNvPr id="489" name="Google Shape;489;p48"/>
          <p:cNvSpPr txBox="1"/>
          <p:nvPr/>
        </p:nvSpPr>
        <p:spPr>
          <a:xfrm>
            <a:off x="5180044" y="3176363"/>
            <a:ext cx="3508425" cy="76185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000000"/>
                </a:solidFill>
                <a:latin typeface="Arial"/>
                <a:ea typeface="Arial"/>
                <a:cs typeface="Arial"/>
                <a:sym typeface="Arial"/>
              </a:rPr>
              <a:t>Secondary reads Master SOA Resource Record, check the serial number and request zone transfer if higher</a:t>
            </a:r>
            <a:endParaRPr b="0" i="0" sz="1400" u="none" cap="none" strike="noStrike">
              <a:solidFill>
                <a:srgbClr val="000000"/>
              </a:solidFill>
              <a:latin typeface="Arial"/>
              <a:ea typeface="Arial"/>
              <a:cs typeface="Arial"/>
              <a:sym typeface="Arial"/>
            </a:endParaRPr>
          </a:p>
        </p:txBody>
      </p:sp>
      <p:sp>
        <p:nvSpPr>
          <p:cNvPr id="490" name="Google Shape;490;p48"/>
          <p:cNvSpPr txBox="1"/>
          <p:nvPr/>
        </p:nvSpPr>
        <p:spPr>
          <a:xfrm>
            <a:off x="5187169" y="4266675"/>
            <a:ext cx="3878550" cy="554175"/>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000000"/>
                </a:solidFill>
                <a:latin typeface="Arial"/>
                <a:ea typeface="Arial"/>
                <a:cs typeface="Arial"/>
                <a:sym typeface="Arial"/>
              </a:rPr>
              <a:t>It is impossible to determine from a query result that it came from a zone primary or secondary.</a:t>
            </a:r>
            <a:endParaRPr b="0" i="0" sz="1400" u="none" cap="none" strike="noStrike">
              <a:solidFill>
                <a:srgbClr val="000000"/>
              </a:solidFill>
              <a:latin typeface="Arial"/>
              <a:ea typeface="Arial"/>
              <a:cs typeface="Arial"/>
              <a:sym typeface="Arial"/>
            </a:endParaRPr>
          </a:p>
        </p:txBody>
      </p:sp>
      <p:sp>
        <p:nvSpPr>
          <p:cNvPr id="491" name="Google Shape;491;p48"/>
          <p:cNvSpPr txBox="1"/>
          <p:nvPr/>
        </p:nvSpPr>
        <p:spPr>
          <a:xfrm>
            <a:off x="2582719" y="1239863"/>
            <a:ext cx="6193350" cy="1246725"/>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000000"/>
                </a:solidFill>
                <a:latin typeface="Arial"/>
                <a:ea typeface="Arial"/>
                <a:cs typeface="Arial"/>
                <a:sym typeface="Arial"/>
              </a:rPr>
              <a:t>DNS Zone Primary / Secondary (used to be called Master / Slave) is a concept which allow DNS servers to scale while keeping one unique management point for zone edition.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fr" sz="1800" u="none" cap="none" strike="noStrike">
                <a:solidFill>
                  <a:srgbClr val="000000"/>
                </a:solidFill>
                <a:latin typeface="Arial"/>
                <a:ea typeface="Arial"/>
                <a:cs typeface="Arial"/>
                <a:sym typeface="Arial"/>
              </a:rPr>
              <a:t>The master contains the DNS data source of truth.</a:t>
            </a:r>
            <a:endParaRPr b="0" i="0" sz="1800" u="none" cap="none" strike="noStrike">
              <a:solidFill>
                <a:srgbClr val="000000"/>
              </a:solidFill>
              <a:latin typeface="Arial"/>
              <a:ea typeface="Arial"/>
              <a:cs typeface="Arial"/>
              <a:sym typeface="Arial"/>
            </a:endParaRPr>
          </a:p>
        </p:txBody>
      </p:sp>
      <p:pic>
        <p:nvPicPr>
          <p:cNvPr id="492" name="Google Shape;492;p48"/>
          <p:cNvPicPr preferRelativeResize="0"/>
          <p:nvPr/>
        </p:nvPicPr>
        <p:blipFill rotWithShape="1">
          <a:blip r:embed="rId3">
            <a:alphaModFix/>
          </a:blip>
          <a:srcRect b="0" l="0" r="0" t="0"/>
          <a:stretch/>
        </p:blipFill>
        <p:spPr>
          <a:xfrm>
            <a:off x="92791" y="1210537"/>
            <a:ext cx="4870445" cy="3684431"/>
          </a:xfrm>
          <a:prstGeom prst="rect">
            <a:avLst/>
          </a:prstGeom>
          <a:noFill/>
          <a:ln>
            <a:noFill/>
          </a:ln>
        </p:spPr>
      </p:pic>
      <p:sp>
        <p:nvSpPr>
          <p:cNvPr id="493" name="Google Shape;493;p48"/>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DNS Concepts: Primary, Secondary &amp; Zone Update</a:t>
            </a:r>
            <a:endParaRPr sz="2800">
              <a:solidFill>
                <a:srgbClr val="434343"/>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9"/>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pic>
        <p:nvPicPr>
          <p:cNvPr id="500" name="Google Shape;500;p49"/>
          <p:cNvPicPr preferRelativeResize="0"/>
          <p:nvPr/>
        </p:nvPicPr>
        <p:blipFill rotWithShape="1">
          <a:blip r:embed="rId3">
            <a:alphaModFix/>
          </a:blip>
          <a:srcRect b="0" l="0" r="0" t="0"/>
          <a:stretch/>
        </p:blipFill>
        <p:spPr>
          <a:xfrm>
            <a:off x="4595044" y="652613"/>
            <a:ext cx="4180388" cy="4180388"/>
          </a:xfrm>
          <a:prstGeom prst="rect">
            <a:avLst/>
          </a:prstGeom>
          <a:noFill/>
          <a:ln>
            <a:noFill/>
          </a:ln>
        </p:spPr>
      </p:pic>
      <p:sp>
        <p:nvSpPr>
          <p:cNvPr id="501" name="Google Shape;501;p49"/>
          <p:cNvSpPr txBox="1"/>
          <p:nvPr/>
        </p:nvSpPr>
        <p:spPr>
          <a:xfrm>
            <a:off x="498900" y="2367125"/>
            <a:ext cx="4377300" cy="492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0" i="0" lang="fr" sz="2300" u="none" cap="none" strike="noStrike">
                <a:solidFill>
                  <a:srgbClr val="000000"/>
                </a:solidFill>
                <a:latin typeface="Arial"/>
                <a:ea typeface="Arial"/>
                <a:cs typeface="Arial"/>
                <a:sym typeface="Arial"/>
              </a:rPr>
              <a:t>www.pollev.com/jmanteau973</a:t>
            </a:r>
            <a:endParaRPr b="0" i="0" sz="2300" u="none" cap="none" strike="noStrike">
              <a:solidFill>
                <a:srgbClr val="000000"/>
              </a:solidFill>
              <a:latin typeface="Arial"/>
              <a:ea typeface="Arial"/>
              <a:cs typeface="Arial"/>
              <a:sym typeface="Arial"/>
            </a:endParaRPr>
          </a:p>
        </p:txBody>
      </p:sp>
      <p:sp>
        <p:nvSpPr>
          <p:cNvPr id="502" name="Google Shape;502;p49"/>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3000">
                <a:solidFill>
                  <a:srgbClr val="434343"/>
                </a:solidFill>
                <a:latin typeface="Helvetica Neue"/>
                <a:ea typeface="Helvetica Neue"/>
                <a:cs typeface="Helvetica Neue"/>
                <a:sym typeface="Helvetica Neue"/>
              </a:rPr>
              <a:t>Quizz Time</a:t>
            </a:r>
            <a:endParaRPr sz="3000">
              <a:solidFill>
                <a:srgbClr val="434343"/>
              </a:solidFill>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0"/>
          <p:cNvSpPr txBox="1"/>
          <p:nvPr>
            <p:ph type="title"/>
          </p:nvPr>
        </p:nvSpPr>
        <p:spPr>
          <a:xfrm>
            <a:off x="5119384" y="204519"/>
            <a:ext cx="3836475" cy="11880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2700"/>
              <a:buNone/>
            </a:pPr>
            <a:r>
              <a:rPr lang="fr" sz="3600"/>
              <a:t>DNS &amp; CyberSecurity</a:t>
            </a:r>
            <a:endParaRPr sz="3600"/>
          </a:p>
        </p:txBody>
      </p:sp>
      <p:pic>
        <p:nvPicPr>
          <p:cNvPr id="509" name="Google Shape;509;p50"/>
          <p:cNvPicPr preferRelativeResize="0"/>
          <p:nvPr/>
        </p:nvPicPr>
        <p:blipFill rotWithShape="1">
          <a:blip r:embed="rId3">
            <a:alphaModFix/>
          </a:blip>
          <a:srcRect b="0" l="0" r="0" t="0"/>
          <a:stretch/>
        </p:blipFill>
        <p:spPr>
          <a:xfrm>
            <a:off x="0" y="0"/>
            <a:ext cx="4841876" cy="5143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1"/>
          <p:cNvSpPr/>
          <p:nvPr/>
        </p:nvSpPr>
        <p:spPr>
          <a:xfrm>
            <a:off x="6247050" y="3604425"/>
            <a:ext cx="1861800" cy="645300"/>
          </a:xfrm>
          <a:prstGeom prst="roundRect">
            <a:avLst>
              <a:gd fmla="val 16667" name="adj"/>
            </a:avLst>
          </a:prstGeom>
          <a:solidFill>
            <a:srgbClr val="F3F3F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6" name="Google Shape;516;p51"/>
          <p:cNvSpPr/>
          <p:nvPr/>
        </p:nvSpPr>
        <p:spPr>
          <a:xfrm>
            <a:off x="4649026" y="3640650"/>
            <a:ext cx="1440300" cy="514200"/>
          </a:xfrm>
          <a:prstGeom prst="roundRect">
            <a:avLst>
              <a:gd fmla="val 16667" name="adj"/>
            </a:avLst>
          </a:prstGeom>
          <a:solidFill>
            <a:srgbClr val="F3F3F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7" name="Google Shape;517;p51"/>
          <p:cNvSpPr/>
          <p:nvPr/>
        </p:nvSpPr>
        <p:spPr>
          <a:xfrm>
            <a:off x="2841000" y="3614825"/>
            <a:ext cx="1650300" cy="634800"/>
          </a:xfrm>
          <a:prstGeom prst="roundRect">
            <a:avLst>
              <a:gd fmla="val 16667" name="adj"/>
            </a:avLst>
          </a:prstGeom>
          <a:solidFill>
            <a:srgbClr val="F3F3F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8" name="Google Shape;518;p51"/>
          <p:cNvSpPr/>
          <p:nvPr/>
        </p:nvSpPr>
        <p:spPr>
          <a:xfrm>
            <a:off x="1012350" y="3657227"/>
            <a:ext cx="1650300" cy="592500"/>
          </a:xfrm>
          <a:prstGeom prst="roundRect">
            <a:avLst>
              <a:gd fmla="val 16667" name="adj"/>
            </a:avLst>
          </a:prstGeom>
          <a:solidFill>
            <a:srgbClr val="F3F3F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9" name="Google Shape;519;p51"/>
          <p:cNvSpPr/>
          <p:nvPr/>
        </p:nvSpPr>
        <p:spPr>
          <a:xfrm>
            <a:off x="5455601" y="1364325"/>
            <a:ext cx="2071500" cy="514200"/>
          </a:xfrm>
          <a:prstGeom prst="roundRect">
            <a:avLst>
              <a:gd fmla="val 16667" name="adj"/>
            </a:avLst>
          </a:prstGeom>
          <a:solidFill>
            <a:srgbClr val="F3F3F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0" name="Google Shape;520;p51"/>
          <p:cNvSpPr/>
          <p:nvPr/>
        </p:nvSpPr>
        <p:spPr>
          <a:xfrm>
            <a:off x="3733748" y="1374589"/>
            <a:ext cx="1650300" cy="514200"/>
          </a:xfrm>
          <a:prstGeom prst="roundRect">
            <a:avLst>
              <a:gd fmla="val 16667" name="adj"/>
            </a:avLst>
          </a:prstGeom>
          <a:solidFill>
            <a:srgbClr val="F3F3F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1" name="Google Shape;521;p51"/>
          <p:cNvSpPr/>
          <p:nvPr/>
        </p:nvSpPr>
        <p:spPr>
          <a:xfrm>
            <a:off x="1969385" y="1369164"/>
            <a:ext cx="1650300" cy="514200"/>
          </a:xfrm>
          <a:prstGeom prst="roundRect">
            <a:avLst>
              <a:gd fmla="val 16667" name="adj"/>
            </a:avLst>
          </a:prstGeom>
          <a:solidFill>
            <a:srgbClr val="F3F3F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522" name="Google Shape;522;p51"/>
          <p:cNvPicPr preferRelativeResize="0"/>
          <p:nvPr/>
        </p:nvPicPr>
        <p:blipFill rotWithShape="1">
          <a:blip r:embed="rId3">
            <a:alphaModFix/>
          </a:blip>
          <a:srcRect b="0" l="10537" r="7076" t="0"/>
          <a:stretch/>
        </p:blipFill>
        <p:spPr>
          <a:xfrm>
            <a:off x="370170" y="2096820"/>
            <a:ext cx="8384577" cy="1254960"/>
          </a:xfrm>
          <a:prstGeom prst="rect">
            <a:avLst/>
          </a:prstGeom>
          <a:noFill/>
          <a:ln>
            <a:noFill/>
          </a:ln>
        </p:spPr>
      </p:pic>
      <p:pic>
        <p:nvPicPr>
          <p:cNvPr id="523" name="Google Shape;523;p51"/>
          <p:cNvPicPr preferRelativeResize="0"/>
          <p:nvPr/>
        </p:nvPicPr>
        <p:blipFill rotWithShape="1">
          <a:blip r:embed="rId4">
            <a:alphaModFix/>
          </a:blip>
          <a:srcRect b="0" l="9883" r="6357" t="0"/>
          <a:stretch/>
        </p:blipFill>
        <p:spPr>
          <a:xfrm>
            <a:off x="370170" y="2234250"/>
            <a:ext cx="8384583" cy="987390"/>
          </a:xfrm>
          <a:prstGeom prst="rect">
            <a:avLst/>
          </a:prstGeom>
          <a:noFill/>
          <a:ln>
            <a:noFill/>
          </a:ln>
        </p:spPr>
      </p:pic>
      <p:sp>
        <p:nvSpPr>
          <p:cNvPr id="524" name="Google Shape;524;p51"/>
          <p:cNvSpPr/>
          <p:nvPr/>
        </p:nvSpPr>
        <p:spPr>
          <a:xfrm>
            <a:off x="1425060" y="2631690"/>
            <a:ext cx="913275" cy="913275"/>
          </a:xfrm>
          <a:prstGeom prst="ellipse">
            <a:avLst/>
          </a:prstGeom>
          <a:solidFill>
            <a:schemeClr val="lt1"/>
          </a:solidFill>
          <a:ln cap="flat" cmpd="sng" w="9525">
            <a:solidFill>
              <a:srgbClr val="FFFFFF"/>
            </a:solidFill>
            <a:prstDash val="solid"/>
            <a:round/>
            <a:headEnd len="sm" w="sm" type="none"/>
            <a:tailEnd len="sm" w="sm" type="none"/>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5" name="Google Shape;525;p51"/>
          <p:cNvSpPr/>
          <p:nvPr/>
        </p:nvSpPr>
        <p:spPr>
          <a:xfrm>
            <a:off x="3217050" y="2631690"/>
            <a:ext cx="913275" cy="913275"/>
          </a:xfrm>
          <a:prstGeom prst="ellipse">
            <a:avLst/>
          </a:prstGeom>
          <a:solidFill>
            <a:schemeClr val="lt1"/>
          </a:solidFill>
          <a:ln cap="flat" cmpd="sng" w="9525">
            <a:solidFill>
              <a:srgbClr val="FFFFFF"/>
            </a:solidFill>
            <a:prstDash val="solid"/>
            <a:round/>
            <a:headEnd len="sm" w="sm" type="none"/>
            <a:tailEnd len="sm" w="sm" type="none"/>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6" name="Google Shape;526;p51"/>
          <p:cNvSpPr/>
          <p:nvPr/>
        </p:nvSpPr>
        <p:spPr>
          <a:xfrm>
            <a:off x="4924260" y="2628990"/>
            <a:ext cx="918225" cy="918225"/>
          </a:xfrm>
          <a:prstGeom prst="ellipse">
            <a:avLst/>
          </a:prstGeom>
          <a:solidFill>
            <a:schemeClr val="lt1"/>
          </a:solidFill>
          <a:ln cap="flat" cmpd="sng" w="9525">
            <a:solidFill>
              <a:srgbClr val="FFFFFF"/>
            </a:solidFill>
            <a:prstDash val="solid"/>
            <a:round/>
            <a:headEnd len="sm" w="sm" type="none"/>
            <a:tailEnd len="sm" w="sm" type="none"/>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7" name="Google Shape;527;p51"/>
          <p:cNvSpPr/>
          <p:nvPr/>
        </p:nvSpPr>
        <p:spPr>
          <a:xfrm>
            <a:off x="6703830" y="2631690"/>
            <a:ext cx="913275" cy="913275"/>
          </a:xfrm>
          <a:prstGeom prst="ellipse">
            <a:avLst/>
          </a:prstGeom>
          <a:solidFill>
            <a:schemeClr val="lt1"/>
          </a:solidFill>
          <a:ln cap="flat" cmpd="sng" w="9525">
            <a:solidFill>
              <a:srgbClr val="FFFFFF"/>
            </a:solidFill>
            <a:prstDash val="solid"/>
            <a:round/>
            <a:headEnd len="sm" w="sm" type="none"/>
            <a:tailEnd len="sm" w="sm" type="none"/>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8" name="Google Shape;528;p51"/>
          <p:cNvSpPr/>
          <p:nvPr/>
        </p:nvSpPr>
        <p:spPr>
          <a:xfrm>
            <a:off x="5842800" y="1961820"/>
            <a:ext cx="886725" cy="886725"/>
          </a:xfrm>
          <a:prstGeom prst="ellipse">
            <a:avLst/>
          </a:prstGeom>
          <a:solidFill>
            <a:schemeClr val="lt1"/>
          </a:solidFill>
          <a:ln cap="flat" cmpd="sng" w="9525">
            <a:solidFill>
              <a:srgbClr val="FFFFFF"/>
            </a:solidFill>
            <a:prstDash val="solid"/>
            <a:round/>
            <a:headEnd len="sm" w="sm" type="none"/>
            <a:tailEnd len="sm" w="sm" type="none"/>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9" name="Google Shape;529;p51"/>
          <p:cNvSpPr/>
          <p:nvPr/>
        </p:nvSpPr>
        <p:spPr>
          <a:xfrm>
            <a:off x="4104270" y="1961820"/>
            <a:ext cx="886725" cy="886725"/>
          </a:xfrm>
          <a:prstGeom prst="ellipse">
            <a:avLst/>
          </a:prstGeom>
          <a:solidFill>
            <a:schemeClr val="lt1"/>
          </a:solidFill>
          <a:ln cap="flat" cmpd="sng" w="9525">
            <a:solidFill>
              <a:srgbClr val="FFFFFF"/>
            </a:solidFill>
            <a:prstDash val="solid"/>
            <a:round/>
            <a:headEnd len="sm" w="sm" type="none"/>
            <a:tailEnd len="sm" w="sm" type="none"/>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0" name="Google Shape;530;p51"/>
          <p:cNvSpPr/>
          <p:nvPr/>
        </p:nvSpPr>
        <p:spPr>
          <a:xfrm>
            <a:off x="2394360" y="1961820"/>
            <a:ext cx="886725" cy="886725"/>
          </a:xfrm>
          <a:prstGeom prst="ellipse">
            <a:avLst/>
          </a:prstGeom>
          <a:solidFill>
            <a:schemeClr val="lt1"/>
          </a:solidFill>
          <a:ln cap="flat" cmpd="sng" w="9525">
            <a:solidFill>
              <a:srgbClr val="FFFFFF"/>
            </a:solidFill>
            <a:prstDash val="solid"/>
            <a:round/>
            <a:headEnd len="sm" w="sm" type="none"/>
            <a:tailEnd len="sm" w="sm" type="none"/>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1" name="Google Shape;531;p51"/>
          <p:cNvSpPr/>
          <p:nvPr/>
        </p:nvSpPr>
        <p:spPr>
          <a:xfrm rot="5400000">
            <a:off x="700425" y="2659140"/>
            <a:ext cx="145125" cy="125325"/>
          </a:xfrm>
          <a:prstGeom prst="triangle">
            <a:avLst>
              <a:gd fmla="val 50000" name="adj"/>
            </a:avLst>
          </a:prstGeom>
          <a:solidFill>
            <a:schemeClr val="accent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2" name="Google Shape;532;p51"/>
          <p:cNvSpPr/>
          <p:nvPr/>
        </p:nvSpPr>
        <p:spPr>
          <a:xfrm rot="5400000">
            <a:off x="921285" y="2659140"/>
            <a:ext cx="145125" cy="125325"/>
          </a:xfrm>
          <a:prstGeom prst="triangle">
            <a:avLst>
              <a:gd fmla="val 50000" name="adj"/>
            </a:avLst>
          </a:prstGeom>
          <a:solidFill>
            <a:schemeClr val="accent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533" name="Google Shape;533;p51"/>
          <p:cNvGrpSpPr/>
          <p:nvPr/>
        </p:nvGrpSpPr>
        <p:grpSpPr>
          <a:xfrm>
            <a:off x="1744470" y="3328560"/>
            <a:ext cx="249525" cy="231075"/>
            <a:chOff x="2325960" y="4438080"/>
            <a:chExt cx="332700" cy="308100"/>
          </a:xfrm>
        </p:grpSpPr>
        <p:sp>
          <p:nvSpPr>
            <p:cNvPr id="534" name="Google Shape;534;p51"/>
            <p:cNvSpPr/>
            <p:nvPr/>
          </p:nvSpPr>
          <p:spPr>
            <a:xfrm>
              <a:off x="2345040" y="4438080"/>
              <a:ext cx="308100" cy="308100"/>
            </a:xfrm>
            <a:prstGeom prst="ellipse">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5" name="Google Shape;535;p51"/>
            <p:cNvSpPr/>
            <p:nvPr/>
          </p:nvSpPr>
          <p:spPr>
            <a:xfrm>
              <a:off x="2325960" y="4442760"/>
              <a:ext cx="332700" cy="270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1</a:t>
              </a:r>
              <a:endParaRPr b="0" i="0" sz="1000" u="none" cap="none" strike="noStrike">
                <a:solidFill>
                  <a:srgbClr val="000000"/>
                </a:solidFill>
                <a:latin typeface="Arial"/>
                <a:ea typeface="Arial"/>
                <a:cs typeface="Arial"/>
                <a:sym typeface="Arial"/>
              </a:endParaRPr>
            </a:p>
          </p:txBody>
        </p:sp>
      </p:grpSp>
      <p:sp>
        <p:nvSpPr>
          <p:cNvPr id="536" name="Google Shape;536;p51"/>
          <p:cNvSpPr/>
          <p:nvPr/>
        </p:nvSpPr>
        <p:spPr>
          <a:xfrm>
            <a:off x="1180710" y="3652830"/>
            <a:ext cx="13923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1300"/>
              <a:buFont typeface="Arial"/>
              <a:buNone/>
            </a:pPr>
            <a:r>
              <a:rPr b="1" i="0" lang="fr" sz="1300" u="none" cap="none" strike="noStrike">
                <a:solidFill>
                  <a:srgbClr val="323232"/>
                </a:solidFill>
                <a:latin typeface="Arial"/>
                <a:ea typeface="Arial"/>
                <a:cs typeface="Arial"/>
                <a:sym typeface="Arial"/>
              </a:rPr>
              <a:t>Reconnaissance</a:t>
            </a:r>
            <a:endParaRPr b="0" i="0" sz="1300" u="none" cap="none" strike="noStrike">
              <a:solidFill>
                <a:srgbClr val="000000"/>
              </a:solidFill>
              <a:latin typeface="Arial"/>
              <a:ea typeface="Arial"/>
              <a:cs typeface="Arial"/>
              <a:sym typeface="Arial"/>
            </a:endParaRPr>
          </a:p>
        </p:txBody>
      </p:sp>
      <p:sp>
        <p:nvSpPr>
          <p:cNvPr id="537" name="Google Shape;537;p51"/>
          <p:cNvSpPr/>
          <p:nvPr/>
        </p:nvSpPr>
        <p:spPr>
          <a:xfrm>
            <a:off x="1180710" y="3861540"/>
            <a:ext cx="13923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900"/>
              <a:buFont typeface="Arial"/>
              <a:buNone/>
            </a:pPr>
            <a:r>
              <a:rPr b="0" i="0" lang="fr" sz="900" u="none" cap="none" strike="noStrike">
                <a:solidFill>
                  <a:srgbClr val="323232"/>
                </a:solidFill>
                <a:latin typeface="Arial"/>
                <a:ea typeface="Arial"/>
                <a:cs typeface="Arial"/>
                <a:sym typeface="Arial"/>
              </a:rPr>
              <a:t>Harvesting email addresses, conference information, etc.</a:t>
            </a:r>
            <a:endParaRPr b="0" i="0" sz="900" u="none" cap="none" strike="noStrike">
              <a:solidFill>
                <a:srgbClr val="000000"/>
              </a:solidFill>
              <a:latin typeface="Arial"/>
              <a:ea typeface="Arial"/>
              <a:cs typeface="Arial"/>
              <a:sym typeface="Arial"/>
            </a:endParaRPr>
          </a:p>
        </p:txBody>
      </p:sp>
      <p:grpSp>
        <p:nvGrpSpPr>
          <p:cNvPr id="538" name="Google Shape;538;p51"/>
          <p:cNvGrpSpPr/>
          <p:nvPr/>
        </p:nvGrpSpPr>
        <p:grpSpPr>
          <a:xfrm>
            <a:off x="2708640" y="1925640"/>
            <a:ext cx="249525" cy="231075"/>
            <a:chOff x="3611520" y="2567520"/>
            <a:chExt cx="332700" cy="308100"/>
          </a:xfrm>
        </p:grpSpPr>
        <p:sp>
          <p:nvSpPr>
            <p:cNvPr id="539" name="Google Shape;539;p51"/>
            <p:cNvSpPr/>
            <p:nvPr/>
          </p:nvSpPr>
          <p:spPr>
            <a:xfrm>
              <a:off x="3618720" y="2567520"/>
              <a:ext cx="308100" cy="308100"/>
            </a:xfrm>
            <a:prstGeom prst="ellipse">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0" name="Google Shape;540;p51"/>
            <p:cNvSpPr/>
            <p:nvPr/>
          </p:nvSpPr>
          <p:spPr>
            <a:xfrm>
              <a:off x="3611520" y="2589480"/>
              <a:ext cx="332700" cy="270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2</a:t>
              </a:r>
              <a:endParaRPr b="0" i="0" sz="1000" u="none" cap="none" strike="noStrike">
                <a:solidFill>
                  <a:srgbClr val="000000"/>
                </a:solidFill>
                <a:latin typeface="Arial"/>
                <a:ea typeface="Arial"/>
                <a:cs typeface="Arial"/>
                <a:sym typeface="Arial"/>
              </a:endParaRPr>
            </a:p>
          </p:txBody>
        </p:sp>
      </p:grpSp>
      <p:sp>
        <p:nvSpPr>
          <p:cNvPr id="541" name="Google Shape;541;p51"/>
          <p:cNvSpPr/>
          <p:nvPr/>
        </p:nvSpPr>
        <p:spPr>
          <a:xfrm>
            <a:off x="2141100" y="1380780"/>
            <a:ext cx="13923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1300"/>
              <a:buFont typeface="Arial"/>
              <a:buNone/>
            </a:pPr>
            <a:r>
              <a:rPr b="1" i="0" lang="fr" sz="1300" u="none" cap="none" strike="noStrike">
                <a:solidFill>
                  <a:srgbClr val="323232"/>
                </a:solidFill>
                <a:latin typeface="Arial"/>
                <a:ea typeface="Arial"/>
                <a:cs typeface="Arial"/>
                <a:sym typeface="Arial"/>
              </a:rPr>
              <a:t>Weaponization</a:t>
            </a:r>
            <a:endParaRPr b="0" i="0" sz="1300" u="none" cap="none" strike="noStrike">
              <a:solidFill>
                <a:srgbClr val="000000"/>
              </a:solidFill>
              <a:latin typeface="Arial"/>
              <a:ea typeface="Arial"/>
              <a:cs typeface="Arial"/>
              <a:sym typeface="Arial"/>
            </a:endParaRPr>
          </a:p>
        </p:txBody>
      </p:sp>
      <p:sp>
        <p:nvSpPr>
          <p:cNvPr id="542" name="Google Shape;542;p51"/>
          <p:cNvSpPr/>
          <p:nvPr/>
        </p:nvSpPr>
        <p:spPr>
          <a:xfrm>
            <a:off x="2045250" y="1589220"/>
            <a:ext cx="15534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900"/>
              <a:buFont typeface="Arial"/>
              <a:buNone/>
            </a:pPr>
            <a:r>
              <a:rPr b="0" i="0" lang="fr" sz="900" u="none" cap="none" strike="noStrike">
                <a:solidFill>
                  <a:srgbClr val="323232"/>
                </a:solidFill>
                <a:latin typeface="Arial"/>
                <a:ea typeface="Arial"/>
                <a:cs typeface="Arial"/>
                <a:sym typeface="Arial"/>
              </a:rPr>
              <a:t>Coupling exploit with backdoor into deliverable payload</a:t>
            </a:r>
            <a:endParaRPr b="0" i="0" sz="900" u="none" cap="none" strike="noStrike">
              <a:solidFill>
                <a:srgbClr val="000000"/>
              </a:solidFill>
              <a:latin typeface="Arial"/>
              <a:ea typeface="Arial"/>
              <a:cs typeface="Arial"/>
              <a:sym typeface="Arial"/>
            </a:endParaRPr>
          </a:p>
        </p:txBody>
      </p:sp>
      <p:grpSp>
        <p:nvGrpSpPr>
          <p:cNvPr id="543" name="Google Shape;543;p51"/>
          <p:cNvGrpSpPr/>
          <p:nvPr/>
        </p:nvGrpSpPr>
        <p:grpSpPr>
          <a:xfrm>
            <a:off x="3543480" y="3328560"/>
            <a:ext cx="249525" cy="231075"/>
            <a:chOff x="4724640" y="4438080"/>
            <a:chExt cx="332700" cy="308100"/>
          </a:xfrm>
        </p:grpSpPr>
        <p:sp>
          <p:nvSpPr>
            <p:cNvPr id="544" name="Google Shape;544;p51"/>
            <p:cNvSpPr/>
            <p:nvPr/>
          </p:nvSpPr>
          <p:spPr>
            <a:xfrm>
              <a:off x="4730760" y="4438080"/>
              <a:ext cx="308100" cy="308100"/>
            </a:xfrm>
            <a:prstGeom prst="ellipse">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5" name="Google Shape;545;p51"/>
            <p:cNvSpPr/>
            <p:nvPr/>
          </p:nvSpPr>
          <p:spPr>
            <a:xfrm>
              <a:off x="4724640" y="4447800"/>
              <a:ext cx="332700" cy="270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3</a:t>
              </a:r>
              <a:endParaRPr b="0" i="0" sz="1000" u="none" cap="none" strike="noStrike">
                <a:solidFill>
                  <a:srgbClr val="000000"/>
                </a:solidFill>
                <a:latin typeface="Arial"/>
                <a:ea typeface="Arial"/>
                <a:cs typeface="Arial"/>
                <a:sym typeface="Arial"/>
              </a:endParaRPr>
            </a:p>
          </p:txBody>
        </p:sp>
      </p:grpSp>
      <p:sp>
        <p:nvSpPr>
          <p:cNvPr id="546" name="Google Shape;546;p51"/>
          <p:cNvSpPr/>
          <p:nvPr/>
        </p:nvSpPr>
        <p:spPr>
          <a:xfrm>
            <a:off x="2970000" y="3652830"/>
            <a:ext cx="13923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1300"/>
              <a:buFont typeface="Arial"/>
              <a:buNone/>
            </a:pPr>
            <a:r>
              <a:rPr b="1" i="0" lang="fr" sz="1300" u="none" cap="none" strike="noStrike">
                <a:solidFill>
                  <a:srgbClr val="323232"/>
                </a:solidFill>
                <a:latin typeface="Arial"/>
                <a:ea typeface="Arial"/>
                <a:cs typeface="Arial"/>
                <a:sym typeface="Arial"/>
              </a:rPr>
              <a:t>Delivery</a:t>
            </a:r>
            <a:endParaRPr b="0" i="0" sz="1300" u="none" cap="none" strike="noStrike">
              <a:solidFill>
                <a:srgbClr val="000000"/>
              </a:solidFill>
              <a:latin typeface="Arial"/>
              <a:ea typeface="Arial"/>
              <a:cs typeface="Arial"/>
              <a:sym typeface="Arial"/>
            </a:endParaRPr>
          </a:p>
        </p:txBody>
      </p:sp>
      <p:sp>
        <p:nvSpPr>
          <p:cNvPr id="547" name="Google Shape;547;p51"/>
          <p:cNvSpPr/>
          <p:nvPr/>
        </p:nvSpPr>
        <p:spPr>
          <a:xfrm>
            <a:off x="2977830" y="3861540"/>
            <a:ext cx="1383300" cy="3710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900"/>
              <a:buFont typeface="Arial"/>
              <a:buNone/>
            </a:pPr>
            <a:r>
              <a:rPr b="0" i="0" lang="fr" sz="900" u="none" cap="none" strike="noStrike">
                <a:solidFill>
                  <a:srgbClr val="323232"/>
                </a:solidFill>
                <a:latin typeface="Arial"/>
                <a:ea typeface="Arial"/>
                <a:cs typeface="Arial"/>
                <a:sym typeface="Arial"/>
              </a:rPr>
              <a:t>Delivering weaponized bundle to the victim via email, web, USB, etc.</a:t>
            </a:r>
            <a:endParaRPr b="0" i="0" sz="900" u="none" cap="none" strike="noStrike">
              <a:solidFill>
                <a:srgbClr val="000000"/>
              </a:solidFill>
              <a:latin typeface="Arial"/>
              <a:ea typeface="Arial"/>
              <a:cs typeface="Arial"/>
              <a:sym typeface="Arial"/>
            </a:endParaRPr>
          </a:p>
        </p:txBody>
      </p:sp>
      <p:grpSp>
        <p:nvGrpSpPr>
          <p:cNvPr id="548" name="Google Shape;548;p51"/>
          <p:cNvGrpSpPr/>
          <p:nvPr/>
        </p:nvGrpSpPr>
        <p:grpSpPr>
          <a:xfrm>
            <a:off x="4428000" y="1925640"/>
            <a:ext cx="249525" cy="231075"/>
            <a:chOff x="5904000" y="2567520"/>
            <a:chExt cx="332700" cy="308100"/>
          </a:xfrm>
        </p:grpSpPr>
        <p:sp>
          <p:nvSpPr>
            <p:cNvPr id="549" name="Google Shape;549;p51"/>
            <p:cNvSpPr/>
            <p:nvPr/>
          </p:nvSpPr>
          <p:spPr>
            <a:xfrm>
              <a:off x="5917680" y="2567520"/>
              <a:ext cx="308100" cy="308100"/>
            </a:xfrm>
            <a:prstGeom prst="ellipse">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0" name="Google Shape;550;p51"/>
            <p:cNvSpPr/>
            <p:nvPr/>
          </p:nvSpPr>
          <p:spPr>
            <a:xfrm>
              <a:off x="5904000" y="2581560"/>
              <a:ext cx="332700" cy="270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4</a:t>
              </a:r>
              <a:endParaRPr b="0" i="0" sz="1000" u="none" cap="none" strike="noStrike">
                <a:solidFill>
                  <a:srgbClr val="000000"/>
                </a:solidFill>
                <a:latin typeface="Arial"/>
                <a:ea typeface="Arial"/>
                <a:cs typeface="Arial"/>
                <a:sym typeface="Arial"/>
              </a:endParaRPr>
            </a:p>
          </p:txBody>
        </p:sp>
      </p:grpSp>
      <p:sp>
        <p:nvSpPr>
          <p:cNvPr id="551" name="Google Shape;551;p51"/>
          <p:cNvSpPr/>
          <p:nvPr/>
        </p:nvSpPr>
        <p:spPr>
          <a:xfrm>
            <a:off x="3865320" y="1380780"/>
            <a:ext cx="13923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1300"/>
              <a:buFont typeface="Arial"/>
              <a:buNone/>
            </a:pPr>
            <a:r>
              <a:rPr b="1" i="0" lang="fr" sz="1300" u="none" cap="none" strike="noStrike">
                <a:solidFill>
                  <a:srgbClr val="323232"/>
                </a:solidFill>
                <a:latin typeface="Arial"/>
                <a:ea typeface="Arial"/>
                <a:cs typeface="Arial"/>
                <a:sym typeface="Arial"/>
              </a:rPr>
              <a:t>Exploitation</a:t>
            </a:r>
            <a:endParaRPr b="0" i="0" sz="1300" u="none" cap="none" strike="noStrike">
              <a:solidFill>
                <a:srgbClr val="000000"/>
              </a:solidFill>
              <a:latin typeface="Arial"/>
              <a:ea typeface="Arial"/>
              <a:cs typeface="Arial"/>
              <a:sym typeface="Arial"/>
            </a:endParaRPr>
          </a:p>
        </p:txBody>
      </p:sp>
      <p:sp>
        <p:nvSpPr>
          <p:cNvPr id="552" name="Google Shape;552;p51"/>
          <p:cNvSpPr/>
          <p:nvPr/>
        </p:nvSpPr>
        <p:spPr>
          <a:xfrm>
            <a:off x="3705210" y="1589220"/>
            <a:ext cx="1709775" cy="2997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900"/>
              <a:buFont typeface="Arial"/>
              <a:buNone/>
            </a:pPr>
            <a:r>
              <a:rPr b="0" i="0" lang="fr" sz="900" u="none" cap="none" strike="noStrike">
                <a:solidFill>
                  <a:srgbClr val="323232"/>
                </a:solidFill>
                <a:latin typeface="Arial"/>
                <a:ea typeface="Arial"/>
                <a:cs typeface="Arial"/>
                <a:sym typeface="Arial"/>
              </a:rPr>
              <a:t>Exploiting a vulnerability to execute code on victim’s system</a:t>
            </a:r>
            <a:endParaRPr b="0" i="0" sz="900" u="none" cap="none" strike="noStrike">
              <a:solidFill>
                <a:srgbClr val="000000"/>
              </a:solidFill>
              <a:latin typeface="Arial"/>
              <a:ea typeface="Arial"/>
              <a:cs typeface="Arial"/>
              <a:sym typeface="Arial"/>
            </a:endParaRPr>
          </a:p>
        </p:txBody>
      </p:sp>
      <p:grpSp>
        <p:nvGrpSpPr>
          <p:cNvPr id="553" name="Google Shape;553;p51"/>
          <p:cNvGrpSpPr/>
          <p:nvPr/>
        </p:nvGrpSpPr>
        <p:grpSpPr>
          <a:xfrm>
            <a:off x="5234490" y="3328560"/>
            <a:ext cx="249525" cy="231075"/>
            <a:chOff x="6979320" y="4438080"/>
            <a:chExt cx="332700" cy="308100"/>
          </a:xfrm>
        </p:grpSpPr>
        <p:sp>
          <p:nvSpPr>
            <p:cNvPr id="554" name="Google Shape;554;p51"/>
            <p:cNvSpPr/>
            <p:nvPr/>
          </p:nvSpPr>
          <p:spPr>
            <a:xfrm>
              <a:off x="6996960" y="4438080"/>
              <a:ext cx="308100" cy="308100"/>
            </a:xfrm>
            <a:prstGeom prst="ellipse">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5" name="Google Shape;555;p51"/>
            <p:cNvSpPr/>
            <p:nvPr/>
          </p:nvSpPr>
          <p:spPr>
            <a:xfrm>
              <a:off x="6979320" y="4452480"/>
              <a:ext cx="332700" cy="270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5</a:t>
              </a:r>
              <a:endParaRPr b="0" i="0" sz="1000" u="none" cap="none" strike="noStrike">
                <a:solidFill>
                  <a:srgbClr val="000000"/>
                </a:solidFill>
                <a:latin typeface="Arial"/>
                <a:ea typeface="Arial"/>
                <a:cs typeface="Arial"/>
                <a:sym typeface="Arial"/>
              </a:endParaRPr>
            </a:p>
          </p:txBody>
        </p:sp>
      </p:grpSp>
      <p:sp>
        <p:nvSpPr>
          <p:cNvPr id="556" name="Google Shape;556;p51"/>
          <p:cNvSpPr/>
          <p:nvPr/>
        </p:nvSpPr>
        <p:spPr>
          <a:xfrm>
            <a:off x="4669650" y="3652830"/>
            <a:ext cx="13923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1300"/>
              <a:buFont typeface="Arial"/>
              <a:buNone/>
            </a:pPr>
            <a:r>
              <a:rPr b="1" i="0" lang="fr" sz="1300" u="none" cap="none" strike="noStrike">
                <a:solidFill>
                  <a:srgbClr val="323232"/>
                </a:solidFill>
                <a:latin typeface="Arial"/>
                <a:ea typeface="Arial"/>
                <a:cs typeface="Arial"/>
                <a:sym typeface="Arial"/>
              </a:rPr>
              <a:t>Installation</a:t>
            </a:r>
            <a:endParaRPr b="0" i="0" sz="1300" u="none" cap="none" strike="noStrike">
              <a:solidFill>
                <a:srgbClr val="000000"/>
              </a:solidFill>
              <a:latin typeface="Arial"/>
              <a:ea typeface="Arial"/>
              <a:cs typeface="Arial"/>
              <a:sym typeface="Arial"/>
            </a:endParaRPr>
          </a:p>
        </p:txBody>
      </p:sp>
      <p:sp>
        <p:nvSpPr>
          <p:cNvPr id="557" name="Google Shape;557;p51"/>
          <p:cNvSpPr/>
          <p:nvPr/>
        </p:nvSpPr>
        <p:spPr>
          <a:xfrm>
            <a:off x="4804110" y="3861540"/>
            <a:ext cx="1102275"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900"/>
              <a:buFont typeface="Arial"/>
              <a:buNone/>
            </a:pPr>
            <a:r>
              <a:rPr b="0" i="0" lang="fr" sz="900" u="none" cap="none" strike="noStrike">
                <a:solidFill>
                  <a:srgbClr val="323232"/>
                </a:solidFill>
                <a:latin typeface="Arial"/>
                <a:ea typeface="Arial"/>
                <a:cs typeface="Arial"/>
                <a:sym typeface="Arial"/>
              </a:rPr>
              <a:t>Installing malware on the asset</a:t>
            </a:r>
            <a:endParaRPr b="0" i="0" sz="900" u="none" cap="none" strike="noStrike">
              <a:solidFill>
                <a:srgbClr val="000000"/>
              </a:solidFill>
              <a:latin typeface="Arial"/>
              <a:ea typeface="Arial"/>
              <a:cs typeface="Arial"/>
              <a:sym typeface="Arial"/>
            </a:endParaRPr>
          </a:p>
        </p:txBody>
      </p:sp>
      <p:grpSp>
        <p:nvGrpSpPr>
          <p:cNvPr id="558" name="Google Shape;558;p51"/>
          <p:cNvGrpSpPr/>
          <p:nvPr/>
        </p:nvGrpSpPr>
        <p:grpSpPr>
          <a:xfrm>
            <a:off x="7041330" y="3328560"/>
            <a:ext cx="249525" cy="231075"/>
            <a:chOff x="9388440" y="4438080"/>
            <a:chExt cx="332700" cy="308100"/>
          </a:xfrm>
        </p:grpSpPr>
        <p:sp>
          <p:nvSpPr>
            <p:cNvPr id="559" name="Google Shape;559;p51"/>
            <p:cNvSpPr/>
            <p:nvPr/>
          </p:nvSpPr>
          <p:spPr>
            <a:xfrm>
              <a:off x="9392040" y="4438080"/>
              <a:ext cx="308100" cy="308100"/>
            </a:xfrm>
            <a:prstGeom prst="ellipse">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0" name="Google Shape;560;p51"/>
            <p:cNvSpPr/>
            <p:nvPr/>
          </p:nvSpPr>
          <p:spPr>
            <a:xfrm>
              <a:off x="9388440" y="4459320"/>
              <a:ext cx="332700" cy="270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7</a:t>
              </a:r>
              <a:endParaRPr b="0" i="0" sz="1000" u="none" cap="none" strike="noStrike">
                <a:solidFill>
                  <a:srgbClr val="000000"/>
                </a:solidFill>
                <a:latin typeface="Arial"/>
                <a:ea typeface="Arial"/>
                <a:cs typeface="Arial"/>
                <a:sym typeface="Arial"/>
              </a:endParaRPr>
            </a:p>
          </p:txBody>
        </p:sp>
      </p:grpSp>
      <p:sp>
        <p:nvSpPr>
          <p:cNvPr id="561" name="Google Shape;561;p51"/>
          <p:cNvSpPr/>
          <p:nvPr/>
        </p:nvSpPr>
        <p:spPr>
          <a:xfrm>
            <a:off x="6110100" y="3652830"/>
            <a:ext cx="2126025" cy="20857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1300"/>
              <a:buFont typeface="Arial"/>
              <a:buNone/>
            </a:pPr>
            <a:r>
              <a:rPr b="1" i="0" lang="fr" sz="1300" u="none" cap="none" strike="noStrike">
                <a:solidFill>
                  <a:srgbClr val="323232"/>
                </a:solidFill>
                <a:latin typeface="Arial"/>
                <a:ea typeface="Arial"/>
                <a:cs typeface="Arial"/>
                <a:sym typeface="Arial"/>
              </a:rPr>
              <a:t>Actions on Objectives</a:t>
            </a:r>
            <a:endParaRPr b="0" i="0" sz="1300" u="none" cap="none" strike="noStrike">
              <a:solidFill>
                <a:srgbClr val="000000"/>
              </a:solidFill>
              <a:latin typeface="Arial"/>
              <a:ea typeface="Arial"/>
              <a:cs typeface="Arial"/>
              <a:sym typeface="Arial"/>
            </a:endParaRPr>
          </a:p>
        </p:txBody>
      </p:sp>
      <p:sp>
        <p:nvSpPr>
          <p:cNvPr id="562" name="Google Shape;562;p51"/>
          <p:cNvSpPr/>
          <p:nvPr/>
        </p:nvSpPr>
        <p:spPr>
          <a:xfrm>
            <a:off x="6376050" y="3861540"/>
            <a:ext cx="1590525"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900"/>
              <a:buFont typeface="Arial"/>
              <a:buNone/>
            </a:pPr>
            <a:r>
              <a:rPr b="0" i="0" lang="fr" sz="900" u="none" cap="none" strike="noStrike">
                <a:solidFill>
                  <a:srgbClr val="323232"/>
                </a:solidFill>
                <a:latin typeface="Arial"/>
                <a:ea typeface="Arial"/>
                <a:cs typeface="Arial"/>
                <a:sym typeface="Arial"/>
              </a:rPr>
              <a:t>With “Hands on Keyboard” access, intruders accomplish their original goal</a:t>
            </a:r>
            <a:endParaRPr b="0" i="0" sz="900" u="none" cap="none" strike="noStrike">
              <a:solidFill>
                <a:srgbClr val="000000"/>
              </a:solidFill>
              <a:latin typeface="Arial"/>
              <a:ea typeface="Arial"/>
              <a:cs typeface="Arial"/>
              <a:sym typeface="Arial"/>
            </a:endParaRPr>
          </a:p>
        </p:txBody>
      </p:sp>
      <p:grpSp>
        <p:nvGrpSpPr>
          <p:cNvPr id="563" name="Google Shape;563;p51"/>
          <p:cNvGrpSpPr/>
          <p:nvPr/>
        </p:nvGrpSpPr>
        <p:grpSpPr>
          <a:xfrm>
            <a:off x="6165180" y="1925640"/>
            <a:ext cx="249525" cy="231075"/>
            <a:chOff x="8220240" y="2567520"/>
            <a:chExt cx="332700" cy="308100"/>
          </a:xfrm>
        </p:grpSpPr>
        <p:sp>
          <p:nvSpPr>
            <p:cNvPr id="564" name="Google Shape;564;p51"/>
            <p:cNvSpPr/>
            <p:nvPr/>
          </p:nvSpPr>
          <p:spPr>
            <a:xfrm>
              <a:off x="8226000" y="2567520"/>
              <a:ext cx="308100" cy="308100"/>
            </a:xfrm>
            <a:prstGeom prst="ellipse">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5" name="Google Shape;565;p51"/>
            <p:cNvSpPr/>
            <p:nvPr/>
          </p:nvSpPr>
          <p:spPr>
            <a:xfrm>
              <a:off x="8220240" y="2582640"/>
              <a:ext cx="332700" cy="2703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000"/>
                <a:buFont typeface="Arial"/>
                <a:buNone/>
              </a:pPr>
              <a:r>
                <a:rPr b="1" i="0" lang="fr" sz="1000" u="none" cap="none" strike="noStrike">
                  <a:solidFill>
                    <a:srgbClr val="FFFFFF"/>
                  </a:solidFill>
                  <a:latin typeface="Arial"/>
                  <a:ea typeface="Arial"/>
                  <a:cs typeface="Arial"/>
                  <a:sym typeface="Arial"/>
                </a:rPr>
                <a:t>6</a:t>
              </a:r>
              <a:endParaRPr b="0" i="0" sz="1000" u="none" cap="none" strike="noStrike">
                <a:solidFill>
                  <a:srgbClr val="000000"/>
                </a:solidFill>
                <a:latin typeface="Arial"/>
                <a:ea typeface="Arial"/>
                <a:cs typeface="Arial"/>
                <a:sym typeface="Arial"/>
              </a:endParaRPr>
            </a:p>
          </p:txBody>
        </p:sp>
      </p:grpSp>
      <p:sp>
        <p:nvSpPr>
          <p:cNvPr id="566" name="Google Shape;566;p51"/>
          <p:cNvSpPr/>
          <p:nvPr/>
        </p:nvSpPr>
        <p:spPr>
          <a:xfrm>
            <a:off x="5431980" y="1380780"/>
            <a:ext cx="2071500" cy="208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1300"/>
              <a:buFont typeface="Arial"/>
              <a:buNone/>
            </a:pPr>
            <a:r>
              <a:rPr b="1" i="0" lang="fr" sz="1300" u="none" cap="none" strike="noStrike">
                <a:solidFill>
                  <a:srgbClr val="323232"/>
                </a:solidFill>
                <a:latin typeface="Arial"/>
                <a:ea typeface="Arial"/>
                <a:cs typeface="Arial"/>
                <a:sym typeface="Arial"/>
              </a:rPr>
              <a:t>Command &amp; Control (C2)</a:t>
            </a:r>
            <a:endParaRPr b="0" i="0" sz="1300" u="none" cap="none" strike="noStrike">
              <a:solidFill>
                <a:srgbClr val="000000"/>
              </a:solidFill>
              <a:latin typeface="Arial"/>
              <a:ea typeface="Arial"/>
              <a:cs typeface="Arial"/>
              <a:sym typeface="Arial"/>
            </a:endParaRPr>
          </a:p>
        </p:txBody>
      </p:sp>
      <p:sp>
        <p:nvSpPr>
          <p:cNvPr id="567" name="Google Shape;567;p51"/>
          <p:cNvSpPr/>
          <p:nvPr/>
        </p:nvSpPr>
        <p:spPr>
          <a:xfrm>
            <a:off x="5500710" y="1589220"/>
            <a:ext cx="15534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323232"/>
              </a:buClr>
              <a:buSzPts val="900"/>
              <a:buFont typeface="Arial"/>
              <a:buNone/>
            </a:pPr>
            <a:r>
              <a:rPr b="0" i="0" lang="fr" sz="900" u="none" cap="none" strike="noStrike">
                <a:solidFill>
                  <a:srgbClr val="323232"/>
                </a:solidFill>
                <a:latin typeface="Arial"/>
                <a:ea typeface="Arial"/>
                <a:cs typeface="Arial"/>
                <a:sym typeface="Arial"/>
              </a:rPr>
              <a:t>Command channel for remote manipulation of victim</a:t>
            </a:r>
            <a:endParaRPr b="0" i="0" sz="900" u="none" cap="none" strike="noStrike">
              <a:solidFill>
                <a:srgbClr val="000000"/>
              </a:solidFill>
              <a:latin typeface="Arial"/>
              <a:ea typeface="Arial"/>
              <a:cs typeface="Arial"/>
              <a:sym typeface="Arial"/>
            </a:endParaRPr>
          </a:p>
        </p:txBody>
      </p:sp>
      <p:pic>
        <p:nvPicPr>
          <p:cNvPr id="568" name="Google Shape;568;p51"/>
          <p:cNvPicPr preferRelativeResize="0"/>
          <p:nvPr/>
        </p:nvPicPr>
        <p:blipFill rotWithShape="1">
          <a:blip r:embed="rId5">
            <a:alphaModFix/>
          </a:blip>
          <a:srcRect b="0" l="0" r="0" t="0"/>
          <a:stretch/>
        </p:blipFill>
        <p:spPr>
          <a:xfrm>
            <a:off x="2628720" y="2231280"/>
            <a:ext cx="391768" cy="359099"/>
          </a:xfrm>
          <a:prstGeom prst="rect">
            <a:avLst/>
          </a:prstGeom>
          <a:noFill/>
          <a:ln>
            <a:noFill/>
          </a:ln>
        </p:spPr>
      </p:pic>
      <p:pic>
        <p:nvPicPr>
          <p:cNvPr id="569" name="Google Shape;569;p51"/>
          <p:cNvPicPr preferRelativeResize="0"/>
          <p:nvPr/>
        </p:nvPicPr>
        <p:blipFill rotWithShape="1">
          <a:blip r:embed="rId6">
            <a:alphaModFix/>
          </a:blip>
          <a:srcRect b="0" l="0" r="0" t="0"/>
          <a:stretch/>
        </p:blipFill>
        <p:spPr>
          <a:xfrm>
            <a:off x="4316760" y="2250450"/>
            <a:ext cx="458189" cy="423359"/>
          </a:xfrm>
          <a:prstGeom prst="rect">
            <a:avLst/>
          </a:prstGeom>
          <a:noFill/>
          <a:ln>
            <a:noFill/>
          </a:ln>
        </p:spPr>
      </p:pic>
      <p:pic>
        <p:nvPicPr>
          <p:cNvPr id="570" name="Google Shape;570;p51"/>
          <p:cNvPicPr preferRelativeResize="0"/>
          <p:nvPr/>
        </p:nvPicPr>
        <p:blipFill rotWithShape="1">
          <a:blip r:embed="rId7">
            <a:alphaModFix/>
          </a:blip>
          <a:srcRect b="0" l="0" r="0" t="0"/>
          <a:stretch/>
        </p:blipFill>
        <p:spPr>
          <a:xfrm>
            <a:off x="6951960" y="2824470"/>
            <a:ext cx="375299" cy="464670"/>
          </a:xfrm>
          <a:prstGeom prst="rect">
            <a:avLst/>
          </a:prstGeom>
          <a:noFill/>
          <a:ln>
            <a:noFill/>
          </a:ln>
        </p:spPr>
      </p:pic>
      <p:pic>
        <p:nvPicPr>
          <p:cNvPr id="571" name="Google Shape;571;p51"/>
          <p:cNvPicPr preferRelativeResize="0"/>
          <p:nvPr/>
        </p:nvPicPr>
        <p:blipFill rotWithShape="1">
          <a:blip r:embed="rId8">
            <a:alphaModFix/>
          </a:blip>
          <a:srcRect b="0" l="0" r="0" t="0"/>
          <a:stretch/>
        </p:blipFill>
        <p:spPr>
          <a:xfrm>
            <a:off x="1609470" y="2834730"/>
            <a:ext cx="499770" cy="454408"/>
          </a:xfrm>
          <a:prstGeom prst="rect">
            <a:avLst/>
          </a:prstGeom>
          <a:noFill/>
          <a:ln>
            <a:noFill/>
          </a:ln>
        </p:spPr>
      </p:pic>
      <p:pic>
        <p:nvPicPr>
          <p:cNvPr id="572" name="Google Shape;572;p51"/>
          <p:cNvPicPr preferRelativeResize="0"/>
          <p:nvPr/>
        </p:nvPicPr>
        <p:blipFill rotWithShape="1">
          <a:blip r:embed="rId9">
            <a:alphaModFix/>
          </a:blip>
          <a:srcRect b="0" l="0" r="0" t="0"/>
          <a:stretch/>
        </p:blipFill>
        <p:spPr>
          <a:xfrm>
            <a:off x="5147280" y="2855790"/>
            <a:ext cx="468178" cy="366120"/>
          </a:xfrm>
          <a:prstGeom prst="rect">
            <a:avLst/>
          </a:prstGeom>
          <a:noFill/>
          <a:ln>
            <a:noFill/>
          </a:ln>
        </p:spPr>
      </p:pic>
      <p:pic>
        <p:nvPicPr>
          <p:cNvPr id="573" name="Google Shape;573;p51"/>
          <p:cNvPicPr preferRelativeResize="0"/>
          <p:nvPr/>
        </p:nvPicPr>
        <p:blipFill rotWithShape="1">
          <a:blip r:embed="rId10">
            <a:alphaModFix/>
          </a:blip>
          <a:srcRect b="0" l="0" r="0" t="0"/>
          <a:stretch/>
        </p:blipFill>
        <p:spPr>
          <a:xfrm>
            <a:off x="3445470" y="2763720"/>
            <a:ext cx="533518" cy="520829"/>
          </a:xfrm>
          <a:prstGeom prst="rect">
            <a:avLst/>
          </a:prstGeom>
          <a:noFill/>
          <a:ln>
            <a:noFill/>
          </a:ln>
        </p:spPr>
      </p:pic>
      <p:pic>
        <p:nvPicPr>
          <p:cNvPr id="574" name="Google Shape;574;p51"/>
          <p:cNvPicPr preferRelativeResize="0"/>
          <p:nvPr/>
        </p:nvPicPr>
        <p:blipFill rotWithShape="1">
          <a:blip r:embed="rId11">
            <a:alphaModFix/>
          </a:blip>
          <a:srcRect b="0" l="0" r="0" t="0"/>
          <a:stretch/>
        </p:blipFill>
        <p:spPr>
          <a:xfrm>
            <a:off x="6066900" y="2179980"/>
            <a:ext cx="427679" cy="513272"/>
          </a:xfrm>
          <a:prstGeom prst="rect">
            <a:avLst/>
          </a:prstGeom>
          <a:noFill/>
          <a:ln>
            <a:noFill/>
          </a:ln>
        </p:spPr>
      </p:pic>
      <p:sp>
        <p:nvSpPr>
          <p:cNvPr id="575" name="Google Shape;575;p51"/>
          <p:cNvSpPr/>
          <p:nvPr/>
        </p:nvSpPr>
        <p:spPr>
          <a:xfrm>
            <a:off x="1180710" y="4323240"/>
            <a:ext cx="1392300" cy="431325"/>
          </a:xfrm>
          <a:prstGeom prst="roundRect">
            <a:avLst>
              <a:gd fmla="val 16667" name="adj"/>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6" name="Google Shape;576;p51"/>
          <p:cNvSpPr/>
          <p:nvPr/>
        </p:nvSpPr>
        <p:spPr>
          <a:xfrm>
            <a:off x="1180710" y="4476870"/>
            <a:ext cx="1392300" cy="27562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Reconnaissance</a:t>
            </a:r>
            <a:endParaRPr b="0" i="0" sz="900" u="none" cap="none" strike="noStrike">
              <a:solidFill>
                <a:srgbClr val="000000"/>
              </a:solidFill>
              <a:latin typeface="Arial"/>
              <a:ea typeface="Arial"/>
              <a:cs typeface="Arial"/>
              <a:sym typeface="Arial"/>
            </a:endParaRPr>
          </a:p>
        </p:txBody>
      </p:sp>
      <p:sp>
        <p:nvSpPr>
          <p:cNvPr id="577" name="Google Shape;577;p51"/>
          <p:cNvSpPr/>
          <p:nvPr/>
        </p:nvSpPr>
        <p:spPr>
          <a:xfrm>
            <a:off x="2984850" y="4323240"/>
            <a:ext cx="1392300" cy="431325"/>
          </a:xfrm>
          <a:prstGeom prst="roundRect">
            <a:avLst>
              <a:gd fmla="val 16667" name="adj"/>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8" name="Google Shape;578;p51"/>
          <p:cNvSpPr/>
          <p:nvPr/>
        </p:nvSpPr>
        <p:spPr>
          <a:xfrm>
            <a:off x="3000240" y="4392090"/>
            <a:ext cx="1392300" cy="38137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Resolution</a:t>
            </a:r>
            <a:endParaRPr b="0" i="0" sz="9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Infiltration</a:t>
            </a:r>
            <a:endParaRPr b="0" i="0" sz="900" u="none" cap="none" strike="noStrike">
              <a:solidFill>
                <a:srgbClr val="000000"/>
              </a:solidFill>
              <a:latin typeface="Arial"/>
              <a:ea typeface="Arial"/>
              <a:cs typeface="Arial"/>
              <a:sym typeface="Arial"/>
            </a:endParaRPr>
          </a:p>
        </p:txBody>
      </p:sp>
      <p:sp>
        <p:nvSpPr>
          <p:cNvPr id="579" name="Google Shape;579;p51"/>
          <p:cNvSpPr/>
          <p:nvPr/>
        </p:nvSpPr>
        <p:spPr>
          <a:xfrm>
            <a:off x="6589890" y="4323240"/>
            <a:ext cx="1376775" cy="431325"/>
          </a:xfrm>
          <a:prstGeom prst="roundRect">
            <a:avLst>
              <a:gd fmla="val 16667" name="adj"/>
            </a:avLst>
          </a:prstGeom>
          <a:solidFill>
            <a:schemeClr val="accent3"/>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0" name="Google Shape;580;p51"/>
          <p:cNvSpPr/>
          <p:nvPr/>
        </p:nvSpPr>
        <p:spPr>
          <a:xfrm>
            <a:off x="6158160" y="4371300"/>
            <a:ext cx="2176200" cy="38137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Tunneling</a:t>
            </a:r>
            <a:br>
              <a:rPr b="0" i="0" lang="fr" sz="900" u="none" cap="none" strike="noStrike">
                <a:solidFill>
                  <a:srgbClr val="000000"/>
                </a:solidFill>
                <a:latin typeface="Arial"/>
                <a:ea typeface="Arial"/>
                <a:cs typeface="Arial"/>
                <a:sym typeface="Arial"/>
              </a:rPr>
            </a:br>
            <a:r>
              <a:rPr b="1" i="0" lang="fr" sz="900" u="none" cap="none" strike="noStrike">
                <a:solidFill>
                  <a:srgbClr val="FFFFFF"/>
                </a:solidFill>
                <a:latin typeface="Arial"/>
                <a:ea typeface="Arial"/>
                <a:cs typeface="Arial"/>
                <a:sym typeface="Arial"/>
              </a:rPr>
              <a:t>DNS Exfiltration</a:t>
            </a:r>
            <a:endParaRPr b="0" i="0" sz="9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DDoS</a:t>
            </a:r>
            <a:endParaRPr b="0" i="0" sz="900" u="none" cap="none" strike="noStrike">
              <a:solidFill>
                <a:srgbClr val="000000"/>
              </a:solidFill>
              <a:latin typeface="Arial"/>
              <a:ea typeface="Arial"/>
              <a:cs typeface="Arial"/>
              <a:sym typeface="Arial"/>
            </a:endParaRPr>
          </a:p>
        </p:txBody>
      </p:sp>
      <p:sp>
        <p:nvSpPr>
          <p:cNvPr id="581" name="Google Shape;581;p51"/>
          <p:cNvSpPr/>
          <p:nvPr/>
        </p:nvSpPr>
        <p:spPr>
          <a:xfrm>
            <a:off x="5581710" y="884520"/>
            <a:ext cx="1392300" cy="431325"/>
          </a:xfrm>
          <a:prstGeom prst="roundRect">
            <a:avLst>
              <a:gd fmla="val 16667" name="adj"/>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2" name="Google Shape;582;p51"/>
          <p:cNvSpPr/>
          <p:nvPr/>
        </p:nvSpPr>
        <p:spPr>
          <a:xfrm>
            <a:off x="5601690" y="912600"/>
            <a:ext cx="1392300" cy="38137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Resolution</a:t>
            </a:r>
            <a:endParaRPr b="0" i="0" sz="9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Callback</a:t>
            </a:r>
            <a:endParaRPr b="0" i="0" sz="9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Tunneling</a:t>
            </a:r>
            <a:endParaRPr b="0" i="0" sz="900" u="none" cap="none" strike="noStrike">
              <a:solidFill>
                <a:srgbClr val="000000"/>
              </a:solidFill>
              <a:latin typeface="Arial"/>
              <a:ea typeface="Arial"/>
              <a:cs typeface="Arial"/>
              <a:sym typeface="Arial"/>
            </a:endParaRPr>
          </a:p>
        </p:txBody>
      </p:sp>
      <p:sp>
        <p:nvSpPr>
          <p:cNvPr id="583" name="Google Shape;583;p51"/>
          <p:cNvSpPr/>
          <p:nvPr/>
        </p:nvSpPr>
        <p:spPr>
          <a:xfrm>
            <a:off x="3726810" y="801630"/>
            <a:ext cx="1650375" cy="514125"/>
          </a:xfrm>
          <a:prstGeom prst="roundRect">
            <a:avLst>
              <a:gd fmla="val 16667" name="adj"/>
            </a:avLst>
          </a:prstGeom>
          <a:solidFill>
            <a:srgbClr val="F1793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4" name="Google Shape;584;p51"/>
          <p:cNvSpPr/>
          <p:nvPr/>
        </p:nvSpPr>
        <p:spPr>
          <a:xfrm>
            <a:off x="3751924" y="879652"/>
            <a:ext cx="1622700" cy="458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Protocol Anomalies</a:t>
            </a:r>
            <a:endParaRPr b="0" i="0" sz="9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Exploits</a:t>
            </a:r>
            <a:endParaRPr b="0" i="0" sz="9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FFFFFF"/>
              </a:buClr>
              <a:buSzPts val="900"/>
              <a:buFont typeface="Arial"/>
              <a:buNone/>
            </a:pPr>
            <a:r>
              <a:rPr b="1" i="0" lang="fr" sz="900" u="none" cap="none" strike="noStrike">
                <a:solidFill>
                  <a:srgbClr val="FFFFFF"/>
                </a:solidFill>
                <a:latin typeface="Arial"/>
                <a:ea typeface="Arial"/>
                <a:cs typeface="Arial"/>
                <a:sym typeface="Arial"/>
              </a:rPr>
              <a:t>DNS Hijacking</a:t>
            </a:r>
            <a:endParaRPr b="0" i="0" sz="900" u="none" cap="none" strike="noStrike">
              <a:solidFill>
                <a:srgbClr val="000000"/>
              </a:solidFill>
              <a:latin typeface="Arial"/>
              <a:ea typeface="Arial"/>
              <a:cs typeface="Arial"/>
              <a:sym typeface="Arial"/>
            </a:endParaRPr>
          </a:p>
        </p:txBody>
      </p:sp>
      <p:sp>
        <p:nvSpPr>
          <p:cNvPr id="585" name="Google Shape;585;p51"/>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2400">
                <a:solidFill>
                  <a:srgbClr val="434343"/>
                </a:solidFill>
                <a:latin typeface="Helvetica Neue"/>
                <a:ea typeface="Helvetica Neue"/>
                <a:cs typeface="Helvetica Neue"/>
                <a:sym typeface="Helvetica Neue"/>
              </a:rPr>
              <a:t>How DNS is used by malware (DNS usage in the KillChain) ?</a:t>
            </a:r>
            <a:endParaRPr sz="24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400">
              <a:solidFill>
                <a:srgbClr val="434343"/>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grpSp>
        <p:nvGrpSpPr>
          <p:cNvPr id="591" name="Google Shape;591;p52"/>
          <p:cNvGrpSpPr/>
          <p:nvPr/>
        </p:nvGrpSpPr>
        <p:grpSpPr>
          <a:xfrm>
            <a:off x="346950" y="2150505"/>
            <a:ext cx="8566875" cy="1152675"/>
            <a:chOff x="462600" y="2867340"/>
            <a:chExt cx="11422500" cy="1536900"/>
          </a:xfrm>
        </p:grpSpPr>
        <p:grpSp>
          <p:nvGrpSpPr>
            <p:cNvPr id="592" name="Google Shape;592;p52"/>
            <p:cNvGrpSpPr/>
            <p:nvPr/>
          </p:nvGrpSpPr>
          <p:grpSpPr>
            <a:xfrm>
              <a:off x="462600" y="2867340"/>
              <a:ext cx="11422500" cy="1536900"/>
              <a:chOff x="462600" y="2867340"/>
              <a:chExt cx="11422500" cy="1536900"/>
            </a:xfrm>
          </p:grpSpPr>
          <p:grpSp>
            <p:nvGrpSpPr>
              <p:cNvPr id="593" name="Google Shape;593;p52"/>
              <p:cNvGrpSpPr/>
              <p:nvPr/>
            </p:nvGrpSpPr>
            <p:grpSpPr>
              <a:xfrm>
                <a:off x="462600" y="2867340"/>
                <a:ext cx="11422500" cy="1536900"/>
                <a:chOff x="462600" y="2867340"/>
                <a:chExt cx="11422500" cy="1536900"/>
              </a:xfrm>
            </p:grpSpPr>
            <p:sp>
              <p:nvSpPr>
                <p:cNvPr id="594" name="Google Shape;594;p52"/>
                <p:cNvSpPr/>
                <p:nvPr/>
              </p:nvSpPr>
              <p:spPr>
                <a:xfrm rot="-5400000">
                  <a:off x="5405400" y="-20754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95" name="Google Shape;595;p52"/>
                <p:cNvSpPr/>
                <p:nvPr/>
              </p:nvSpPr>
              <p:spPr>
                <a:xfrm>
                  <a:off x="1698480" y="2999160"/>
                  <a:ext cx="77052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Stopping APTs/malware from using DNS</a:t>
                  </a:r>
                  <a:endParaRPr b="0" i="0" sz="2400" u="none" cap="none" strike="noStrike">
                    <a:solidFill>
                      <a:srgbClr val="000000"/>
                    </a:solidFill>
                    <a:latin typeface="Arial"/>
                    <a:ea typeface="Arial"/>
                    <a:cs typeface="Arial"/>
                    <a:sym typeface="Arial"/>
                  </a:endParaRPr>
                </a:p>
              </p:txBody>
            </p:sp>
          </p:grpSp>
          <p:sp>
            <p:nvSpPr>
              <p:cNvPr id="596" name="Google Shape;596;p52"/>
              <p:cNvSpPr/>
              <p:nvPr/>
            </p:nvSpPr>
            <p:spPr>
              <a:xfrm>
                <a:off x="755640" y="3188880"/>
                <a:ext cx="811500" cy="832200"/>
              </a:xfrm>
              <a:prstGeom prst="ellipse">
                <a:avLst/>
              </a:prstGeom>
              <a:solidFill>
                <a:schemeClr val="accent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2</a:t>
                </a:r>
                <a:endParaRPr b="0" i="0" sz="1800" u="none" cap="none" strike="noStrike">
                  <a:solidFill>
                    <a:srgbClr val="000000"/>
                  </a:solidFill>
                  <a:latin typeface="Arial"/>
                  <a:ea typeface="Arial"/>
                  <a:cs typeface="Arial"/>
                  <a:sym typeface="Arial"/>
                </a:endParaRPr>
              </a:p>
            </p:txBody>
          </p:sp>
        </p:grpSp>
        <p:pic>
          <p:nvPicPr>
            <p:cNvPr id="597" name="Google Shape;597;p52"/>
            <p:cNvPicPr preferRelativeResize="0"/>
            <p:nvPr/>
          </p:nvPicPr>
          <p:blipFill rotWithShape="1">
            <a:blip r:embed="rId3">
              <a:alphaModFix/>
            </a:blip>
            <a:srcRect b="0" l="0" r="0" t="0"/>
            <a:stretch/>
          </p:blipFill>
          <p:spPr>
            <a:xfrm>
              <a:off x="9216000" y="3482280"/>
              <a:ext cx="795600" cy="795600"/>
            </a:xfrm>
            <a:prstGeom prst="rect">
              <a:avLst/>
            </a:prstGeom>
            <a:noFill/>
            <a:ln>
              <a:noFill/>
            </a:ln>
          </p:spPr>
        </p:pic>
        <p:pic>
          <p:nvPicPr>
            <p:cNvPr id="598" name="Google Shape;598;p52"/>
            <p:cNvPicPr preferRelativeResize="0"/>
            <p:nvPr/>
          </p:nvPicPr>
          <p:blipFill rotWithShape="1">
            <a:blip r:embed="rId4">
              <a:alphaModFix/>
            </a:blip>
            <a:srcRect b="0" l="0" r="0" t="0"/>
            <a:stretch/>
          </p:blipFill>
          <p:spPr>
            <a:xfrm>
              <a:off x="9767160" y="2999160"/>
              <a:ext cx="1170720" cy="1170720"/>
            </a:xfrm>
            <a:prstGeom prst="rect">
              <a:avLst/>
            </a:prstGeom>
            <a:noFill/>
            <a:ln>
              <a:noFill/>
            </a:ln>
          </p:spPr>
        </p:pic>
        <p:pic>
          <p:nvPicPr>
            <p:cNvPr id="599" name="Google Shape;599;p52"/>
            <p:cNvPicPr preferRelativeResize="0"/>
            <p:nvPr/>
          </p:nvPicPr>
          <p:blipFill rotWithShape="1">
            <a:blip r:embed="rId5">
              <a:alphaModFix/>
            </a:blip>
            <a:srcRect b="0" l="0" r="0" t="0"/>
            <a:stretch/>
          </p:blipFill>
          <p:spPr>
            <a:xfrm>
              <a:off x="10597680" y="2999160"/>
              <a:ext cx="698400" cy="698400"/>
            </a:xfrm>
            <a:prstGeom prst="rect">
              <a:avLst/>
            </a:prstGeom>
            <a:noFill/>
            <a:ln>
              <a:noFill/>
            </a:ln>
          </p:spPr>
        </p:pic>
      </p:grpSp>
      <p:grpSp>
        <p:nvGrpSpPr>
          <p:cNvPr id="600" name="Google Shape;600;p52"/>
          <p:cNvGrpSpPr/>
          <p:nvPr/>
        </p:nvGrpSpPr>
        <p:grpSpPr>
          <a:xfrm>
            <a:off x="339660" y="3208410"/>
            <a:ext cx="8566875" cy="1796850"/>
            <a:chOff x="452880" y="4277880"/>
            <a:chExt cx="11422500" cy="2395800"/>
          </a:xfrm>
        </p:grpSpPr>
        <p:grpSp>
          <p:nvGrpSpPr>
            <p:cNvPr id="601" name="Google Shape;601;p52"/>
            <p:cNvGrpSpPr/>
            <p:nvPr/>
          </p:nvGrpSpPr>
          <p:grpSpPr>
            <a:xfrm>
              <a:off x="452880" y="4699740"/>
              <a:ext cx="11422500" cy="1536900"/>
              <a:chOff x="452880" y="4699740"/>
              <a:chExt cx="11422500" cy="1536900"/>
            </a:xfrm>
          </p:grpSpPr>
          <p:grpSp>
            <p:nvGrpSpPr>
              <p:cNvPr id="602" name="Google Shape;602;p52"/>
              <p:cNvGrpSpPr/>
              <p:nvPr/>
            </p:nvGrpSpPr>
            <p:grpSpPr>
              <a:xfrm>
                <a:off x="452880" y="4699740"/>
                <a:ext cx="11422500" cy="1536900"/>
                <a:chOff x="452880" y="4699740"/>
                <a:chExt cx="11422500" cy="1536900"/>
              </a:xfrm>
            </p:grpSpPr>
            <p:sp>
              <p:nvSpPr>
                <p:cNvPr id="603" name="Google Shape;603;p52"/>
                <p:cNvSpPr/>
                <p:nvPr/>
              </p:nvSpPr>
              <p:spPr>
                <a:xfrm rot="-5400000">
                  <a:off x="5395680" y="-2430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4" name="Google Shape;604;p52"/>
                <p:cNvSpPr/>
                <p:nvPr/>
              </p:nvSpPr>
              <p:spPr>
                <a:xfrm>
                  <a:off x="1699200" y="4820400"/>
                  <a:ext cx="72987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Defending DNS Infrastructure</a:t>
                  </a:r>
                  <a:endParaRPr b="0" i="0" sz="2400" u="none" cap="none" strike="noStrike">
                    <a:solidFill>
                      <a:srgbClr val="000000"/>
                    </a:solidFill>
                    <a:latin typeface="Arial"/>
                    <a:ea typeface="Arial"/>
                    <a:cs typeface="Arial"/>
                    <a:sym typeface="Arial"/>
                  </a:endParaRPr>
                </a:p>
              </p:txBody>
            </p:sp>
          </p:grpSp>
          <p:sp>
            <p:nvSpPr>
              <p:cNvPr id="605" name="Google Shape;605;p52"/>
              <p:cNvSpPr/>
              <p:nvPr/>
            </p:nvSpPr>
            <p:spPr>
              <a:xfrm>
                <a:off x="756360" y="5028120"/>
                <a:ext cx="811500" cy="832200"/>
              </a:xfrm>
              <a:prstGeom prst="ellipse">
                <a:avLst/>
              </a:prstGeom>
              <a:solidFill>
                <a:schemeClr val="accent4"/>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3</a:t>
                </a:r>
                <a:endParaRPr b="0" i="0" sz="1800" u="none" cap="none" strike="noStrike">
                  <a:solidFill>
                    <a:srgbClr val="000000"/>
                  </a:solidFill>
                  <a:latin typeface="Arial"/>
                  <a:ea typeface="Arial"/>
                  <a:cs typeface="Arial"/>
                  <a:sym typeface="Arial"/>
                </a:endParaRPr>
              </a:p>
            </p:txBody>
          </p:sp>
        </p:grpSp>
        <p:pic>
          <p:nvPicPr>
            <p:cNvPr id="606" name="Google Shape;606;p52"/>
            <p:cNvPicPr preferRelativeResize="0"/>
            <p:nvPr/>
          </p:nvPicPr>
          <p:blipFill rotWithShape="1">
            <a:blip r:embed="rId6">
              <a:alphaModFix/>
            </a:blip>
            <a:srcRect b="0" l="0" r="0" t="0"/>
            <a:stretch/>
          </p:blipFill>
          <p:spPr>
            <a:xfrm>
              <a:off x="9129600" y="4277880"/>
              <a:ext cx="2395800" cy="2395800"/>
            </a:xfrm>
            <a:prstGeom prst="rect">
              <a:avLst/>
            </a:prstGeom>
            <a:noFill/>
            <a:ln>
              <a:noFill/>
            </a:ln>
          </p:spPr>
        </p:pic>
      </p:grpSp>
      <p:sp>
        <p:nvSpPr>
          <p:cNvPr id="607" name="Google Shape;607;p52"/>
          <p:cNvSpPr/>
          <p:nvPr/>
        </p:nvSpPr>
        <p:spPr>
          <a:xfrm>
            <a:off x="346950" y="78030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8" name="Google Shape;608;p52"/>
          <p:cNvSpPr txBox="1"/>
          <p:nvPr>
            <p:ph idx="4294967295" type="title"/>
          </p:nvPr>
        </p:nvSpPr>
        <p:spPr>
          <a:xfrm>
            <a:off x="414188" y="258488"/>
            <a:ext cx="7688700" cy="53527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1900"/>
              <a:buNone/>
            </a:pPr>
            <a:r>
              <a:rPr lang="fr" sz="1100"/>
              <a:t>DNS &amp; CyberSecurity</a:t>
            </a:r>
            <a:endParaRPr sz="1100"/>
          </a:p>
        </p:txBody>
      </p:sp>
      <p:grpSp>
        <p:nvGrpSpPr>
          <p:cNvPr id="609" name="Google Shape;609;p52"/>
          <p:cNvGrpSpPr/>
          <p:nvPr/>
        </p:nvGrpSpPr>
        <p:grpSpPr>
          <a:xfrm>
            <a:off x="333450" y="214110"/>
            <a:ext cx="8566875" cy="2344680"/>
            <a:chOff x="444600" y="285480"/>
            <a:chExt cx="11422500" cy="3126240"/>
          </a:xfrm>
        </p:grpSpPr>
        <p:grpSp>
          <p:nvGrpSpPr>
            <p:cNvPr id="610" name="Google Shape;610;p52"/>
            <p:cNvGrpSpPr/>
            <p:nvPr/>
          </p:nvGrpSpPr>
          <p:grpSpPr>
            <a:xfrm>
              <a:off x="444600" y="1040700"/>
              <a:ext cx="11422500" cy="1543740"/>
              <a:chOff x="444600" y="1040700"/>
              <a:chExt cx="11422500" cy="1543740"/>
            </a:xfrm>
          </p:grpSpPr>
          <p:sp>
            <p:nvSpPr>
              <p:cNvPr id="611" name="Google Shape;611;p52"/>
              <p:cNvSpPr/>
              <p:nvPr/>
            </p:nvSpPr>
            <p:spPr>
              <a:xfrm rot="-5400000">
                <a:off x="5387400" y="-3902100"/>
                <a:ext cx="1536900" cy="11422500"/>
              </a:xfrm>
              <a:prstGeom prst="rect">
                <a:avLst/>
              </a:prstGeom>
              <a:solidFill>
                <a:srgbClr val="D9D9D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2" name="Google Shape;612;p52"/>
              <p:cNvSpPr/>
              <p:nvPr/>
            </p:nvSpPr>
            <p:spPr>
              <a:xfrm>
                <a:off x="1713600" y="1047240"/>
                <a:ext cx="7294200" cy="15372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Preventing communication over DNS</a:t>
                </a:r>
                <a:endParaRPr b="0" i="0" sz="2400" u="none" cap="none" strike="noStrike">
                  <a:solidFill>
                    <a:srgbClr val="000000"/>
                  </a:solidFill>
                  <a:latin typeface="Arial"/>
                  <a:ea typeface="Arial"/>
                  <a:cs typeface="Arial"/>
                  <a:sym typeface="Arial"/>
                </a:endParaRPr>
              </a:p>
            </p:txBody>
          </p:sp>
        </p:grpSp>
        <p:pic>
          <p:nvPicPr>
            <p:cNvPr id="613" name="Google Shape;613;p52"/>
            <p:cNvPicPr preferRelativeResize="0"/>
            <p:nvPr/>
          </p:nvPicPr>
          <p:blipFill rotWithShape="1">
            <a:blip r:embed="rId7">
              <a:alphaModFix/>
            </a:blip>
            <a:srcRect b="0" l="0" r="0" t="0"/>
            <a:stretch/>
          </p:blipFill>
          <p:spPr>
            <a:xfrm>
              <a:off x="8740800" y="285480"/>
              <a:ext cx="3126240" cy="3126240"/>
            </a:xfrm>
            <a:prstGeom prst="rect">
              <a:avLst/>
            </a:prstGeom>
            <a:noFill/>
            <a:ln>
              <a:noFill/>
            </a:ln>
          </p:spPr>
        </p:pic>
        <p:sp>
          <p:nvSpPr>
            <p:cNvPr id="614" name="Google Shape;614;p52"/>
            <p:cNvSpPr/>
            <p:nvPr/>
          </p:nvSpPr>
          <p:spPr>
            <a:xfrm>
              <a:off x="750960" y="1397880"/>
              <a:ext cx="811500" cy="832200"/>
            </a:xfrm>
            <a:prstGeom prst="ellipse">
              <a:avLst/>
            </a:prstGeom>
            <a:solidFill>
              <a:schemeClr val="dk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grpSp>
        <p:nvGrpSpPr>
          <p:cNvPr id="620" name="Google Shape;620;p53"/>
          <p:cNvGrpSpPr/>
          <p:nvPr/>
        </p:nvGrpSpPr>
        <p:grpSpPr>
          <a:xfrm>
            <a:off x="346950" y="2150505"/>
            <a:ext cx="8566875" cy="1152675"/>
            <a:chOff x="462600" y="2867340"/>
            <a:chExt cx="11422500" cy="1536900"/>
          </a:xfrm>
        </p:grpSpPr>
        <p:grpSp>
          <p:nvGrpSpPr>
            <p:cNvPr id="621" name="Google Shape;621;p53"/>
            <p:cNvGrpSpPr/>
            <p:nvPr/>
          </p:nvGrpSpPr>
          <p:grpSpPr>
            <a:xfrm>
              <a:off x="462600" y="2867340"/>
              <a:ext cx="11422500" cy="1536900"/>
              <a:chOff x="462600" y="2867340"/>
              <a:chExt cx="11422500" cy="1536900"/>
            </a:xfrm>
          </p:grpSpPr>
          <p:grpSp>
            <p:nvGrpSpPr>
              <p:cNvPr id="622" name="Google Shape;622;p53"/>
              <p:cNvGrpSpPr/>
              <p:nvPr/>
            </p:nvGrpSpPr>
            <p:grpSpPr>
              <a:xfrm>
                <a:off x="462600" y="2867340"/>
                <a:ext cx="11422500" cy="1536900"/>
                <a:chOff x="462600" y="2867340"/>
                <a:chExt cx="11422500" cy="1536900"/>
              </a:xfrm>
            </p:grpSpPr>
            <p:sp>
              <p:nvSpPr>
                <p:cNvPr id="623" name="Google Shape;623;p53"/>
                <p:cNvSpPr/>
                <p:nvPr/>
              </p:nvSpPr>
              <p:spPr>
                <a:xfrm rot="-5400000">
                  <a:off x="5405400" y="-20754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4" name="Google Shape;624;p53"/>
                <p:cNvSpPr/>
                <p:nvPr/>
              </p:nvSpPr>
              <p:spPr>
                <a:xfrm>
                  <a:off x="1698480" y="2999160"/>
                  <a:ext cx="77052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Stopping APTs/malware from using DNS</a:t>
                  </a:r>
                  <a:endParaRPr b="0" i="0" sz="2400" u="none" cap="none" strike="noStrike">
                    <a:solidFill>
                      <a:srgbClr val="000000"/>
                    </a:solidFill>
                    <a:latin typeface="Arial"/>
                    <a:ea typeface="Arial"/>
                    <a:cs typeface="Arial"/>
                    <a:sym typeface="Arial"/>
                  </a:endParaRPr>
                </a:p>
              </p:txBody>
            </p:sp>
          </p:grpSp>
          <p:sp>
            <p:nvSpPr>
              <p:cNvPr id="625" name="Google Shape;625;p53"/>
              <p:cNvSpPr/>
              <p:nvPr/>
            </p:nvSpPr>
            <p:spPr>
              <a:xfrm>
                <a:off x="755640" y="3188880"/>
                <a:ext cx="811500" cy="832200"/>
              </a:xfrm>
              <a:prstGeom prst="ellipse">
                <a:avLst/>
              </a:prstGeom>
              <a:solidFill>
                <a:schemeClr val="accent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2</a:t>
                </a:r>
                <a:endParaRPr b="0" i="0" sz="1800" u="none" cap="none" strike="noStrike">
                  <a:solidFill>
                    <a:srgbClr val="000000"/>
                  </a:solidFill>
                  <a:latin typeface="Arial"/>
                  <a:ea typeface="Arial"/>
                  <a:cs typeface="Arial"/>
                  <a:sym typeface="Arial"/>
                </a:endParaRPr>
              </a:p>
            </p:txBody>
          </p:sp>
        </p:grpSp>
        <p:pic>
          <p:nvPicPr>
            <p:cNvPr id="626" name="Google Shape;626;p53"/>
            <p:cNvPicPr preferRelativeResize="0"/>
            <p:nvPr/>
          </p:nvPicPr>
          <p:blipFill rotWithShape="1">
            <a:blip r:embed="rId3">
              <a:alphaModFix/>
            </a:blip>
            <a:srcRect b="0" l="0" r="0" t="0"/>
            <a:stretch/>
          </p:blipFill>
          <p:spPr>
            <a:xfrm>
              <a:off x="9216000" y="3482280"/>
              <a:ext cx="795600" cy="795600"/>
            </a:xfrm>
            <a:prstGeom prst="rect">
              <a:avLst/>
            </a:prstGeom>
            <a:noFill/>
            <a:ln>
              <a:noFill/>
            </a:ln>
          </p:spPr>
        </p:pic>
        <p:pic>
          <p:nvPicPr>
            <p:cNvPr id="627" name="Google Shape;627;p53"/>
            <p:cNvPicPr preferRelativeResize="0"/>
            <p:nvPr/>
          </p:nvPicPr>
          <p:blipFill rotWithShape="1">
            <a:blip r:embed="rId4">
              <a:alphaModFix/>
            </a:blip>
            <a:srcRect b="0" l="0" r="0" t="0"/>
            <a:stretch/>
          </p:blipFill>
          <p:spPr>
            <a:xfrm>
              <a:off x="9767160" y="2999160"/>
              <a:ext cx="1170720" cy="1170720"/>
            </a:xfrm>
            <a:prstGeom prst="rect">
              <a:avLst/>
            </a:prstGeom>
            <a:noFill/>
            <a:ln>
              <a:noFill/>
            </a:ln>
          </p:spPr>
        </p:pic>
        <p:pic>
          <p:nvPicPr>
            <p:cNvPr id="628" name="Google Shape;628;p53"/>
            <p:cNvPicPr preferRelativeResize="0"/>
            <p:nvPr/>
          </p:nvPicPr>
          <p:blipFill rotWithShape="1">
            <a:blip r:embed="rId5">
              <a:alphaModFix/>
            </a:blip>
            <a:srcRect b="0" l="0" r="0" t="0"/>
            <a:stretch/>
          </p:blipFill>
          <p:spPr>
            <a:xfrm>
              <a:off x="10597680" y="2999160"/>
              <a:ext cx="698400" cy="698400"/>
            </a:xfrm>
            <a:prstGeom prst="rect">
              <a:avLst/>
            </a:prstGeom>
            <a:noFill/>
            <a:ln>
              <a:noFill/>
            </a:ln>
          </p:spPr>
        </p:pic>
      </p:grpSp>
      <p:grpSp>
        <p:nvGrpSpPr>
          <p:cNvPr id="629" name="Google Shape;629;p53"/>
          <p:cNvGrpSpPr/>
          <p:nvPr/>
        </p:nvGrpSpPr>
        <p:grpSpPr>
          <a:xfrm>
            <a:off x="339660" y="3208410"/>
            <a:ext cx="8566875" cy="1796850"/>
            <a:chOff x="452880" y="4277880"/>
            <a:chExt cx="11422500" cy="2395800"/>
          </a:xfrm>
        </p:grpSpPr>
        <p:grpSp>
          <p:nvGrpSpPr>
            <p:cNvPr id="630" name="Google Shape;630;p53"/>
            <p:cNvGrpSpPr/>
            <p:nvPr/>
          </p:nvGrpSpPr>
          <p:grpSpPr>
            <a:xfrm>
              <a:off x="452880" y="4699740"/>
              <a:ext cx="11422500" cy="1536900"/>
              <a:chOff x="452880" y="4699740"/>
              <a:chExt cx="11422500" cy="1536900"/>
            </a:xfrm>
          </p:grpSpPr>
          <p:grpSp>
            <p:nvGrpSpPr>
              <p:cNvPr id="631" name="Google Shape;631;p53"/>
              <p:cNvGrpSpPr/>
              <p:nvPr/>
            </p:nvGrpSpPr>
            <p:grpSpPr>
              <a:xfrm>
                <a:off x="452880" y="4699740"/>
                <a:ext cx="11422500" cy="1536900"/>
                <a:chOff x="452880" y="4699740"/>
                <a:chExt cx="11422500" cy="1536900"/>
              </a:xfrm>
            </p:grpSpPr>
            <p:sp>
              <p:nvSpPr>
                <p:cNvPr id="632" name="Google Shape;632;p53"/>
                <p:cNvSpPr/>
                <p:nvPr/>
              </p:nvSpPr>
              <p:spPr>
                <a:xfrm rot="-5400000">
                  <a:off x="5395680" y="-2430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3" name="Google Shape;633;p53"/>
                <p:cNvSpPr/>
                <p:nvPr/>
              </p:nvSpPr>
              <p:spPr>
                <a:xfrm>
                  <a:off x="1699200" y="4820400"/>
                  <a:ext cx="72987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Defending DNS Infrastructure</a:t>
                  </a:r>
                  <a:endParaRPr b="0" i="0" sz="2400" u="none" cap="none" strike="noStrike">
                    <a:solidFill>
                      <a:srgbClr val="000000"/>
                    </a:solidFill>
                    <a:latin typeface="Arial"/>
                    <a:ea typeface="Arial"/>
                    <a:cs typeface="Arial"/>
                    <a:sym typeface="Arial"/>
                  </a:endParaRPr>
                </a:p>
              </p:txBody>
            </p:sp>
          </p:grpSp>
          <p:sp>
            <p:nvSpPr>
              <p:cNvPr id="634" name="Google Shape;634;p53"/>
              <p:cNvSpPr/>
              <p:nvPr/>
            </p:nvSpPr>
            <p:spPr>
              <a:xfrm>
                <a:off x="756360" y="5028120"/>
                <a:ext cx="811500" cy="832200"/>
              </a:xfrm>
              <a:prstGeom prst="ellipse">
                <a:avLst/>
              </a:prstGeom>
              <a:solidFill>
                <a:schemeClr val="accent4"/>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3</a:t>
                </a:r>
                <a:endParaRPr b="0" i="0" sz="1800" u="none" cap="none" strike="noStrike">
                  <a:solidFill>
                    <a:srgbClr val="000000"/>
                  </a:solidFill>
                  <a:latin typeface="Arial"/>
                  <a:ea typeface="Arial"/>
                  <a:cs typeface="Arial"/>
                  <a:sym typeface="Arial"/>
                </a:endParaRPr>
              </a:p>
            </p:txBody>
          </p:sp>
        </p:grpSp>
        <p:pic>
          <p:nvPicPr>
            <p:cNvPr id="635" name="Google Shape;635;p53"/>
            <p:cNvPicPr preferRelativeResize="0"/>
            <p:nvPr/>
          </p:nvPicPr>
          <p:blipFill rotWithShape="1">
            <a:blip r:embed="rId6">
              <a:alphaModFix/>
            </a:blip>
            <a:srcRect b="0" l="0" r="0" t="0"/>
            <a:stretch/>
          </p:blipFill>
          <p:spPr>
            <a:xfrm>
              <a:off x="9129600" y="4277880"/>
              <a:ext cx="2395800" cy="2395800"/>
            </a:xfrm>
            <a:prstGeom prst="rect">
              <a:avLst/>
            </a:prstGeom>
            <a:noFill/>
            <a:ln>
              <a:noFill/>
            </a:ln>
          </p:spPr>
        </p:pic>
      </p:grpSp>
      <p:sp>
        <p:nvSpPr>
          <p:cNvPr id="636" name="Google Shape;636;p53"/>
          <p:cNvSpPr/>
          <p:nvPr/>
        </p:nvSpPr>
        <p:spPr>
          <a:xfrm>
            <a:off x="346950" y="351135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7" name="Google Shape;637;p53"/>
          <p:cNvSpPr/>
          <p:nvPr/>
        </p:nvSpPr>
        <p:spPr>
          <a:xfrm>
            <a:off x="346950" y="78030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8" name="Google Shape;638;p53"/>
          <p:cNvSpPr txBox="1"/>
          <p:nvPr>
            <p:ph idx="4294967295" type="title"/>
          </p:nvPr>
        </p:nvSpPr>
        <p:spPr>
          <a:xfrm>
            <a:off x="414188" y="258488"/>
            <a:ext cx="7688700" cy="53527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1900"/>
              <a:buNone/>
            </a:pPr>
            <a:r>
              <a:rPr lang="fr" sz="1100"/>
              <a:t>DNS &amp; CyberSecurity</a:t>
            </a:r>
            <a:endParaRPr sz="1100"/>
          </a:p>
        </p:txBody>
      </p:sp>
      <p:grpSp>
        <p:nvGrpSpPr>
          <p:cNvPr id="639" name="Google Shape;639;p53"/>
          <p:cNvGrpSpPr/>
          <p:nvPr/>
        </p:nvGrpSpPr>
        <p:grpSpPr>
          <a:xfrm>
            <a:off x="333450" y="214110"/>
            <a:ext cx="8566875" cy="2344680"/>
            <a:chOff x="444600" y="285480"/>
            <a:chExt cx="11422500" cy="3126240"/>
          </a:xfrm>
        </p:grpSpPr>
        <p:grpSp>
          <p:nvGrpSpPr>
            <p:cNvPr id="640" name="Google Shape;640;p53"/>
            <p:cNvGrpSpPr/>
            <p:nvPr/>
          </p:nvGrpSpPr>
          <p:grpSpPr>
            <a:xfrm>
              <a:off x="444600" y="1040700"/>
              <a:ext cx="11422500" cy="1543740"/>
              <a:chOff x="444600" y="1040700"/>
              <a:chExt cx="11422500" cy="1543740"/>
            </a:xfrm>
          </p:grpSpPr>
          <p:sp>
            <p:nvSpPr>
              <p:cNvPr id="641" name="Google Shape;641;p53"/>
              <p:cNvSpPr/>
              <p:nvPr/>
            </p:nvSpPr>
            <p:spPr>
              <a:xfrm rot="-5400000">
                <a:off x="5387400" y="-3902100"/>
                <a:ext cx="1536900" cy="11422500"/>
              </a:xfrm>
              <a:prstGeom prst="rect">
                <a:avLst/>
              </a:prstGeom>
              <a:solidFill>
                <a:srgbClr val="D9D9D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42" name="Google Shape;642;p53"/>
              <p:cNvSpPr/>
              <p:nvPr/>
            </p:nvSpPr>
            <p:spPr>
              <a:xfrm>
                <a:off x="1713600" y="1047240"/>
                <a:ext cx="7294200" cy="15372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Preventing communication over DNS</a:t>
                </a:r>
                <a:endParaRPr b="0" i="0" sz="2400" u="none" cap="none" strike="noStrike">
                  <a:solidFill>
                    <a:srgbClr val="000000"/>
                  </a:solidFill>
                  <a:latin typeface="Arial"/>
                  <a:ea typeface="Arial"/>
                  <a:cs typeface="Arial"/>
                  <a:sym typeface="Arial"/>
                </a:endParaRPr>
              </a:p>
            </p:txBody>
          </p:sp>
        </p:grpSp>
        <p:pic>
          <p:nvPicPr>
            <p:cNvPr id="643" name="Google Shape;643;p53"/>
            <p:cNvPicPr preferRelativeResize="0"/>
            <p:nvPr/>
          </p:nvPicPr>
          <p:blipFill rotWithShape="1">
            <a:blip r:embed="rId7">
              <a:alphaModFix/>
            </a:blip>
            <a:srcRect b="0" l="0" r="0" t="0"/>
            <a:stretch/>
          </p:blipFill>
          <p:spPr>
            <a:xfrm>
              <a:off x="8740800" y="285480"/>
              <a:ext cx="3126240" cy="3126240"/>
            </a:xfrm>
            <a:prstGeom prst="rect">
              <a:avLst/>
            </a:prstGeom>
            <a:noFill/>
            <a:ln>
              <a:noFill/>
            </a:ln>
          </p:spPr>
        </p:pic>
        <p:sp>
          <p:nvSpPr>
            <p:cNvPr id="644" name="Google Shape;644;p53"/>
            <p:cNvSpPr/>
            <p:nvPr/>
          </p:nvSpPr>
          <p:spPr>
            <a:xfrm>
              <a:off x="750960" y="1397880"/>
              <a:ext cx="811500" cy="832200"/>
            </a:xfrm>
            <a:prstGeom prst="ellipse">
              <a:avLst/>
            </a:prstGeom>
            <a:solidFill>
              <a:schemeClr val="dk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grpSp>
      <p:sp>
        <p:nvSpPr>
          <p:cNvPr id="645" name="Google Shape;645;p53"/>
          <p:cNvSpPr/>
          <p:nvPr/>
        </p:nvSpPr>
        <p:spPr>
          <a:xfrm>
            <a:off x="353700" y="2145825"/>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4"/>
          <p:cNvSpPr/>
          <p:nvPr/>
        </p:nvSpPr>
        <p:spPr>
          <a:xfrm>
            <a:off x="5108130" y="2299050"/>
            <a:ext cx="4035375" cy="2568600"/>
          </a:xfrm>
          <a:prstGeom prst="rect">
            <a:avLst/>
          </a:prstGeom>
          <a:gradFill>
            <a:gsLst>
              <a:gs pos="0">
                <a:srgbClr val="FFFFFF">
                  <a:alpha val="0"/>
                </a:srgbClr>
              </a:gs>
              <a:gs pos="100000">
                <a:srgbClr val="CCCCCC"/>
              </a:gs>
            </a:gsLst>
            <a:lin ang="0" scaled="0"/>
          </a:gra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52" name="Google Shape;652;p54"/>
          <p:cNvSpPr/>
          <p:nvPr/>
        </p:nvSpPr>
        <p:spPr>
          <a:xfrm>
            <a:off x="5108130" y="0"/>
            <a:ext cx="4035375" cy="2298825"/>
          </a:xfrm>
          <a:prstGeom prst="rect">
            <a:avLst/>
          </a:prstGeom>
          <a:gradFill>
            <a:gsLst>
              <a:gs pos="0">
                <a:srgbClr val="FFFFFF">
                  <a:alpha val="0"/>
                </a:srgbClr>
              </a:gs>
              <a:gs pos="100000">
                <a:srgbClr val="CEE1F8"/>
              </a:gs>
            </a:gsLst>
            <a:lin ang="0" scaled="0"/>
          </a:gra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53" name="Google Shape;653;p54"/>
          <p:cNvSpPr txBox="1"/>
          <p:nvPr>
            <p:ph idx="4294967295" type="subTitle"/>
          </p:nvPr>
        </p:nvSpPr>
        <p:spPr>
          <a:xfrm>
            <a:off x="333450" y="601290"/>
            <a:ext cx="8372475" cy="321975"/>
          </a:xfrm>
          <a:prstGeom prst="rect">
            <a:avLst/>
          </a:prstGeom>
          <a:noFill/>
          <a:ln>
            <a:noFill/>
          </a:ln>
        </p:spPr>
        <p:txBody>
          <a:bodyPr anchorCtr="0" anchor="t" bIns="33750" lIns="0" spcFirstLastPara="1" rIns="67500" wrap="square" tIns="33750">
            <a:noAutofit/>
          </a:bodyPr>
          <a:lstStyle/>
          <a:p>
            <a:pPr indent="0" lvl="0" marL="0" marR="0" rtl="0" algn="l">
              <a:lnSpc>
                <a:spcPct val="100000"/>
              </a:lnSpc>
              <a:spcBef>
                <a:spcPts val="0"/>
              </a:spcBef>
              <a:spcAft>
                <a:spcPts val="0"/>
              </a:spcAft>
              <a:buClr>
                <a:srgbClr val="323232"/>
              </a:buClr>
              <a:buSzPts val="2000"/>
              <a:buFont typeface="Arial"/>
              <a:buNone/>
            </a:pPr>
            <a:r>
              <a:rPr b="1" i="0" lang="fr" sz="2000" u="none" cap="none" strike="noStrike">
                <a:solidFill>
                  <a:srgbClr val="323232"/>
                </a:solidFill>
                <a:latin typeface="Arial"/>
                <a:ea typeface="Arial"/>
                <a:cs typeface="Arial"/>
                <a:sym typeface="Arial"/>
              </a:rPr>
              <a:t>Exfiltration</a:t>
            </a:r>
            <a:endParaRPr b="0" i="0" sz="2000" u="none" cap="none" strike="noStrike">
              <a:solidFill>
                <a:srgbClr val="595959"/>
              </a:solidFill>
              <a:latin typeface="Arial"/>
              <a:ea typeface="Arial"/>
              <a:cs typeface="Arial"/>
              <a:sym typeface="Arial"/>
            </a:endParaRPr>
          </a:p>
        </p:txBody>
      </p:sp>
      <p:sp>
        <p:nvSpPr>
          <p:cNvPr id="654" name="Google Shape;654;p54"/>
          <p:cNvSpPr txBox="1"/>
          <p:nvPr>
            <p:ph idx="4294967295" type="body"/>
          </p:nvPr>
        </p:nvSpPr>
        <p:spPr>
          <a:xfrm>
            <a:off x="330210" y="1111320"/>
            <a:ext cx="5612175" cy="3627900"/>
          </a:xfrm>
          <a:prstGeom prst="rect">
            <a:avLst/>
          </a:prstGeom>
          <a:noFill/>
          <a:ln>
            <a:noFill/>
          </a:ln>
        </p:spPr>
        <p:txBody>
          <a:bodyPr anchorCtr="0" anchor="t" bIns="0" lIns="0" spcFirstLastPara="1" rIns="0" wrap="square" tIns="0">
            <a:noAutofit/>
          </a:bodyPr>
          <a:lstStyle/>
          <a:p>
            <a:pPr indent="-285750" lvl="0" marL="292100" marR="0" rtl="0" algn="l">
              <a:lnSpc>
                <a:spcPct val="100000"/>
              </a:lnSpc>
              <a:spcBef>
                <a:spcPts val="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Attacker registers a domain &amp; sets up an authoritative DNS server on the Internet to act as the tunnel endpoint</a:t>
            </a:r>
            <a:endParaRPr b="0" i="0" sz="1500" u="none" cap="none" strike="noStrike">
              <a:solidFill>
                <a:srgbClr val="323232"/>
              </a:solidFill>
              <a:latin typeface="Arial"/>
              <a:ea typeface="Arial"/>
              <a:cs typeface="Arial"/>
              <a:sym typeface="Arial"/>
            </a:endParaRPr>
          </a:p>
          <a:p>
            <a:pPr indent="-285750" lvl="0" marL="292100" marR="0" rtl="0" algn="l">
              <a:lnSpc>
                <a:spcPct val="100000"/>
              </a:lnSpc>
              <a:spcBef>
                <a:spcPts val="3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Data to be sent from inside network is:</a:t>
            </a:r>
            <a:endParaRPr b="0" i="0" sz="1500" u="none" cap="none" strike="noStrike">
              <a:solidFill>
                <a:srgbClr val="323232"/>
              </a:solidFill>
              <a:latin typeface="Arial"/>
              <a:ea typeface="Arial"/>
              <a:cs typeface="Arial"/>
              <a:sym typeface="Arial"/>
            </a:endParaRPr>
          </a:p>
          <a:p>
            <a:pPr indent="-177800" lvl="1" marL="571500" marR="0" rtl="0" algn="l">
              <a:lnSpc>
                <a:spcPct val="100000"/>
              </a:lnSpc>
              <a:spcBef>
                <a:spcPts val="300"/>
              </a:spcBef>
              <a:spcAft>
                <a:spcPts val="0"/>
              </a:spcAft>
              <a:buClr>
                <a:srgbClr val="323232"/>
              </a:buClr>
              <a:buSzPts val="1400"/>
              <a:buFont typeface="Arial"/>
              <a:buChar char="̶"/>
            </a:pPr>
            <a:r>
              <a:rPr b="0" i="0" lang="fr" sz="1400" u="none" cap="none" strike="noStrike">
                <a:solidFill>
                  <a:srgbClr val="323232"/>
                </a:solidFill>
                <a:latin typeface="Arial"/>
                <a:ea typeface="Arial"/>
                <a:cs typeface="Arial"/>
                <a:sym typeface="Arial"/>
              </a:rPr>
              <a:t>Encrypted using public key</a:t>
            </a:r>
            <a:endParaRPr b="0" i="0" sz="1400" u="none" cap="none" strike="noStrike">
              <a:solidFill>
                <a:srgbClr val="323232"/>
              </a:solidFill>
              <a:latin typeface="Arial"/>
              <a:ea typeface="Arial"/>
              <a:cs typeface="Arial"/>
              <a:sym typeface="Arial"/>
            </a:endParaRPr>
          </a:p>
          <a:p>
            <a:pPr indent="-177800" lvl="1" marL="571500" marR="0" rtl="0" algn="l">
              <a:lnSpc>
                <a:spcPct val="100000"/>
              </a:lnSpc>
              <a:spcBef>
                <a:spcPts val="300"/>
              </a:spcBef>
              <a:spcAft>
                <a:spcPts val="0"/>
              </a:spcAft>
              <a:buClr>
                <a:srgbClr val="323232"/>
              </a:buClr>
              <a:buSzPts val="1400"/>
              <a:buFont typeface="Arial"/>
              <a:buChar char="̶"/>
            </a:pPr>
            <a:r>
              <a:rPr b="0" i="0" lang="fr" sz="1400" u="none" cap="none" strike="noStrike">
                <a:solidFill>
                  <a:srgbClr val="323232"/>
                </a:solidFill>
                <a:latin typeface="Arial"/>
                <a:ea typeface="Arial"/>
                <a:cs typeface="Arial"/>
                <a:sym typeface="Arial"/>
              </a:rPr>
              <a:t>Encoded into a-z, 0-9 and – using algorithm such as Base32, which allows up to 110 bytes to be encoded into an FQDN</a:t>
            </a:r>
            <a:endParaRPr b="0" i="0" sz="1400" u="none" cap="none" strike="noStrike">
              <a:solidFill>
                <a:srgbClr val="323232"/>
              </a:solidFill>
              <a:latin typeface="Arial"/>
              <a:ea typeface="Arial"/>
              <a:cs typeface="Arial"/>
              <a:sym typeface="Arial"/>
            </a:endParaRPr>
          </a:p>
          <a:p>
            <a:pPr indent="-177800" lvl="1" marL="571500" marR="0" rtl="0" algn="l">
              <a:lnSpc>
                <a:spcPct val="100000"/>
              </a:lnSpc>
              <a:spcBef>
                <a:spcPts val="300"/>
              </a:spcBef>
              <a:spcAft>
                <a:spcPts val="0"/>
              </a:spcAft>
              <a:buClr>
                <a:srgbClr val="323232"/>
              </a:buClr>
              <a:buSzPts val="1400"/>
              <a:buFont typeface="Arial"/>
              <a:buChar char="̶"/>
            </a:pPr>
            <a:r>
              <a:rPr b="0" i="0" lang="fr" sz="1400" u="none" cap="none" strike="noStrike">
                <a:solidFill>
                  <a:srgbClr val="323232"/>
                </a:solidFill>
                <a:latin typeface="Arial"/>
                <a:ea typeface="Arial"/>
                <a:cs typeface="Arial"/>
                <a:sym typeface="Arial"/>
              </a:rPr>
              <a:t>Divided into chunks of up to 63 characters (label limit)</a:t>
            </a:r>
            <a:endParaRPr b="0" i="0" sz="1400" u="none" cap="none" strike="noStrike">
              <a:solidFill>
                <a:srgbClr val="323232"/>
              </a:solidFill>
              <a:latin typeface="Arial"/>
              <a:ea typeface="Arial"/>
              <a:cs typeface="Arial"/>
              <a:sym typeface="Arial"/>
            </a:endParaRPr>
          </a:p>
          <a:p>
            <a:pPr indent="-177800" lvl="1" marL="571500" marR="0" rtl="0" algn="l">
              <a:lnSpc>
                <a:spcPct val="100000"/>
              </a:lnSpc>
              <a:spcBef>
                <a:spcPts val="300"/>
              </a:spcBef>
              <a:spcAft>
                <a:spcPts val="0"/>
              </a:spcAft>
              <a:buClr>
                <a:srgbClr val="323232"/>
              </a:buClr>
              <a:buSzPts val="1400"/>
              <a:buFont typeface="Arial"/>
              <a:buChar char="̶"/>
            </a:pPr>
            <a:r>
              <a:rPr b="0" i="0" lang="fr" sz="1400" u="none" cap="none" strike="noStrike">
                <a:solidFill>
                  <a:srgbClr val="323232"/>
                </a:solidFill>
                <a:latin typeface="Arial"/>
                <a:ea typeface="Arial"/>
                <a:cs typeface="Arial"/>
                <a:sym typeface="Arial"/>
              </a:rPr>
              <a:t>Sent as individual queries in format of &lt;chunk&gt;.domain</a:t>
            </a:r>
            <a:endParaRPr b="0" i="0" sz="1400" u="none" cap="none" strike="noStrike">
              <a:solidFill>
                <a:srgbClr val="323232"/>
              </a:solidFill>
              <a:latin typeface="Arial"/>
              <a:ea typeface="Arial"/>
              <a:cs typeface="Arial"/>
              <a:sym typeface="Arial"/>
            </a:endParaRPr>
          </a:p>
          <a:p>
            <a:pPr indent="-285750" lvl="0" marL="292100" marR="0" rtl="0" algn="l">
              <a:lnSpc>
                <a:spcPct val="100000"/>
              </a:lnSpc>
              <a:spcBef>
                <a:spcPts val="3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Queries can be sent direct (if allowed by firewall), via a network’s existing DNS servers or via proxies (e.g. request http://&lt;chunk&gt;.domain)</a:t>
            </a:r>
            <a:endParaRPr b="0" i="0" sz="1500" u="none" cap="none" strike="noStrike">
              <a:solidFill>
                <a:srgbClr val="323232"/>
              </a:solidFill>
              <a:latin typeface="Arial"/>
              <a:ea typeface="Arial"/>
              <a:cs typeface="Arial"/>
              <a:sym typeface="Arial"/>
            </a:endParaRPr>
          </a:p>
          <a:p>
            <a:pPr indent="-285750" lvl="0" marL="292100" marR="0" rtl="0" algn="l">
              <a:lnSpc>
                <a:spcPct val="100000"/>
              </a:lnSpc>
              <a:spcBef>
                <a:spcPts val="3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If sent via DNS the source address can be spoofed to make tracing harder</a:t>
            </a:r>
            <a:endParaRPr b="0" i="0" sz="1500" u="none" cap="none" strike="noStrike">
              <a:solidFill>
                <a:srgbClr val="323232"/>
              </a:solidFill>
              <a:latin typeface="Arial"/>
              <a:ea typeface="Arial"/>
              <a:cs typeface="Arial"/>
              <a:sym typeface="Arial"/>
            </a:endParaRPr>
          </a:p>
          <a:p>
            <a:pPr indent="-285750" lvl="0" marL="292100" marR="0" rtl="0" algn="l">
              <a:lnSpc>
                <a:spcPct val="100000"/>
              </a:lnSpc>
              <a:spcBef>
                <a:spcPts val="3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Attacker’s authoritative server receives encoded chunks, reassembles data, decodes &amp; decrypts using private key</a:t>
            </a:r>
            <a:endParaRPr b="0" i="0" sz="1500" u="none" cap="none" strike="noStrike">
              <a:solidFill>
                <a:srgbClr val="323232"/>
              </a:solidFill>
              <a:latin typeface="Arial"/>
              <a:ea typeface="Arial"/>
              <a:cs typeface="Arial"/>
              <a:sym typeface="Arial"/>
            </a:endParaRPr>
          </a:p>
        </p:txBody>
      </p:sp>
      <p:sp>
        <p:nvSpPr>
          <p:cNvPr id="655" name="Google Shape;655;p54"/>
          <p:cNvSpPr/>
          <p:nvPr/>
        </p:nvSpPr>
        <p:spPr>
          <a:xfrm>
            <a:off x="5124330" y="1187460"/>
            <a:ext cx="1508175" cy="4088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r">
              <a:lnSpc>
                <a:spcPct val="100000"/>
              </a:lnSpc>
              <a:spcBef>
                <a:spcPts val="0"/>
              </a:spcBef>
              <a:spcAft>
                <a:spcPts val="0"/>
              </a:spcAft>
              <a:buClr>
                <a:srgbClr val="29598A"/>
              </a:buClr>
              <a:buSzPts val="1200"/>
              <a:buFont typeface="Arial"/>
              <a:buNone/>
            </a:pPr>
            <a:r>
              <a:rPr b="0" i="0" lang="fr" sz="1200" u="none" cap="none" strike="noStrike">
                <a:solidFill>
                  <a:srgbClr val="29598A"/>
                </a:solidFill>
                <a:latin typeface="Arial"/>
                <a:ea typeface="Arial"/>
                <a:cs typeface="Arial"/>
                <a:sym typeface="Arial"/>
              </a:rPr>
              <a:t>Attacker’s</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29598A"/>
              </a:buClr>
              <a:buSzPts val="1200"/>
              <a:buFont typeface="Arial"/>
              <a:buNone/>
            </a:pPr>
            <a:r>
              <a:rPr b="0" i="0" lang="fr" sz="1200" u="none" cap="none" strike="noStrike">
                <a:solidFill>
                  <a:srgbClr val="29598A"/>
                </a:solidFill>
                <a:latin typeface="Arial"/>
                <a:ea typeface="Arial"/>
                <a:cs typeface="Arial"/>
                <a:sym typeface="Arial"/>
              </a:rPr>
              <a:t>DNS Server</a:t>
            </a:r>
            <a:endParaRPr b="0" i="0" sz="1200" u="none" cap="none" strike="noStrike">
              <a:solidFill>
                <a:srgbClr val="000000"/>
              </a:solidFill>
              <a:latin typeface="Arial"/>
              <a:ea typeface="Arial"/>
              <a:cs typeface="Arial"/>
              <a:sym typeface="Arial"/>
            </a:endParaRPr>
          </a:p>
        </p:txBody>
      </p:sp>
      <p:sp>
        <p:nvSpPr>
          <p:cNvPr id="656" name="Google Shape;656;p54"/>
          <p:cNvSpPr/>
          <p:nvPr/>
        </p:nvSpPr>
        <p:spPr>
          <a:xfrm>
            <a:off x="5108130" y="2299050"/>
            <a:ext cx="4035375" cy="2568600"/>
          </a:xfrm>
          <a:prstGeom prst="rect">
            <a:avLst/>
          </a:prstGeom>
          <a:gradFill>
            <a:gsLst>
              <a:gs pos="0">
                <a:srgbClr val="FFFFFF">
                  <a:alpha val="0"/>
                </a:srgbClr>
              </a:gs>
              <a:gs pos="100000">
                <a:srgbClr val="CCCCCC"/>
              </a:gs>
            </a:gsLst>
            <a:lin ang="0" scaled="0"/>
          </a:gra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57" name="Google Shape;657;p54"/>
          <p:cNvSpPr/>
          <p:nvPr/>
        </p:nvSpPr>
        <p:spPr>
          <a:xfrm rot="10800000">
            <a:off x="7032704" y="1756877"/>
            <a:ext cx="7007" cy="702554"/>
          </a:xfrm>
          <a:custGeom>
            <a:rect b="b" l="l" r="r" t="t"/>
            <a:pathLst>
              <a:path extrusionOk="0" h="21600" w="21600">
                <a:moveTo>
                  <a:pt x="0" y="0"/>
                </a:moveTo>
                <a:lnTo>
                  <a:pt x="21600" y="21600"/>
                </a:lnTo>
              </a:path>
            </a:pathLst>
          </a:custGeom>
          <a:noFill/>
          <a:ln cap="flat" cmpd="sng" w="25400">
            <a:solidFill>
              <a:srgbClr val="F17930"/>
            </a:solidFill>
            <a:prstDash val="solid"/>
            <a:round/>
            <a:headEnd len="sm" w="sm" type="none"/>
            <a:tailEnd len="med" w="med" type="stealth"/>
          </a:ln>
          <a:effectLst>
            <a:outerShdw blurRad="39960" rotWithShape="0" dir="5400000" dist="20160">
              <a:srgbClr val="000000">
                <a:alpha val="37647"/>
              </a:srgbClr>
            </a:outerShdw>
          </a:effectLst>
        </p:spPr>
      </p:sp>
      <p:cxnSp>
        <p:nvCxnSpPr>
          <p:cNvPr id="658" name="Google Shape;658;p54"/>
          <p:cNvCxnSpPr/>
          <p:nvPr/>
        </p:nvCxnSpPr>
        <p:spPr>
          <a:xfrm>
            <a:off x="5634630" y="2299050"/>
            <a:ext cx="3509100" cy="225"/>
          </a:xfrm>
          <a:prstGeom prst="straightConnector1">
            <a:avLst/>
          </a:prstGeom>
          <a:noFill/>
          <a:ln cap="flat" cmpd="sng" w="12700">
            <a:solidFill>
              <a:srgbClr val="FFFFFF">
                <a:alpha val="0"/>
              </a:srgbClr>
            </a:solidFill>
            <a:prstDash val="dash"/>
            <a:round/>
            <a:headEnd len="sm" w="sm" type="none"/>
            <a:tailEnd len="sm" w="sm" type="none"/>
          </a:ln>
          <a:effectLst>
            <a:outerShdw blurRad="40000" rotWithShape="0" dir="5400000" dist="20000">
              <a:srgbClr val="000000">
                <a:alpha val="37647"/>
              </a:srgbClr>
            </a:outerShdw>
          </a:effectLst>
        </p:spPr>
      </p:cxnSp>
      <p:sp>
        <p:nvSpPr>
          <p:cNvPr id="659" name="Google Shape;659;p54"/>
          <p:cNvSpPr/>
          <p:nvPr/>
        </p:nvSpPr>
        <p:spPr>
          <a:xfrm>
            <a:off x="8038980" y="1930500"/>
            <a:ext cx="1079100" cy="368100"/>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INTERNET</a:t>
            </a:r>
            <a:endParaRPr b="0" i="0" sz="800" u="none" cap="none" strike="noStrike">
              <a:solidFill>
                <a:srgbClr val="000000"/>
              </a:solidFill>
              <a:latin typeface="Arial"/>
              <a:ea typeface="Arial"/>
              <a:cs typeface="Arial"/>
              <a:sym typeface="Arial"/>
            </a:endParaRPr>
          </a:p>
        </p:txBody>
      </p:sp>
      <p:sp>
        <p:nvSpPr>
          <p:cNvPr id="660" name="Google Shape;660;p54"/>
          <p:cNvSpPr/>
          <p:nvPr/>
        </p:nvSpPr>
        <p:spPr>
          <a:xfrm>
            <a:off x="7975530" y="2299050"/>
            <a:ext cx="1167975" cy="368100"/>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ENTERPRISE</a:t>
            </a:r>
            <a:endParaRPr b="0" i="0" sz="800" u="none" cap="none" strike="noStrike">
              <a:solidFill>
                <a:srgbClr val="000000"/>
              </a:solidFill>
              <a:latin typeface="Arial"/>
              <a:ea typeface="Arial"/>
              <a:cs typeface="Arial"/>
              <a:sym typeface="Arial"/>
            </a:endParaRPr>
          </a:p>
        </p:txBody>
      </p:sp>
      <p:sp>
        <p:nvSpPr>
          <p:cNvPr id="661" name="Google Shape;661;p54"/>
          <p:cNvSpPr/>
          <p:nvPr/>
        </p:nvSpPr>
        <p:spPr>
          <a:xfrm flipH="1">
            <a:off x="6896597" y="1580850"/>
            <a:ext cx="284" cy="380983"/>
          </a:xfrm>
          <a:custGeom>
            <a:rect b="b" l="l" r="r" t="t"/>
            <a:pathLst>
              <a:path extrusionOk="0" h="21600" w="21600">
                <a:moveTo>
                  <a:pt x="0" y="0"/>
                </a:moveTo>
                <a:lnTo>
                  <a:pt x="21600" y="21600"/>
                </a:lnTo>
              </a:path>
            </a:pathLst>
          </a:custGeom>
          <a:noFill/>
          <a:ln cap="flat" cmpd="sng" w="25400">
            <a:solidFill>
              <a:srgbClr val="F17930"/>
            </a:solidFill>
            <a:prstDash val="solid"/>
            <a:round/>
            <a:headEnd len="sm" w="sm" type="none"/>
            <a:tailEnd len="med" w="med" type="stealth"/>
          </a:ln>
          <a:effectLst>
            <a:outerShdw blurRad="39960" rotWithShape="0" dir="5400000" dist="20160">
              <a:srgbClr val="000000">
                <a:alpha val="37647"/>
              </a:srgbClr>
            </a:outerShdw>
          </a:effectLst>
        </p:spPr>
      </p:sp>
      <p:sp>
        <p:nvSpPr>
          <p:cNvPr id="662" name="Google Shape;662;p54"/>
          <p:cNvSpPr/>
          <p:nvPr/>
        </p:nvSpPr>
        <p:spPr>
          <a:xfrm rot="10800000">
            <a:off x="7067263" y="2597117"/>
            <a:ext cx="7007" cy="702554"/>
          </a:xfrm>
          <a:custGeom>
            <a:rect b="b" l="l" r="r" t="t"/>
            <a:pathLst>
              <a:path extrusionOk="0" h="21600" w="21600">
                <a:moveTo>
                  <a:pt x="0" y="0"/>
                </a:moveTo>
                <a:lnTo>
                  <a:pt x="21600" y="21600"/>
                </a:lnTo>
              </a:path>
            </a:pathLst>
          </a:custGeom>
          <a:noFill/>
          <a:ln cap="flat" cmpd="sng" w="25400">
            <a:solidFill>
              <a:srgbClr val="F17930"/>
            </a:solidFill>
            <a:prstDash val="solid"/>
            <a:round/>
            <a:headEnd len="sm" w="sm" type="none"/>
            <a:tailEnd len="med" w="med" type="stealth"/>
          </a:ln>
          <a:effectLst>
            <a:outerShdw blurRad="39960" rotWithShape="0" dir="5400000" dist="20160">
              <a:srgbClr val="000000">
                <a:alpha val="37647"/>
              </a:srgbClr>
            </a:outerShdw>
          </a:effectLst>
        </p:spPr>
      </p:sp>
      <p:sp>
        <p:nvSpPr>
          <p:cNvPr id="663" name="Google Shape;663;p54"/>
          <p:cNvSpPr/>
          <p:nvPr/>
        </p:nvSpPr>
        <p:spPr>
          <a:xfrm flipH="1">
            <a:off x="6931157" y="2434050"/>
            <a:ext cx="284" cy="380983"/>
          </a:xfrm>
          <a:custGeom>
            <a:rect b="b" l="l" r="r" t="t"/>
            <a:pathLst>
              <a:path extrusionOk="0" h="21600" w="21600">
                <a:moveTo>
                  <a:pt x="0" y="0"/>
                </a:moveTo>
                <a:lnTo>
                  <a:pt x="21600" y="21600"/>
                </a:lnTo>
              </a:path>
            </a:pathLst>
          </a:custGeom>
          <a:noFill/>
          <a:ln cap="flat" cmpd="sng" w="25400">
            <a:solidFill>
              <a:srgbClr val="F17930"/>
            </a:solidFill>
            <a:prstDash val="solid"/>
            <a:round/>
            <a:headEnd len="sm" w="sm" type="none"/>
            <a:tailEnd len="med" w="med" type="stealth"/>
          </a:ln>
          <a:effectLst>
            <a:outerShdw blurRad="39960" rotWithShape="0" dir="5400000" dist="20160">
              <a:srgbClr val="000000">
                <a:alpha val="37647"/>
              </a:srgbClr>
            </a:outerShdw>
          </a:effectLst>
        </p:spPr>
      </p:sp>
      <p:pic>
        <p:nvPicPr>
          <p:cNvPr id="664" name="Google Shape;664;p54"/>
          <p:cNvPicPr preferRelativeResize="0"/>
          <p:nvPr/>
        </p:nvPicPr>
        <p:blipFill rotWithShape="1">
          <a:blip r:embed="rId3">
            <a:alphaModFix/>
          </a:blip>
          <a:srcRect b="0" l="0" r="0" t="0"/>
          <a:stretch/>
        </p:blipFill>
        <p:spPr>
          <a:xfrm>
            <a:off x="6559650" y="993870"/>
            <a:ext cx="743580" cy="743580"/>
          </a:xfrm>
          <a:prstGeom prst="rect">
            <a:avLst/>
          </a:prstGeom>
          <a:noFill/>
          <a:ln>
            <a:noFill/>
          </a:ln>
        </p:spPr>
      </p:pic>
      <p:pic>
        <p:nvPicPr>
          <p:cNvPr id="665" name="Google Shape;665;p54"/>
          <p:cNvPicPr preferRelativeResize="0"/>
          <p:nvPr/>
        </p:nvPicPr>
        <p:blipFill rotWithShape="1">
          <a:blip r:embed="rId4">
            <a:alphaModFix/>
          </a:blip>
          <a:srcRect b="0" l="0" r="0" t="0"/>
          <a:stretch/>
        </p:blipFill>
        <p:spPr>
          <a:xfrm>
            <a:off x="6559650" y="1880280"/>
            <a:ext cx="856709" cy="856708"/>
          </a:xfrm>
          <a:prstGeom prst="rect">
            <a:avLst/>
          </a:prstGeom>
          <a:noFill/>
          <a:ln>
            <a:noFill/>
          </a:ln>
        </p:spPr>
      </p:pic>
      <p:sp>
        <p:nvSpPr>
          <p:cNvPr id="666" name="Google Shape;666;p54"/>
          <p:cNvSpPr/>
          <p:nvPr/>
        </p:nvSpPr>
        <p:spPr>
          <a:xfrm rot="10800000">
            <a:off x="7032704" y="3647146"/>
            <a:ext cx="7007" cy="702553"/>
          </a:xfrm>
          <a:custGeom>
            <a:rect b="b" l="l" r="r" t="t"/>
            <a:pathLst>
              <a:path extrusionOk="0" h="21600" w="21600">
                <a:moveTo>
                  <a:pt x="0" y="0"/>
                </a:moveTo>
                <a:lnTo>
                  <a:pt x="21600" y="21600"/>
                </a:lnTo>
              </a:path>
            </a:pathLst>
          </a:custGeom>
          <a:noFill/>
          <a:ln cap="flat" cmpd="sng" w="25400">
            <a:solidFill>
              <a:srgbClr val="F17930"/>
            </a:solidFill>
            <a:prstDash val="solid"/>
            <a:round/>
            <a:headEnd len="sm" w="sm" type="none"/>
            <a:tailEnd len="med" w="med" type="stealth"/>
          </a:ln>
          <a:effectLst>
            <a:outerShdw blurRad="39960" rotWithShape="0" dir="5400000" dist="20160">
              <a:srgbClr val="000000">
                <a:alpha val="37647"/>
              </a:srgbClr>
            </a:outerShdw>
          </a:effectLst>
        </p:spPr>
      </p:sp>
      <p:sp>
        <p:nvSpPr>
          <p:cNvPr id="667" name="Google Shape;667;p54"/>
          <p:cNvSpPr/>
          <p:nvPr/>
        </p:nvSpPr>
        <p:spPr>
          <a:xfrm flipH="1">
            <a:off x="6896597" y="3471120"/>
            <a:ext cx="284" cy="380983"/>
          </a:xfrm>
          <a:custGeom>
            <a:rect b="b" l="l" r="r" t="t"/>
            <a:pathLst>
              <a:path extrusionOk="0" h="21600" w="21600">
                <a:moveTo>
                  <a:pt x="0" y="0"/>
                </a:moveTo>
                <a:lnTo>
                  <a:pt x="21600" y="21600"/>
                </a:lnTo>
              </a:path>
            </a:pathLst>
          </a:custGeom>
          <a:noFill/>
          <a:ln cap="flat" cmpd="sng" w="25400">
            <a:solidFill>
              <a:srgbClr val="F17930"/>
            </a:solidFill>
            <a:prstDash val="solid"/>
            <a:round/>
            <a:headEnd len="sm" w="sm" type="none"/>
            <a:tailEnd len="med" w="med" type="stealth"/>
          </a:ln>
          <a:effectLst>
            <a:outerShdw blurRad="39960" rotWithShape="0" dir="5400000" dist="20160">
              <a:srgbClr val="000000">
                <a:alpha val="37647"/>
              </a:srgbClr>
            </a:outerShdw>
          </a:effectLst>
        </p:spPr>
      </p:sp>
      <p:pic>
        <p:nvPicPr>
          <p:cNvPr id="668" name="Google Shape;668;p54"/>
          <p:cNvPicPr preferRelativeResize="0"/>
          <p:nvPr/>
        </p:nvPicPr>
        <p:blipFill rotWithShape="1">
          <a:blip r:embed="rId5">
            <a:alphaModFix/>
          </a:blip>
          <a:srcRect b="0" l="0" r="0" t="0"/>
          <a:stretch/>
        </p:blipFill>
        <p:spPr>
          <a:xfrm>
            <a:off x="6363630" y="3705480"/>
            <a:ext cx="1135621" cy="1135621"/>
          </a:xfrm>
          <a:prstGeom prst="rect">
            <a:avLst/>
          </a:prstGeom>
          <a:noFill/>
          <a:ln>
            <a:noFill/>
          </a:ln>
        </p:spPr>
      </p:pic>
      <p:pic>
        <p:nvPicPr>
          <p:cNvPr id="669" name="Google Shape;669;p54"/>
          <p:cNvPicPr preferRelativeResize="0"/>
          <p:nvPr/>
        </p:nvPicPr>
        <p:blipFill rotWithShape="1">
          <a:blip r:embed="rId6">
            <a:alphaModFix/>
          </a:blip>
          <a:srcRect b="0" l="0" r="0" t="0"/>
          <a:stretch/>
        </p:blipFill>
        <p:spPr>
          <a:xfrm>
            <a:off x="6632550" y="2842290"/>
            <a:ext cx="777870" cy="777870"/>
          </a:xfrm>
          <a:prstGeom prst="rect">
            <a:avLst/>
          </a:prstGeom>
          <a:noFill/>
          <a:ln>
            <a:noFill/>
          </a:ln>
        </p:spPr>
      </p:pic>
      <p:pic>
        <p:nvPicPr>
          <p:cNvPr descr="DownloadIcon-18.png" id="670" name="Google Shape;670;p54"/>
          <p:cNvPicPr preferRelativeResize="0"/>
          <p:nvPr/>
        </p:nvPicPr>
        <p:blipFill rotWithShape="1">
          <a:blip r:embed="rId7">
            <a:alphaModFix/>
          </a:blip>
          <a:srcRect b="0" l="0" r="0" t="0"/>
          <a:stretch/>
        </p:blipFill>
        <p:spPr>
          <a:xfrm>
            <a:off x="7371270" y="833760"/>
            <a:ext cx="348300" cy="486540"/>
          </a:xfrm>
          <a:prstGeom prst="rect">
            <a:avLst/>
          </a:prstGeom>
          <a:noFill/>
          <a:ln>
            <a:noFill/>
          </a:ln>
        </p:spPr>
      </p:pic>
      <p:grpSp>
        <p:nvGrpSpPr>
          <p:cNvPr id="671" name="Google Shape;671;p54"/>
          <p:cNvGrpSpPr/>
          <p:nvPr/>
        </p:nvGrpSpPr>
        <p:grpSpPr>
          <a:xfrm>
            <a:off x="7146045" y="1391850"/>
            <a:ext cx="1948410" cy="322650"/>
            <a:chOff x="9528060" y="1855800"/>
            <a:chExt cx="2597880" cy="430200"/>
          </a:xfrm>
        </p:grpSpPr>
        <p:sp>
          <p:nvSpPr>
            <p:cNvPr id="672" name="Google Shape;672;p54"/>
            <p:cNvSpPr/>
            <p:nvPr/>
          </p:nvSpPr>
          <p:spPr>
            <a:xfrm>
              <a:off x="9822240" y="1865520"/>
              <a:ext cx="2303700" cy="3336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323232"/>
                </a:buClr>
                <a:buSzPts val="600"/>
                <a:buFont typeface="Arial"/>
                <a:buNone/>
              </a:pPr>
              <a:r>
                <a:rPr b="0" i="0" lang="fr" sz="600" u="none" cap="none" strike="noStrike">
                  <a:solidFill>
                    <a:srgbClr val="323232"/>
                  </a:solidFill>
                  <a:latin typeface="Arial"/>
                  <a:ea typeface="Arial"/>
                  <a:cs typeface="Arial"/>
                  <a:sym typeface="Arial"/>
                </a:rPr>
                <a:t>KS93KDKSK344SD3434DS.100.foo.thief.com</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23232"/>
                </a:buClr>
                <a:buSzPts val="600"/>
                <a:buFont typeface="Arial"/>
                <a:buNone/>
              </a:pPr>
              <a:r>
                <a:rPr b="0" i="0" lang="fr" sz="600" u="none" cap="none" strike="noStrike">
                  <a:solidFill>
                    <a:srgbClr val="323232"/>
                  </a:solidFill>
                  <a:latin typeface="Arial"/>
                  <a:ea typeface="Arial"/>
                  <a:cs typeface="Arial"/>
                  <a:sym typeface="Arial"/>
                </a:rPr>
                <a:t>kjhHJhUy7UjfryGF6rHDSFA.101.foo.thief.com</a:t>
              </a:r>
              <a:endParaRPr b="0" i="0" sz="600" u="none" cap="none" strike="noStrike">
                <a:solidFill>
                  <a:srgbClr val="000000"/>
                </a:solidFill>
                <a:latin typeface="Arial"/>
                <a:ea typeface="Arial"/>
                <a:cs typeface="Arial"/>
                <a:sym typeface="Arial"/>
              </a:endParaRPr>
            </a:p>
          </p:txBody>
        </p:sp>
        <p:cxnSp>
          <p:nvCxnSpPr>
            <p:cNvPr id="673" name="Google Shape;673;p54"/>
            <p:cNvCxnSpPr/>
            <p:nvPr/>
          </p:nvCxnSpPr>
          <p:spPr>
            <a:xfrm>
              <a:off x="9873000" y="1855800"/>
              <a:ext cx="300" cy="430200"/>
            </a:xfrm>
            <a:prstGeom prst="straightConnector1">
              <a:avLst/>
            </a:prstGeom>
            <a:noFill/>
            <a:ln cap="flat" cmpd="sng" w="25400">
              <a:solidFill>
                <a:srgbClr val="464646"/>
              </a:solidFill>
              <a:prstDash val="solid"/>
              <a:round/>
              <a:headEnd len="sm" w="sm" type="none"/>
              <a:tailEnd len="sm" w="sm" type="none"/>
            </a:ln>
            <a:effectLst>
              <a:outerShdw blurRad="40000" rotWithShape="0" dir="5400000" dist="20000">
                <a:srgbClr val="000000">
                  <a:alpha val="37647"/>
                </a:srgbClr>
              </a:outerShdw>
            </a:effectLst>
          </p:spPr>
        </p:cxnSp>
        <p:cxnSp>
          <p:nvCxnSpPr>
            <p:cNvPr id="674" name="Google Shape;674;p54"/>
            <p:cNvCxnSpPr/>
            <p:nvPr/>
          </p:nvCxnSpPr>
          <p:spPr>
            <a:xfrm flipH="1">
              <a:off x="9528060" y="2058840"/>
              <a:ext cx="352500" cy="300"/>
            </a:xfrm>
            <a:prstGeom prst="straightConnector1">
              <a:avLst/>
            </a:prstGeom>
            <a:noFill/>
            <a:ln cap="flat" cmpd="sng" w="25400">
              <a:solidFill>
                <a:srgbClr val="474747"/>
              </a:solidFill>
              <a:prstDash val="dash"/>
              <a:round/>
              <a:headEnd len="sm" w="sm" type="none"/>
              <a:tailEnd len="sm" w="sm" type="none"/>
            </a:ln>
            <a:effectLst>
              <a:outerShdw blurRad="40000" rotWithShape="0" dir="5400000" dist="20000">
                <a:srgbClr val="000000">
                  <a:alpha val="37647"/>
                </a:srgbClr>
              </a:outerShdw>
            </a:effectLst>
          </p:spPr>
        </p:cxnSp>
      </p:grpSp>
      <p:grpSp>
        <p:nvGrpSpPr>
          <p:cNvPr id="675" name="Google Shape;675;p54"/>
          <p:cNvGrpSpPr/>
          <p:nvPr/>
        </p:nvGrpSpPr>
        <p:grpSpPr>
          <a:xfrm>
            <a:off x="7024365" y="3620160"/>
            <a:ext cx="2070090" cy="322650"/>
            <a:chOff x="9365820" y="4826880"/>
            <a:chExt cx="2760120" cy="430200"/>
          </a:xfrm>
        </p:grpSpPr>
        <p:sp>
          <p:nvSpPr>
            <p:cNvPr id="676" name="Google Shape;676;p54"/>
            <p:cNvSpPr/>
            <p:nvPr/>
          </p:nvSpPr>
          <p:spPr>
            <a:xfrm>
              <a:off x="9822240" y="4836600"/>
              <a:ext cx="2303700" cy="3336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323232"/>
                </a:buClr>
                <a:buSzPts val="600"/>
                <a:buFont typeface="Arial"/>
                <a:buNone/>
              </a:pPr>
              <a:r>
                <a:rPr b="0" i="0" lang="fr" sz="600" u="none" cap="none" strike="noStrike">
                  <a:solidFill>
                    <a:srgbClr val="323232"/>
                  </a:solidFill>
                  <a:latin typeface="Arial"/>
                  <a:ea typeface="Arial"/>
                  <a:cs typeface="Arial"/>
                  <a:sym typeface="Arial"/>
                </a:rPr>
                <a:t>KS93KDKSK344SD3434DS.100.foo.thief.com</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23232"/>
                </a:buClr>
                <a:buSzPts val="600"/>
                <a:buFont typeface="Arial"/>
                <a:buNone/>
              </a:pPr>
              <a:r>
                <a:rPr b="0" i="0" lang="fr" sz="600" u="none" cap="none" strike="noStrike">
                  <a:solidFill>
                    <a:srgbClr val="323232"/>
                  </a:solidFill>
                  <a:latin typeface="Arial"/>
                  <a:ea typeface="Arial"/>
                  <a:cs typeface="Arial"/>
                  <a:sym typeface="Arial"/>
                </a:rPr>
                <a:t>kjhHJhUy7UjfryGF6rHDSFA.101.foo.thief.com</a:t>
              </a:r>
              <a:endParaRPr b="0" i="0" sz="600" u="none" cap="none" strike="noStrike">
                <a:solidFill>
                  <a:srgbClr val="000000"/>
                </a:solidFill>
                <a:latin typeface="Arial"/>
                <a:ea typeface="Arial"/>
                <a:cs typeface="Arial"/>
                <a:sym typeface="Arial"/>
              </a:endParaRPr>
            </a:p>
          </p:txBody>
        </p:sp>
        <p:cxnSp>
          <p:nvCxnSpPr>
            <p:cNvPr id="677" name="Google Shape;677;p54"/>
            <p:cNvCxnSpPr/>
            <p:nvPr/>
          </p:nvCxnSpPr>
          <p:spPr>
            <a:xfrm>
              <a:off x="9872280" y="4826880"/>
              <a:ext cx="300" cy="430200"/>
            </a:xfrm>
            <a:prstGeom prst="straightConnector1">
              <a:avLst/>
            </a:prstGeom>
            <a:noFill/>
            <a:ln cap="flat" cmpd="sng" w="25400">
              <a:solidFill>
                <a:srgbClr val="464646"/>
              </a:solidFill>
              <a:prstDash val="solid"/>
              <a:round/>
              <a:headEnd len="sm" w="sm" type="none"/>
              <a:tailEnd len="sm" w="sm" type="none"/>
            </a:ln>
            <a:effectLst>
              <a:outerShdw blurRad="40000" rotWithShape="0" dir="5400000" dist="20000">
                <a:srgbClr val="000000">
                  <a:alpha val="37647"/>
                </a:srgbClr>
              </a:outerShdw>
            </a:effectLst>
          </p:spPr>
        </p:cxnSp>
        <p:cxnSp>
          <p:nvCxnSpPr>
            <p:cNvPr id="678" name="Google Shape;678;p54"/>
            <p:cNvCxnSpPr/>
            <p:nvPr/>
          </p:nvCxnSpPr>
          <p:spPr>
            <a:xfrm flipH="1">
              <a:off x="9365820" y="5046480"/>
              <a:ext cx="495300" cy="300"/>
            </a:xfrm>
            <a:prstGeom prst="straightConnector1">
              <a:avLst/>
            </a:prstGeom>
            <a:noFill/>
            <a:ln cap="flat" cmpd="sng" w="25400">
              <a:solidFill>
                <a:srgbClr val="474747"/>
              </a:solidFill>
              <a:prstDash val="dash"/>
              <a:round/>
              <a:headEnd len="sm" w="sm" type="none"/>
              <a:tailEnd len="sm" w="sm" type="none"/>
            </a:ln>
            <a:effectLst>
              <a:outerShdw blurRad="40000" rotWithShape="0" dir="5400000" dist="20000">
                <a:srgbClr val="000000">
                  <a:alpha val="37647"/>
                </a:srgbClr>
              </a:outerShdw>
            </a:effectLst>
          </p:spPr>
        </p:cxnSp>
      </p:grpSp>
      <p:sp>
        <p:nvSpPr>
          <p:cNvPr id="679" name="Google Shape;679;p54"/>
          <p:cNvSpPr/>
          <p:nvPr/>
        </p:nvSpPr>
        <p:spPr>
          <a:xfrm>
            <a:off x="5418900" y="4071600"/>
            <a:ext cx="987300" cy="4088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r">
              <a:lnSpc>
                <a:spcPct val="100000"/>
              </a:lnSpc>
              <a:spcBef>
                <a:spcPts val="0"/>
              </a:spcBef>
              <a:spcAft>
                <a:spcPts val="0"/>
              </a:spcAft>
              <a:buClr>
                <a:srgbClr val="29598A"/>
              </a:buClr>
              <a:buSzPts val="1200"/>
              <a:buFont typeface="Arial"/>
              <a:buNone/>
            </a:pPr>
            <a:r>
              <a:rPr b="0" i="0" lang="fr" sz="1200" u="none" cap="none" strike="noStrike">
                <a:solidFill>
                  <a:srgbClr val="29598A"/>
                </a:solidFill>
                <a:latin typeface="Arial"/>
                <a:ea typeface="Arial"/>
                <a:cs typeface="Arial"/>
                <a:sym typeface="Arial"/>
              </a:rPr>
              <a:t>Infected </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29598A"/>
              </a:buClr>
              <a:buSzPts val="1200"/>
              <a:buFont typeface="Arial"/>
              <a:buNone/>
            </a:pPr>
            <a:r>
              <a:rPr b="0" i="0" lang="fr" sz="1200" u="none" cap="none" strike="noStrike">
                <a:solidFill>
                  <a:srgbClr val="29598A"/>
                </a:solidFill>
                <a:latin typeface="Arial"/>
                <a:ea typeface="Arial"/>
                <a:cs typeface="Arial"/>
                <a:sym typeface="Arial"/>
              </a:rPr>
              <a:t>endpoint</a:t>
            </a:r>
            <a:endParaRPr b="0" i="0" sz="1200" u="none" cap="none" strike="noStrike">
              <a:solidFill>
                <a:srgbClr val="000000"/>
              </a:solidFill>
              <a:latin typeface="Arial"/>
              <a:ea typeface="Arial"/>
              <a:cs typeface="Arial"/>
              <a:sym typeface="Arial"/>
            </a:endParaRPr>
          </a:p>
        </p:txBody>
      </p:sp>
      <p:sp>
        <p:nvSpPr>
          <p:cNvPr id="680" name="Google Shape;680;p54"/>
          <p:cNvSpPr/>
          <p:nvPr/>
        </p:nvSpPr>
        <p:spPr>
          <a:xfrm>
            <a:off x="5632470" y="3056130"/>
            <a:ext cx="1143225" cy="4088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r">
              <a:lnSpc>
                <a:spcPct val="100000"/>
              </a:lnSpc>
              <a:spcBef>
                <a:spcPts val="0"/>
              </a:spcBef>
              <a:spcAft>
                <a:spcPts val="0"/>
              </a:spcAft>
              <a:buClr>
                <a:srgbClr val="29598A"/>
              </a:buClr>
              <a:buSzPts val="1200"/>
              <a:buFont typeface="Arial"/>
              <a:buNone/>
            </a:pPr>
            <a:r>
              <a:rPr b="0" i="0" lang="fr" sz="1200" u="none" cap="none" strike="noStrike">
                <a:solidFill>
                  <a:srgbClr val="29598A"/>
                </a:solidFill>
                <a:latin typeface="Arial"/>
                <a:ea typeface="Arial"/>
                <a:cs typeface="Arial"/>
                <a:sym typeface="Arial"/>
              </a:rPr>
              <a:t>DNS server</a:t>
            </a:r>
            <a:endParaRPr b="0" i="0" sz="1200" u="none" cap="none" strike="noStrike">
              <a:solidFill>
                <a:srgbClr val="000000"/>
              </a:solidFill>
              <a:latin typeface="Arial"/>
              <a:ea typeface="Arial"/>
              <a:cs typeface="Arial"/>
              <a:sym typeface="Arial"/>
            </a:endParaRPr>
          </a:p>
        </p:txBody>
      </p:sp>
      <p:sp>
        <p:nvSpPr>
          <p:cNvPr id="681" name="Google Shape;681;p54"/>
          <p:cNvSpPr/>
          <p:nvPr/>
        </p:nvSpPr>
        <p:spPr>
          <a:xfrm>
            <a:off x="7449840" y="1725840"/>
            <a:ext cx="552825" cy="4187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r">
              <a:lnSpc>
                <a:spcPct val="100000"/>
              </a:lnSpc>
              <a:spcBef>
                <a:spcPts val="0"/>
              </a:spcBef>
              <a:spcAft>
                <a:spcPts val="0"/>
              </a:spcAft>
              <a:buClr>
                <a:srgbClr val="F17930"/>
              </a:buClr>
              <a:buSzPts val="1000"/>
              <a:buFont typeface="Arial"/>
              <a:buNone/>
            </a:pPr>
            <a:r>
              <a:rPr b="0" i="0" lang="fr" sz="1000" u="none" cap="none" strike="noStrike">
                <a:solidFill>
                  <a:srgbClr val="F17930"/>
                </a:solidFill>
                <a:latin typeface="Arial"/>
                <a:ea typeface="Arial"/>
                <a:cs typeface="Arial"/>
                <a:sym typeface="Arial"/>
              </a:rPr>
              <a:t>Data</a:t>
            </a:r>
            <a:endParaRPr b="0" i="0" sz="1000" u="none" cap="none" strike="noStrike">
              <a:solidFill>
                <a:srgbClr val="000000"/>
              </a:solidFill>
              <a:latin typeface="Arial"/>
              <a:ea typeface="Arial"/>
              <a:cs typeface="Arial"/>
              <a:sym typeface="Arial"/>
            </a:endParaRPr>
          </a:p>
        </p:txBody>
      </p:sp>
      <p:cxnSp>
        <p:nvCxnSpPr>
          <p:cNvPr id="682" name="Google Shape;682;p54"/>
          <p:cNvCxnSpPr/>
          <p:nvPr/>
        </p:nvCxnSpPr>
        <p:spPr>
          <a:xfrm>
            <a:off x="7046190" y="1945080"/>
            <a:ext cx="533925" cy="225"/>
          </a:xfrm>
          <a:prstGeom prst="straightConnector1">
            <a:avLst/>
          </a:prstGeom>
          <a:noFill/>
          <a:ln cap="flat" cmpd="sng" w="25400">
            <a:solidFill>
              <a:srgbClr val="F17930"/>
            </a:solidFill>
            <a:prstDash val="dash"/>
            <a:round/>
            <a:headEnd len="sm" w="sm" type="none"/>
            <a:tailEnd len="sm" w="sm" type="none"/>
          </a:ln>
          <a:effectLst>
            <a:outerShdw blurRad="40000" rotWithShape="0" dir="5400000" dist="20000">
              <a:srgbClr val="000000">
                <a:alpha val="37647"/>
              </a:srgbClr>
            </a:outerShdw>
          </a:effectLst>
        </p:spPr>
      </p:cxnSp>
      <p:pic>
        <p:nvPicPr>
          <p:cNvPr descr="Info Card.jpg" id="683" name="Google Shape;683;p54"/>
          <p:cNvPicPr preferRelativeResize="0"/>
          <p:nvPr/>
        </p:nvPicPr>
        <p:blipFill rotWithShape="1">
          <a:blip r:embed="rId8">
            <a:alphaModFix/>
          </a:blip>
          <a:srcRect b="0" l="0" r="0" t="0"/>
          <a:stretch/>
        </p:blipFill>
        <p:spPr>
          <a:xfrm>
            <a:off x="7537590" y="4080780"/>
            <a:ext cx="1330560" cy="658530"/>
          </a:xfrm>
          <a:prstGeom prst="rect">
            <a:avLst/>
          </a:prstGeom>
          <a:noFill/>
          <a:ln>
            <a:noFill/>
          </a:ln>
        </p:spPr>
      </p:pic>
      <p:sp>
        <p:nvSpPr>
          <p:cNvPr id="684" name="Google Shape;684;p54"/>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400">
                <a:solidFill>
                  <a:srgbClr val="434343"/>
                </a:solidFill>
                <a:latin typeface="Helvetica Neue"/>
                <a:ea typeface="Helvetica Neue"/>
                <a:cs typeface="Helvetica Neue"/>
                <a:sym typeface="Helvetica Neue"/>
              </a:rPr>
              <a:t>DNS as a Transport Mechanism</a:t>
            </a:r>
            <a:endParaRPr sz="24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1000"/>
                                        <p:tgtEl>
                                          <p:spTgt spid="6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1000"/>
                                        <p:tgtEl>
                                          <p:spTgt spid="675"/>
                                        </p:tgtEl>
                                      </p:cBhvr>
                                    </p:animEffect>
                                  </p:childTnLst>
                                </p:cTn>
                              </p:par>
                            </p:childTnLst>
                          </p:cTn>
                        </p:par>
                        <p:par>
                          <p:cTn fill="hold">
                            <p:stCondLst>
                              <p:cond delay="2000"/>
                            </p:stCondLst>
                            <p:childTnLst>
                              <p:par>
                                <p:cTn fill="hold" nodeType="afterEffect" presetClass="exit" presetID="10" presetSubtype="0">
                                  <p:stCondLst>
                                    <p:cond delay="1000"/>
                                  </p:stCondLst>
                                  <p:childTnLst>
                                    <p:animEffect filter="fade" transition="out">
                                      <p:cBhvr>
                                        <p:cTn dur="1000"/>
                                        <p:tgtEl>
                                          <p:spTgt spid="675"/>
                                        </p:tgtEl>
                                      </p:cBhvr>
                                    </p:animEffect>
                                    <p:set>
                                      <p:cBhvr>
                                        <p:cTn dur="1" fill="hold">
                                          <p:stCondLst>
                                            <p:cond delay="1000"/>
                                          </p:stCondLst>
                                        </p:cTn>
                                        <p:tgtEl>
                                          <p:spTgt spid="675"/>
                                        </p:tgtEl>
                                        <p:attrNameLst>
                                          <p:attrName>style.visibility</p:attrName>
                                        </p:attrNameLst>
                                      </p:cBhvr>
                                      <p:to>
                                        <p:strVal val="hidden"/>
                                      </p:to>
                                    </p:se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000"/>
                                        <p:tgtEl>
                                          <p:spTgt spid="67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1000"/>
                                        <p:tgtEl>
                                          <p:spTgt spid="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5"/>
          <p:cNvSpPr txBox="1"/>
          <p:nvPr>
            <p:ph idx="4294967295" type="subTitle"/>
          </p:nvPr>
        </p:nvSpPr>
        <p:spPr>
          <a:xfrm>
            <a:off x="333450" y="601290"/>
            <a:ext cx="8372475" cy="321975"/>
          </a:xfrm>
          <a:prstGeom prst="rect">
            <a:avLst/>
          </a:prstGeom>
          <a:noFill/>
          <a:ln>
            <a:noFill/>
          </a:ln>
        </p:spPr>
        <p:txBody>
          <a:bodyPr anchorCtr="0" anchor="t" bIns="33750" lIns="0" spcFirstLastPara="1" rIns="67500" wrap="square" tIns="33750">
            <a:noAutofit/>
          </a:bodyPr>
          <a:lstStyle/>
          <a:p>
            <a:pPr indent="0" lvl="0" marL="0" marR="0" rtl="0" algn="l">
              <a:lnSpc>
                <a:spcPct val="100000"/>
              </a:lnSpc>
              <a:spcBef>
                <a:spcPts val="0"/>
              </a:spcBef>
              <a:spcAft>
                <a:spcPts val="0"/>
              </a:spcAft>
              <a:buClr>
                <a:srgbClr val="323232"/>
              </a:buClr>
              <a:buSzPts val="2000"/>
              <a:buFont typeface="Arial"/>
              <a:buNone/>
            </a:pPr>
            <a:r>
              <a:rPr b="1" i="0" lang="fr" sz="2000" u="none" cap="none" strike="noStrike">
                <a:solidFill>
                  <a:srgbClr val="323232"/>
                </a:solidFill>
                <a:latin typeface="Arial"/>
                <a:ea typeface="Arial"/>
                <a:cs typeface="Arial"/>
                <a:sym typeface="Arial"/>
              </a:rPr>
              <a:t>Infiltration</a:t>
            </a:r>
            <a:endParaRPr b="0" i="0" sz="2000" u="none" cap="none" strike="noStrike">
              <a:solidFill>
                <a:srgbClr val="595959"/>
              </a:solidFill>
              <a:latin typeface="Arial"/>
              <a:ea typeface="Arial"/>
              <a:cs typeface="Arial"/>
              <a:sym typeface="Arial"/>
            </a:endParaRPr>
          </a:p>
        </p:txBody>
      </p:sp>
      <p:sp>
        <p:nvSpPr>
          <p:cNvPr id="691" name="Google Shape;691;p55"/>
          <p:cNvSpPr txBox="1"/>
          <p:nvPr>
            <p:ph idx="4294967295" type="body"/>
          </p:nvPr>
        </p:nvSpPr>
        <p:spPr>
          <a:xfrm>
            <a:off x="330210" y="1111320"/>
            <a:ext cx="8502300" cy="3627900"/>
          </a:xfrm>
          <a:prstGeom prst="rect">
            <a:avLst/>
          </a:prstGeom>
          <a:noFill/>
          <a:ln>
            <a:noFill/>
          </a:ln>
        </p:spPr>
        <p:txBody>
          <a:bodyPr anchorCtr="0" anchor="t" bIns="0" lIns="0" spcFirstLastPara="1" rIns="0" wrap="square" tIns="0">
            <a:noAutofit/>
          </a:bodyPr>
          <a:lstStyle/>
          <a:p>
            <a:pPr indent="-133350" lvl="0" marL="139700" rtl="0" algn="l">
              <a:lnSpc>
                <a:spcPct val="100000"/>
              </a:lnSpc>
              <a:spcBef>
                <a:spcPts val="1700"/>
              </a:spcBef>
              <a:spcAft>
                <a:spcPts val="0"/>
              </a:spcAft>
              <a:buClr>
                <a:srgbClr val="323232"/>
              </a:buClr>
              <a:buSzPts val="1500"/>
              <a:buChar char="•"/>
            </a:pPr>
            <a:r>
              <a:rPr lang="fr" sz="1500">
                <a:solidFill>
                  <a:srgbClr val="323232"/>
                </a:solidFill>
              </a:rPr>
              <a:t>   Can be used to download a payload in a covert way for example.</a:t>
            </a:r>
            <a:endParaRPr sz="1500">
              <a:solidFill>
                <a:srgbClr val="323232"/>
              </a:solidFill>
            </a:endParaRPr>
          </a:p>
          <a:p>
            <a:pPr indent="0" lvl="0" marL="139700" marR="0" rtl="0" algn="l">
              <a:lnSpc>
                <a:spcPct val="100000"/>
              </a:lnSpc>
              <a:spcBef>
                <a:spcPts val="0"/>
              </a:spcBef>
              <a:spcAft>
                <a:spcPts val="0"/>
              </a:spcAft>
              <a:buSzPts val="1100"/>
              <a:buNone/>
            </a:pPr>
            <a:r>
              <a:t/>
            </a:r>
            <a:endParaRPr sz="1500">
              <a:solidFill>
                <a:srgbClr val="323232"/>
              </a:solidFill>
            </a:endParaRPr>
          </a:p>
          <a:p>
            <a:pPr indent="-285750" lvl="0" marL="292100" marR="0" rtl="0" algn="l">
              <a:lnSpc>
                <a:spcPct val="100000"/>
              </a:lnSpc>
              <a:spcBef>
                <a:spcPts val="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TCP features can be imitated by encoding the chunks with additional data, such as Checksum &amp; Packet Number</a:t>
            </a:r>
            <a:endParaRPr b="0" i="0" sz="1500" u="none" cap="none" strike="noStrike">
              <a:solidFill>
                <a:srgbClr val="323232"/>
              </a:solidFill>
              <a:latin typeface="Arial"/>
              <a:ea typeface="Arial"/>
              <a:cs typeface="Arial"/>
              <a:sym typeface="Arial"/>
            </a:endParaRPr>
          </a:p>
          <a:p>
            <a:pPr indent="-285750" lvl="0" marL="292100" marR="0" rtl="0" algn="l">
              <a:lnSpc>
                <a:spcPct val="100000"/>
              </a:lnSpc>
              <a:spcBef>
                <a:spcPts val="17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Data can be sent back in a variety of records, e.g. </a:t>
            </a:r>
            <a:endParaRPr b="0" i="0" sz="1500" u="none" cap="none" strike="noStrike">
              <a:solidFill>
                <a:srgbClr val="323232"/>
              </a:solidFill>
              <a:latin typeface="Arial"/>
              <a:ea typeface="Arial"/>
              <a:cs typeface="Arial"/>
              <a:sym typeface="Arial"/>
            </a:endParaRPr>
          </a:p>
          <a:p>
            <a:pPr indent="-171450" lvl="1" marL="571500" marR="0" rtl="0" algn="l">
              <a:lnSpc>
                <a:spcPct val="100000"/>
              </a:lnSpc>
              <a:spcBef>
                <a:spcPts val="300"/>
              </a:spcBef>
              <a:spcAft>
                <a:spcPts val="0"/>
              </a:spcAft>
              <a:buClr>
                <a:srgbClr val="323232"/>
              </a:buClr>
              <a:buSzPts val="1500"/>
              <a:buFont typeface="Arial"/>
              <a:buChar char="̶"/>
            </a:pPr>
            <a:r>
              <a:rPr lang="fr" sz="1500">
                <a:solidFill>
                  <a:srgbClr val="323232"/>
                </a:solidFill>
              </a:rPr>
              <a:t> </a:t>
            </a:r>
            <a:r>
              <a:rPr b="0" i="0" lang="fr" sz="1500" u="none" cap="none" strike="noStrike">
                <a:solidFill>
                  <a:srgbClr val="323232"/>
                </a:solidFill>
                <a:latin typeface="Arial"/>
                <a:ea typeface="Arial"/>
                <a:cs typeface="Arial"/>
                <a:sym typeface="Arial"/>
              </a:rPr>
              <a:t>A - allowing 4 bytes </a:t>
            </a:r>
            <a:r>
              <a:rPr lang="fr" sz="1500"/>
              <a:t> </a:t>
            </a:r>
            <a:r>
              <a:rPr b="0" i="0" lang="fr" sz="1500" u="none" cap="none" strike="noStrike">
                <a:solidFill>
                  <a:srgbClr val="323232"/>
                </a:solidFill>
                <a:latin typeface="Arial"/>
                <a:ea typeface="Arial"/>
                <a:cs typeface="Arial"/>
                <a:sym typeface="Arial"/>
              </a:rPr>
              <a:t>(enough for codes, e.g. 1.1.1.200 = resend packet 200)</a:t>
            </a:r>
            <a:endParaRPr b="0" i="0" sz="1500" u="none" cap="none" strike="noStrike">
              <a:solidFill>
                <a:srgbClr val="323232"/>
              </a:solidFill>
              <a:latin typeface="Arial"/>
              <a:ea typeface="Arial"/>
              <a:cs typeface="Arial"/>
              <a:sym typeface="Arial"/>
            </a:endParaRPr>
          </a:p>
          <a:p>
            <a:pPr indent="-171450" lvl="1" marL="571500" marR="0" rtl="0" algn="l">
              <a:lnSpc>
                <a:spcPct val="100000"/>
              </a:lnSpc>
              <a:spcBef>
                <a:spcPts val="300"/>
              </a:spcBef>
              <a:spcAft>
                <a:spcPts val="0"/>
              </a:spcAft>
              <a:buClr>
                <a:srgbClr val="323232"/>
              </a:buClr>
              <a:buSzPts val="1500"/>
              <a:buFont typeface="Arial"/>
              <a:buChar char="̶"/>
            </a:pPr>
            <a:r>
              <a:rPr lang="fr" sz="1500">
                <a:solidFill>
                  <a:srgbClr val="323232"/>
                </a:solidFill>
              </a:rPr>
              <a:t> </a:t>
            </a:r>
            <a:r>
              <a:rPr b="0" i="0" lang="fr" sz="1500" u="none" cap="none" strike="noStrike">
                <a:solidFill>
                  <a:srgbClr val="323232"/>
                </a:solidFill>
                <a:latin typeface="Arial"/>
                <a:ea typeface="Arial"/>
                <a:cs typeface="Arial"/>
                <a:sym typeface="Arial"/>
              </a:rPr>
              <a:t>AAAA - allowing 16 bytes</a:t>
            </a:r>
            <a:endParaRPr b="0" i="0" sz="1500" u="none" cap="none" strike="noStrike">
              <a:solidFill>
                <a:srgbClr val="323232"/>
              </a:solidFill>
              <a:latin typeface="Arial"/>
              <a:ea typeface="Arial"/>
              <a:cs typeface="Arial"/>
              <a:sym typeface="Arial"/>
            </a:endParaRPr>
          </a:p>
          <a:p>
            <a:pPr indent="-171450" lvl="1" marL="571500" marR="0" rtl="0" algn="l">
              <a:lnSpc>
                <a:spcPct val="100000"/>
              </a:lnSpc>
              <a:spcBef>
                <a:spcPts val="300"/>
              </a:spcBef>
              <a:spcAft>
                <a:spcPts val="0"/>
              </a:spcAft>
              <a:buClr>
                <a:srgbClr val="323232"/>
              </a:buClr>
              <a:buSzPts val="1500"/>
              <a:buFont typeface="Arial"/>
              <a:buChar char="̶"/>
            </a:pPr>
            <a:r>
              <a:rPr lang="fr" sz="1500">
                <a:solidFill>
                  <a:srgbClr val="323232"/>
                </a:solidFill>
              </a:rPr>
              <a:t> </a:t>
            </a:r>
            <a:r>
              <a:rPr b="0" i="0" lang="fr" sz="1500" u="none" cap="none" strike="noStrike">
                <a:solidFill>
                  <a:srgbClr val="323232"/>
                </a:solidFill>
                <a:latin typeface="Arial"/>
                <a:ea typeface="Arial"/>
                <a:cs typeface="Arial"/>
                <a:sym typeface="Arial"/>
              </a:rPr>
              <a:t>MX record : 2 bytes + domain name (255 bytes)</a:t>
            </a:r>
            <a:endParaRPr b="0" i="0" sz="1500" u="none" cap="none" strike="noStrike">
              <a:solidFill>
                <a:srgbClr val="323232"/>
              </a:solidFill>
              <a:latin typeface="Arial"/>
              <a:ea typeface="Arial"/>
              <a:cs typeface="Arial"/>
              <a:sym typeface="Arial"/>
            </a:endParaRPr>
          </a:p>
          <a:p>
            <a:pPr indent="-171450" lvl="1" marL="571500" marR="0" rtl="0" algn="l">
              <a:lnSpc>
                <a:spcPct val="100000"/>
              </a:lnSpc>
              <a:spcBef>
                <a:spcPts val="300"/>
              </a:spcBef>
              <a:spcAft>
                <a:spcPts val="0"/>
              </a:spcAft>
              <a:buClr>
                <a:srgbClr val="323232"/>
              </a:buClr>
              <a:buSzPts val="1500"/>
              <a:buFont typeface="Arial"/>
              <a:buChar char="̶"/>
            </a:pPr>
            <a:r>
              <a:rPr lang="fr" sz="1500">
                <a:solidFill>
                  <a:srgbClr val="323232"/>
                </a:solidFill>
              </a:rPr>
              <a:t> </a:t>
            </a:r>
            <a:r>
              <a:rPr b="0" i="0" lang="fr" sz="1500" u="none" cap="none" strike="noStrike">
                <a:solidFill>
                  <a:srgbClr val="323232"/>
                </a:solidFill>
                <a:latin typeface="Arial"/>
                <a:ea typeface="Arial"/>
                <a:cs typeface="Arial"/>
                <a:sym typeface="Arial"/>
              </a:rPr>
              <a:t>CNAME - allowing up to 110 bytes in Base32</a:t>
            </a:r>
            <a:endParaRPr b="0" i="0" sz="1500" u="none" cap="none" strike="noStrike">
              <a:solidFill>
                <a:srgbClr val="323232"/>
              </a:solidFill>
              <a:latin typeface="Arial"/>
              <a:ea typeface="Arial"/>
              <a:cs typeface="Arial"/>
              <a:sym typeface="Arial"/>
            </a:endParaRPr>
          </a:p>
          <a:p>
            <a:pPr indent="-171450" lvl="1" marL="571500" marR="0" rtl="0" algn="l">
              <a:lnSpc>
                <a:spcPct val="100000"/>
              </a:lnSpc>
              <a:spcBef>
                <a:spcPts val="300"/>
              </a:spcBef>
              <a:spcAft>
                <a:spcPts val="0"/>
              </a:spcAft>
              <a:buClr>
                <a:srgbClr val="323232"/>
              </a:buClr>
              <a:buSzPts val="1500"/>
              <a:buFont typeface="Arial"/>
              <a:buChar char="̶"/>
            </a:pPr>
            <a:r>
              <a:rPr lang="fr" sz="1500">
                <a:solidFill>
                  <a:srgbClr val="323232"/>
                </a:solidFill>
              </a:rPr>
              <a:t> </a:t>
            </a:r>
            <a:r>
              <a:rPr b="0" i="0" lang="fr" sz="1500" u="none" cap="none" strike="noStrike">
                <a:solidFill>
                  <a:srgbClr val="323232"/>
                </a:solidFill>
                <a:latin typeface="Arial"/>
                <a:ea typeface="Arial"/>
                <a:cs typeface="Arial"/>
                <a:sym typeface="Arial"/>
              </a:rPr>
              <a:t>TXT - allowing N x 220 bytes in Base64 (up to RDATA limit of 64kB)</a:t>
            </a:r>
            <a:endParaRPr b="0" i="0" sz="1500" u="none" cap="none" strike="noStrike">
              <a:solidFill>
                <a:srgbClr val="323232"/>
              </a:solidFill>
              <a:latin typeface="Arial"/>
              <a:ea typeface="Arial"/>
              <a:cs typeface="Arial"/>
              <a:sym typeface="Arial"/>
            </a:endParaRPr>
          </a:p>
          <a:p>
            <a:pPr indent="-171450" lvl="1" marL="571500" marR="0" rtl="0" algn="l">
              <a:lnSpc>
                <a:spcPct val="100000"/>
              </a:lnSpc>
              <a:spcBef>
                <a:spcPts val="300"/>
              </a:spcBef>
              <a:spcAft>
                <a:spcPts val="0"/>
              </a:spcAft>
              <a:buClr>
                <a:srgbClr val="323232"/>
              </a:buClr>
              <a:buSzPts val="1500"/>
              <a:buFont typeface="Arial"/>
              <a:buChar char="̶"/>
            </a:pPr>
            <a:r>
              <a:rPr lang="fr" sz="1500">
                <a:solidFill>
                  <a:srgbClr val="323232"/>
                </a:solidFill>
              </a:rPr>
              <a:t> </a:t>
            </a:r>
            <a:r>
              <a:rPr b="0" i="0" lang="fr" sz="1500" u="none" cap="none" strike="noStrike">
                <a:solidFill>
                  <a:srgbClr val="323232"/>
                </a:solidFill>
                <a:latin typeface="Arial"/>
                <a:ea typeface="Arial"/>
                <a:cs typeface="Arial"/>
                <a:sym typeface="Arial"/>
              </a:rPr>
              <a:t>NULL - allowing up to 256 bytes</a:t>
            </a:r>
            <a:endParaRPr b="0" i="0" sz="1500" u="none" cap="none" strike="noStrike">
              <a:solidFill>
                <a:srgbClr val="323232"/>
              </a:solidFill>
              <a:latin typeface="Arial"/>
              <a:ea typeface="Arial"/>
              <a:cs typeface="Arial"/>
              <a:sym typeface="Arial"/>
            </a:endParaRPr>
          </a:p>
          <a:p>
            <a:pPr indent="-285750" lvl="0" marL="292100" marR="0" rtl="0" algn="l">
              <a:lnSpc>
                <a:spcPct val="100000"/>
              </a:lnSpc>
              <a:spcBef>
                <a:spcPts val="17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Using TXT and NULL make transmission faster, at expense of easier detection</a:t>
            </a:r>
            <a:endParaRPr b="0" i="0" sz="1500" u="none" cap="none" strike="noStrike">
              <a:solidFill>
                <a:srgbClr val="323232"/>
              </a:solidFill>
              <a:latin typeface="Arial"/>
              <a:ea typeface="Arial"/>
              <a:cs typeface="Arial"/>
              <a:sym typeface="Arial"/>
            </a:endParaRPr>
          </a:p>
          <a:p>
            <a:pPr indent="0" lvl="0" marL="0" marR="0" rtl="0" algn="l">
              <a:lnSpc>
                <a:spcPct val="100000"/>
              </a:lnSpc>
              <a:spcBef>
                <a:spcPts val="300"/>
              </a:spcBef>
              <a:spcAft>
                <a:spcPts val="0"/>
              </a:spcAft>
              <a:buSzPts val="1500"/>
              <a:buFont typeface="Arial"/>
              <a:buNone/>
            </a:pPr>
            <a:r>
              <a:t/>
            </a:r>
            <a:endParaRPr b="0" i="0" sz="1500" u="none" cap="none" strike="noStrike">
              <a:solidFill>
                <a:srgbClr val="323232"/>
              </a:solidFill>
              <a:latin typeface="Arial"/>
              <a:ea typeface="Arial"/>
              <a:cs typeface="Arial"/>
              <a:sym typeface="Arial"/>
            </a:endParaRPr>
          </a:p>
        </p:txBody>
      </p:sp>
      <p:sp>
        <p:nvSpPr>
          <p:cNvPr id="692" name="Google Shape;692;p55"/>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400">
                <a:solidFill>
                  <a:srgbClr val="434343"/>
                </a:solidFill>
                <a:latin typeface="Helvetica Neue"/>
                <a:ea typeface="Helvetica Neue"/>
                <a:cs typeface="Helvetica Neue"/>
                <a:sym typeface="Helvetica Neue"/>
              </a:rPr>
              <a:t>DNS as a Transport Mechanism</a:t>
            </a:r>
            <a:endParaRPr sz="24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56"/>
          <p:cNvSpPr txBox="1"/>
          <p:nvPr>
            <p:ph idx="4294967295" type="body"/>
          </p:nvPr>
        </p:nvSpPr>
        <p:spPr>
          <a:xfrm>
            <a:off x="451170" y="952560"/>
            <a:ext cx="4923000" cy="1808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23232"/>
              </a:buClr>
              <a:buSzPts val="1400"/>
              <a:buFont typeface="Arial"/>
              <a:buNone/>
            </a:pPr>
            <a:r>
              <a:rPr b="0" i="0" lang="fr" sz="1400" u="none" cap="none" strike="noStrike">
                <a:solidFill>
                  <a:srgbClr val="323232"/>
                </a:solidFill>
                <a:latin typeface="Arial"/>
                <a:ea typeface="Arial"/>
                <a:cs typeface="Arial"/>
                <a:sym typeface="Arial"/>
              </a:rPr>
              <a:t>An algorithm producing Command &amp; Control (C2) rendezvous points dynamically</a:t>
            </a:r>
            <a:endParaRPr b="0" i="0" sz="1400" u="none" cap="none" strike="noStrike">
              <a:solidFill>
                <a:srgbClr val="323232"/>
              </a:solidFill>
              <a:latin typeface="Arial"/>
              <a:ea typeface="Arial"/>
              <a:cs typeface="Arial"/>
              <a:sym typeface="Arial"/>
            </a:endParaRPr>
          </a:p>
          <a:p>
            <a:pPr indent="0" lvl="0" marL="0" marR="0" rtl="0" algn="l">
              <a:lnSpc>
                <a:spcPct val="150000"/>
              </a:lnSpc>
              <a:spcBef>
                <a:spcPts val="300"/>
              </a:spcBef>
              <a:spcAft>
                <a:spcPts val="0"/>
              </a:spcAft>
              <a:buSzPts val="1400"/>
              <a:buFont typeface="Arial"/>
              <a:buNone/>
            </a:pPr>
            <a:br>
              <a:rPr b="0" i="0" lang="fr" sz="1400" u="none" cap="none" strike="noStrike"/>
            </a:br>
            <a:r>
              <a:rPr b="0" i="0" lang="fr" sz="1400" u="none" cap="none" strike="noStrike">
                <a:solidFill>
                  <a:srgbClr val="323232"/>
                </a:solidFill>
                <a:latin typeface="Arial"/>
                <a:ea typeface="Arial"/>
                <a:cs typeface="Arial"/>
                <a:sym typeface="Arial"/>
              </a:rPr>
              <a:t>For example: every day malware connects to time-based server FQDN: </a:t>
            </a:r>
            <a:r>
              <a:rPr b="0" i="1" lang="fr" sz="1400" u="none" cap="none" strike="noStrike">
                <a:solidFill>
                  <a:srgbClr val="323232"/>
                </a:solidFill>
                <a:latin typeface="Arial"/>
                <a:ea typeface="Arial"/>
                <a:cs typeface="Arial"/>
                <a:sym typeface="Arial"/>
              </a:rPr>
              <a:t>&lt;month&gt;-&lt;day&gt;-&lt;year&gt;.com</a:t>
            </a:r>
            <a:br>
              <a:rPr b="0" i="0" lang="fr" sz="1400" u="none" cap="none" strike="noStrike"/>
            </a:br>
            <a:r>
              <a:rPr b="0" i="0" lang="fr" sz="1400" u="none" cap="none" strike="noStrike">
                <a:solidFill>
                  <a:srgbClr val="323232"/>
                </a:solidFill>
                <a:latin typeface="Arial"/>
                <a:ea typeface="Arial"/>
                <a:cs typeface="Arial"/>
                <a:sym typeface="Arial"/>
              </a:rPr>
              <a:t>ie. on December 24, 2017 malware connects to 2017-12-24.com</a:t>
            </a:r>
            <a:endParaRPr b="0" i="0" sz="1400" u="none" cap="none" strike="noStrike">
              <a:solidFill>
                <a:srgbClr val="323232"/>
              </a:solidFill>
              <a:latin typeface="Arial"/>
              <a:ea typeface="Arial"/>
              <a:cs typeface="Arial"/>
              <a:sym typeface="Arial"/>
            </a:endParaRPr>
          </a:p>
        </p:txBody>
      </p:sp>
      <p:graphicFrame>
        <p:nvGraphicFramePr>
          <p:cNvPr id="698" name="Google Shape;698;p56"/>
          <p:cNvGraphicFramePr/>
          <p:nvPr/>
        </p:nvGraphicFramePr>
        <p:xfrm>
          <a:off x="451170" y="3265110"/>
          <a:ext cx="3000000" cy="3000000"/>
        </p:xfrm>
        <a:graphic>
          <a:graphicData uri="http://schemas.openxmlformats.org/drawingml/2006/table">
            <a:tbl>
              <a:tblPr>
                <a:noFill/>
                <a:tableStyleId>{E86C7CE7-5CE3-414C-9FC1-9623DBE3C8F6}</a:tableStyleId>
              </a:tblPr>
              <a:tblGrid>
                <a:gridCol w="1184475"/>
                <a:gridCol w="3124950"/>
              </a:tblGrid>
              <a:tr h="384200">
                <a:tc>
                  <a:txBody>
                    <a:bodyPr/>
                    <a:lstStyle/>
                    <a:p>
                      <a:pPr indent="0" lvl="0" marL="0" marR="0" rtl="0" algn="ctr">
                        <a:lnSpc>
                          <a:spcPct val="100000"/>
                        </a:lnSpc>
                        <a:spcBef>
                          <a:spcPts val="0"/>
                        </a:spcBef>
                        <a:spcAft>
                          <a:spcPts val="0"/>
                        </a:spcAft>
                        <a:buClr>
                          <a:srgbClr val="FFFFFF"/>
                        </a:buClr>
                        <a:buSzPts val="1400"/>
                        <a:buFont typeface="Arial"/>
                        <a:buNone/>
                      </a:pPr>
                      <a:r>
                        <a:rPr b="1" lang="fr" sz="1400" u="none" cap="none" strike="noStrike">
                          <a:solidFill>
                            <a:srgbClr val="FFFFFF"/>
                          </a:solidFill>
                          <a:latin typeface="Arial"/>
                          <a:ea typeface="Arial"/>
                          <a:cs typeface="Arial"/>
                          <a:sym typeface="Arial"/>
                        </a:rPr>
                        <a:t>Example Family</a:t>
                      </a:r>
                      <a:endParaRPr b="0" sz="14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29598A"/>
                    </a:solidFill>
                  </a:tcPr>
                </a:tc>
                <a:tc>
                  <a:txBody>
                    <a:bodyPr/>
                    <a:lstStyle/>
                    <a:p>
                      <a:pPr indent="0" lvl="0" marL="0" marR="0" rtl="0" algn="ctr">
                        <a:lnSpc>
                          <a:spcPct val="100000"/>
                        </a:lnSpc>
                        <a:spcBef>
                          <a:spcPts val="0"/>
                        </a:spcBef>
                        <a:spcAft>
                          <a:spcPts val="0"/>
                        </a:spcAft>
                        <a:buClr>
                          <a:srgbClr val="FFFFFF"/>
                        </a:buClr>
                        <a:buSzPts val="1400"/>
                        <a:buFont typeface="Arial"/>
                        <a:buNone/>
                      </a:pPr>
                      <a:r>
                        <a:rPr b="1" lang="fr" sz="1400" u="none" cap="none" strike="noStrike">
                          <a:solidFill>
                            <a:srgbClr val="FFFFFF"/>
                          </a:solidFill>
                          <a:latin typeface="Arial"/>
                          <a:ea typeface="Arial"/>
                          <a:cs typeface="Arial"/>
                          <a:sym typeface="Arial"/>
                        </a:rPr>
                        <a:t>Example Domain</a:t>
                      </a:r>
                      <a:endParaRPr b="0" sz="14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29598A"/>
                    </a:solidFill>
                  </a:tcPr>
                </a:tc>
              </a:tr>
              <a:tr h="347475">
                <a:tc>
                  <a:txBody>
                    <a:bodyPr/>
                    <a:lstStyle/>
                    <a:p>
                      <a:pPr indent="0" lvl="0" marL="0" marR="0" rtl="0" algn="ctr">
                        <a:lnSpc>
                          <a:spcPct val="100000"/>
                        </a:lnSpc>
                        <a:spcBef>
                          <a:spcPts val="0"/>
                        </a:spcBef>
                        <a:spcAft>
                          <a:spcPts val="0"/>
                        </a:spcAft>
                        <a:buClr>
                          <a:srgbClr val="323232"/>
                        </a:buClr>
                        <a:buSzPts val="1400"/>
                        <a:buFont typeface="Arial"/>
                        <a:buNone/>
                      </a:pPr>
                      <a:r>
                        <a:rPr b="0" lang="fr" sz="1400" u="none" cap="none" strike="noStrike">
                          <a:solidFill>
                            <a:srgbClr val="323232"/>
                          </a:solidFill>
                          <a:latin typeface="Arial"/>
                          <a:ea typeface="Arial"/>
                          <a:cs typeface="Arial"/>
                          <a:sym typeface="Arial"/>
                        </a:rPr>
                        <a:t>DirCrypt</a:t>
                      </a:r>
                      <a:endParaRPr b="0" sz="14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DD1DA"/>
                    </a:solidFill>
                  </a:tcPr>
                </a:tc>
                <a:tc>
                  <a:txBody>
                    <a:bodyPr/>
                    <a:lstStyle/>
                    <a:p>
                      <a:pPr indent="0" lvl="0" marL="0" marR="0" rtl="0" algn="ctr">
                        <a:lnSpc>
                          <a:spcPct val="100000"/>
                        </a:lnSpc>
                        <a:spcBef>
                          <a:spcPts val="0"/>
                        </a:spcBef>
                        <a:spcAft>
                          <a:spcPts val="0"/>
                        </a:spcAft>
                        <a:buClr>
                          <a:srgbClr val="323232"/>
                        </a:buClr>
                        <a:buSzPts val="1400"/>
                        <a:buFont typeface="Arial"/>
                        <a:buNone/>
                      </a:pPr>
                      <a:r>
                        <a:rPr b="0" lang="fr" sz="1400" u="none" cap="none" strike="noStrike">
                          <a:solidFill>
                            <a:srgbClr val="323232"/>
                          </a:solidFill>
                          <a:latin typeface="Arial"/>
                          <a:ea typeface="Arial"/>
                          <a:cs typeface="Arial"/>
                          <a:sym typeface="Arial"/>
                        </a:rPr>
                        <a:t>vlbqryjd.com</a:t>
                      </a:r>
                      <a:endParaRPr b="0" sz="14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DD1DA"/>
                    </a:solidFill>
                  </a:tcPr>
                </a:tc>
              </a:tr>
              <a:tr h="347475">
                <a:tc>
                  <a:txBody>
                    <a:bodyPr/>
                    <a:lstStyle/>
                    <a:p>
                      <a:pPr indent="0" lvl="0" marL="0" marR="0" rtl="0" algn="ctr">
                        <a:lnSpc>
                          <a:spcPct val="100000"/>
                        </a:lnSpc>
                        <a:spcBef>
                          <a:spcPts val="0"/>
                        </a:spcBef>
                        <a:spcAft>
                          <a:spcPts val="0"/>
                        </a:spcAft>
                        <a:buClr>
                          <a:srgbClr val="323232"/>
                        </a:buClr>
                        <a:buSzPts val="1400"/>
                        <a:buFont typeface="Arial"/>
                        <a:buNone/>
                      </a:pPr>
                      <a:r>
                        <a:rPr b="0" lang="fr" sz="1400" u="none" cap="none" strike="noStrike">
                          <a:solidFill>
                            <a:srgbClr val="323232"/>
                          </a:solidFill>
                          <a:latin typeface="Arial"/>
                          <a:ea typeface="Arial"/>
                          <a:cs typeface="Arial"/>
                          <a:sym typeface="Arial"/>
                        </a:rPr>
                        <a:t>Bamital</a:t>
                      </a:r>
                      <a:endParaRPr b="0" sz="14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7E9ED"/>
                    </a:solidFill>
                  </a:tcPr>
                </a:tc>
                <a:tc>
                  <a:txBody>
                    <a:bodyPr/>
                    <a:lstStyle/>
                    <a:p>
                      <a:pPr indent="0" lvl="0" marL="0" marR="0" rtl="0" algn="ctr">
                        <a:lnSpc>
                          <a:spcPct val="100000"/>
                        </a:lnSpc>
                        <a:spcBef>
                          <a:spcPts val="0"/>
                        </a:spcBef>
                        <a:spcAft>
                          <a:spcPts val="0"/>
                        </a:spcAft>
                        <a:buClr>
                          <a:srgbClr val="323232"/>
                        </a:buClr>
                        <a:buSzPts val="1100"/>
                        <a:buFont typeface="Arial"/>
                        <a:buNone/>
                      </a:pPr>
                      <a:r>
                        <a:rPr b="0" lang="fr" sz="1100" u="none" cap="none" strike="noStrike">
                          <a:solidFill>
                            <a:srgbClr val="323232"/>
                          </a:solidFill>
                          <a:latin typeface="Arial"/>
                          <a:ea typeface="Arial"/>
                          <a:cs typeface="Arial"/>
                          <a:sym typeface="Arial"/>
                        </a:rPr>
                        <a:t>b83ed4877eec1997fcc39b7ae590007a.info</a:t>
                      </a:r>
                      <a:endParaRPr b="0" sz="11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7E9ED"/>
                    </a:solidFill>
                  </a:tcPr>
                </a:tc>
              </a:tr>
              <a:tr h="347475">
                <a:tc>
                  <a:txBody>
                    <a:bodyPr/>
                    <a:lstStyle/>
                    <a:p>
                      <a:pPr indent="0" lvl="0" marL="0" marR="0" rtl="0" algn="ctr">
                        <a:lnSpc>
                          <a:spcPct val="100000"/>
                        </a:lnSpc>
                        <a:spcBef>
                          <a:spcPts val="0"/>
                        </a:spcBef>
                        <a:spcAft>
                          <a:spcPts val="0"/>
                        </a:spcAft>
                        <a:buClr>
                          <a:srgbClr val="323232"/>
                        </a:buClr>
                        <a:buSzPts val="1400"/>
                        <a:buFont typeface="Arial"/>
                        <a:buNone/>
                      </a:pPr>
                      <a:r>
                        <a:rPr b="0" lang="fr" sz="1400" u="none" cap="none" strike="noStrike">
                          <a:solidFill>
                            <a:srgbClr val="323232"/>
                          </a:solidFill>
                          <a:latin typeface="Arial"/>
                          <a:ea typeface="Arial"/>
                          <a:cs typeface="Arial"/>
                          <a:sym typeface="Arial"/>
                        </a:rPr>
                        <a:t>CCleaner</a:t>
                      </a:r>
                      <a:endParaRPr b="0" sz="14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DD1DA"/>
                    </a:solidFill>
                  </a:tcPr>
                </a:tc>
                <a:tc>
                  <a:txBody>
                    <a:bodyPr/>
                    <a:lstStyle/>
                    <a:p>
                      <a:pPr indent="0" lvl="0" marL="0" marR="0" rtl="0" algn="ctr">
                        <a:lnSpc>
                          <a:spcPct val="100000"/>
                        </a:lnSpc>
                        <a:spcBef>
                          <a:spcPts val="0"/>
                        </a:spcBef>
                        <a:spcAft>
                          <a:spcPts val="0"/>
                        </a:spcAft>
                        <a:buClr>
                          <a:srgbClr val="323232"/>
                        </a:buClr>
                        <a:buSzPts val="1100"/>
                        <a:buFont typeface="Arial"/>
                        <a:buNone/>
                      </a:pPr>
                      <a:r>
                        <a:rPr b="0" lang="fr" sz="1100" u="none" cap="none" strike="noStrike">
                          <a:solidFill>
                            <a:srgbClr val="323232"/>
                          </a:solidFill>
                          <a:latin typeface="Arial"/>
                          <a:ea typeface="Arial"/>
                          <a:cs typeface="Arial"/>
                          <a:sym typeface="Arial"/>
                        </a:rPr>
                        <a:t>ab6d54340c1a.com</a:t>
                      </a:r>
                      <a:endParaRPr b="0" sz="1100" u="none" cap="none" strike="noStrike">
                        <a:latin typeface="Arial"/>
                        <a:ea typeface="Arial"/>
                        <a:cs typeface="Arial"/>
                        <a:sym typeface="Arial"/>
                      </a:endParaRPr>
                    </a:p>
                  </a:txBody>
                  <a:tcPr marT="34300" marB="34300" marR="23750" marL="23750" anchor="ctr">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DD1DA"/>
                    </a:solidFill>
                  </a:tcPr>
                </a:tc>
              </a:tr>
            </a:tbl>
          </a:graphicData>
        </a:graphic>
      </p:graphicFrame>
      <p:sp>
        <p:nvSpPr>
          <p:cNvPr id="699" name="Google Shape;699;p56"/>
          <p:cNvSpPr/>
          <p:nvPr/>
        </p:nvSpPr>
        <p:spPr>
          <a:xfrm>
            <a:off x="7964460" y="2104110"/>
            <a:ext cx="730575" cy="4113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323232"/>
              </a:buClr>
              <a:buSzPts val="1200"/>
              <a:buFont typeface="Arial"/>
              <a:buNone/>
            </a:pPr>
            <a:r>
              <a:rPr b="0" i="0" lang="fr" sz="1200" u="none" cap="none" strike="noStrike">
                <a:solidFill>
                  <a:srgbClr val="323232"/>
                </a:solidFill>
                <a:latin typeface="Arial"/>
                <a:ea typeface="Arial"/>
                <a:cs typeface="Arial"/>
                <a:sym typeface="Arial"/>
              </a:rPr>
              <a:t>DNS server</a:t>
            </a:r>
            <a:endParaRPr b="0" i="0" sz="1200" u="none" cap="none" strike="noStrike">
              <a:solidFill>
                <a:srgbClr val="000000"/>
              </a:solidFill>
              <a:latin typeface="Arial"/>
              <a:ea typeface="Arial"/>
              <a:cs typeface="Arial"/>
              <a:sym typeface="Arial"/>
            </a:endParaRPr>
          </a:p>
        </p:txBody>
      </p:sp>
      <p:sp>
        <p:nvSpPr>
          <p:cNvPr id="700" name="Google Shape;700;p56"/>
          <p:cNvSpPr/>
          <p:nvPr/>
        </p:nvSpPr>
        <p:spPr>
          <a:xfrm>
            <a:off x="7566750" y="4070790"/>
            <a:ext cx="1470600" cy="584775"/>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323232"/>
              </a:buClr>
              <a:buSzPts val="1200"/>
              <a:buFont typeface="Arial"/>
              <a:buNone/>
            </a:pPr>
            <a:r>
              <a:rPr b="0" i="0" lang="fr" sz="1200" u="none" cap="none" strike="noStrike">
                <a:solidFill>
                  <a:srgbClr val="323232"/>
                </a:solidFill>
                <a:latin typeface="Arial"/>
                <a:ea typeface="Arial"/>
                <a:cs typeface="Arial"/>
                <a:sym typeface="Arial"/>
              </a:rPr>
              <a:t>C2 Server</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323232"/>
              </a:buClr>
              <a:buSzPts val="1200"/>
              <a:buFont typeface="Arial"/>
              <a:buNone/>
            </a:pPr>
            <a:r>
              <a:rPr b="0" i="0" lang="fr" sz="1200" u="none" cap="none" strike="noStrike">
                <a:solidFill>
                  <a:srgbClr val="323232"/>
                </a:solidFill>
                <a:latin typeface="Arial"/>
                <a:ea typeface="Arial"/>
                <a:cs typeface="Arial"/>
                <a:sym typeface="Arial"/>
              </a:rPr>
              <a:t>IP 135.175.17.35</a:t>
            </a:r>
            <a:endParaRPr b="0" i="0" sz="1200" u="none" cap="none" strike="noStrike">
              <a:solidFill>
                <a:srgbClr val="000000"/>
              </a:solidFill>
              <a:latin typeface="Arial"/>
              <a:ea typeface="Arial"/>
              <a:cs typeface="Arial"/>
              <a:sym typeface="Arial"/>
            </a:endParaRPr>
          </a:p>
        </p:txBody>
      </p:sp>
      <p:grpSp>
        <p:nvGrpSpPr>
          <p:cNvPr id="701" name="Google Shape;701;p56"/>
          <p:cNvGrpSpPr/>
          <p:nvPr/>
        </p:nvGrpSpPr>
        <p:grpSpPr>
          <a:xfrm>
            <a:off x="8058690" y="3514320"/>
            <a:ext cx="538650" cy="622350"/>
            <a:chOff x="10744920" y="4685760"/>
            <a:chExt cx="718200" cy="829800"/>
          </a:xfrm>
        </p:grpSpPr>
        <p:sp>
          <p:nvSpPr>
            <p:cNvPr id="702" name="Google Shape;702;p56"/>
            <p:cNvSpPr/>
            <p:nvPr/>
          </p:nvSpPr>
          <p:spPr>
            <a:xfrm>
              <a:off x="10775160" y="4782600"/>
              <a:ext cx="651600" cy="643200"/>
            </a:xfrm>
            <a:prstGeom prst="roundRect">
              <a:avLst>
                <a:gd fmla="val 16667" name="adj"/>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703" name="Google Shape;703;p56"/>
            <p:cNvPicPr preferRelativeResize="0"/>
            <p:nvPr/>
          </p:nvPicPr>
          <p:blipFill rotWithShape="1">
            <a:blip r:embed="rId3">
              <a:alphaModFix/>
            </a:blip>
            <a:srcRect b="0" l="0" r="0" t="0"/>
            <a:stretch/>
          </p:blipFill>
          <p:spPr>
            <a:xfrm>
              <a:off x="10744920" y="4685760"/>
              <a:ext cx="718200" cy="829800"/>
            </a:xfrm>
            <a:prstGeom prst="rect">
              <a:avLst/>
            </a:prstGeom>
            <a:noFill/>
            <a:ln>
              <a:noFill/>
            </a:ln>
          </p:spPr>
        </p:pic>
      </p:grpSp>
      <p:sp>
        <p:nvSpPr>
          <p:cNvPr id="704" name="Google Shape;704;p56"/>
          <p:cNvSpPr/>
          <p:nvPr/>
        </p:nvSpPr>
        <p:spPr>
          <a:xfrm>
            <a:off x="5779890" y="3218940"/>
            <a:ext cx="2933820" cy="283"/>
          </a:xfrm>
          <a:custGeom>
            <a:rect b="b" l="l" r="r" t="t"/>
            <a:pathLst>
              <a:path extrusionOk="0" h="21600" w="21600">
                <a:moveTo>
                  <a:pt x="0" y="0"/>
                </a:moveTo>
                <a:lnTo>
                  <a:pt x="21600" y="21600"/>
                </a:lnTo>
              </a:path>
            </a:pathLst>
          </a:custGeom>
          <a:noFill/>
          <a:ln cap="flat" cmpd="sng" w="9525">
            <a:solidFill>
              <a:srgbClr val="7F7F7F"/>
            </a:solidFill>
            <a:prstDash val="solid"/>
            <a:round/>
            <a:headEnd len="sm" w="sm" type="none"/>
            <a:tailEnd len="sm" w="sm" type="none"/>
          </a:ln>
        </p:spPr>
      </p:sp>
      <p:sp>
        <p:nvSpPr>
          <p:cNvPr id="705" name="Google Shape;705;p56"/>
          <p:cNvSpPr/>
          <p:nvPr/>
        </p:nvSpPr>
        <p:spPr>
          <a:xfrm flipH="1">
            <a:off x="6615257" y="1088370"/>
            <a:ext cx="8384" cy="1784430"/>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sm" w="sm" type="none"/>
          </a:ln>
        </p:spPr>
      </p:sp>
      <p:sp>
        <p:nvSpPr>
          <p:cNvPr id="706" name="Google Shape;706;p56"/>
          <p:cNvSpPr/>
          <p:nvPr/>
        </p:nvSpPr>
        <p:spPr>
          <a:xfrm>
            <a:off x="7915590" y="1114020"/>
            <a:ext cx="17293" cy="1758794"/>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sm" w="sm" type="none"/>
          </a:ln>
        </p:spPr>
      </p:sp>
      <p:sp>
        <p:nvSpPr>
          <p:cNvPr id="707" name="Google Shape;707;p56"/>
          <p:cNvSpPr/>
          <p:nvPr/>
        </p:nvSpPr>
        <p:spPr>
          <a:xfrm rot="10800000">
            <a:off x="6756480" y="1499594"/>
            <a:ext cx="903150" cy="4576"/>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08" name="Google Shape;708;p56"/>
          <p:cNvSpPr/>
          <p:nvPr/>
        </p:nvSpPr>
        <p:spPr>
          <a:xfrm flipH="1" rot="10800000">
            <a:off x="6743790" y="1251180"/>
            <a:ext cx="908537" cy="2430"/>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09" name="Google Shape;709;p56"/>
          <p:cNvSpPr/>
          <p:nvPr/>
        </p:nvSpPr>
        <p:spPr>
          <a:xfrm rot="10800000">
            <a:off x="6756480" y="2128424"/>
            <a:ext cx="903150" cy="4576"/>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10" name="Google Shape;710;p56"/>
          <p:cNvSpPr/>
          <p:nvPr/>
        </p:nvSpPr>
        <p:spPr>
          <a:xfrm flipH="1" rot="10800000">
            <a:off x="6743790" y="1936980"/>
            <a:ext cx="908537" cy="2430"/>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11" name="Google Shape;711;p56"/>
          <p:cNvSpPr/>
          <p:nvPr/>
        </p:nvSpPr>
        <p:spPr>
          <a:xfrm rot="10800000">
            <a:off x="6756480" y="2699743"/>
            <a:ext cx="903150" cy="4576"/>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12" name="Google Shape;712;p56"/>
          <p:cNvSpPr/>
          <p:nvPr/>
        </p:nvSpPr>
        <p:spPr>
          <a:xfrm flipH="1" rot="10800000">
            <a:off x="6801030" y="2508300"/>
            <a:ext cx="908537" cy="2430"/>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13" name="Google Shape;713;p56"/>
          <p:cNvSpPr/>
          <p:nvPr/>
        </p:nvSpPr>
        <p:spPr>
          <a:xfrm>
            <a:off x="6631740" y="1295190"/>
            <a:ext cx="1268325" cy="225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DNS Reply: NXdomain</a:t>
            </a:r>
            <a:endParaRPr b="0" i="0" sz="800" u="none" cap="none" strike="noStrike">
              <a:solidFill>
                <a:srgbClr val="000000"/>
              </a:solidFill>
              <a:latin typeface="Arial"/>
              <a:ea typeface="Arial"/>
              <a:cs typeface="Arial"/>
              <a:sym typeface="Arial"/>
            </a:endParaRPr>
          </a:p>
        </p:txBody>
      </p:sp>
      <p:sp>
        <p:nvSpPr>
          <p:cNvPr id="714" name="Google Shape;714;p56"/>
          <p:cNvSpPr/>
          <p:nvPr/>
        </p:nvSpPr>
        <p:spPr>
          <a:xfrm>
            <a:off x="6631740" y="1923750"/>
            <a:ext cx="1268325" cy="225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DNS Reply: NXdomain</a:t>
            </a:r>
            <a:endParaRPr b="0" i="0" sz="800" u="none" cap="none" strike="noStrike">
              <a:solidFill>
                <a:srgbClr val="000000"/>
              </a:solidFill>
              <a:latin typeface="Arial"/>
              <a:ea typeface="Arial"/>
              <a:cs typeface="Arial"/>
              <a:sym typeface="Arial"/>
            </a:endParaRPr>
          </a:p>
        </p:txBody>
      </p:sp>
      <p:sp>
        <p:nvSpPr>
          <p:cNvPr id="715" name="Google Shape;715;p56"/>
          <p:cNvSpPr/>
          <p:nvPr/>
        </p:nvSpPr>
        <p:spPr>
          <a:xfrm>
            <a:off x="6625800" y="2495344"/>
            <a:ext cx="1706850" cy="225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DNS Reply: 135.175.17.35</a:t>
            </a:r>
            <a:endParaRPr b="0" i="0" sz="800" u="none" cap="none" strike="noStrike">
              <a:solidFill>
                <a:srgbClr val="000000"/>
              </a:solidFill>
              <a:latin typeface="Arial"/>
              <a:ea typeface="Arial"/>
              <a:cs typeface="Arial"/>
              <a:sym typeface="Arial"/>
            </a:endParaRPr>
          </a:p>
        </p:txBody>
      </p:sp>
      <p:sp>
        <p:nvSpPr>
          <p:cNvPr id="716" name="Google Shape;716;p56"/>
          <p:cNvSpPr/>
          <p:nvPr/>
        </p:nvSpPr>
        <p:spPr>
          <a:xfrm>
            <a:off x="6613110" y="1024380"/>
            <a:ext cx="1268325" cy="225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DNS query: ajdhkbf.info</a:t>
            </a:r>
            <a:endParaRPr b="0" i="0" sz="800" u="none" cap="none" strike="noStrike">
              <a:solidFill>
                <a:srgbClr val="000000"/>
              </a:solidFill>
              <a:latin typeface="Arial"/>
              <a:ea typeface="Arial"/>
              <a:cs typeface="Arial"/>
              <a:sym typeface="Arial"/>
            </a:endParaRPr>
          </a:p>
        </p:txBody>
      </p:sp>
      <p:sp>
        <p:nvSpPr>
          <p:cNvPr id="717" name="Google Shape;717;p56"/>
          <p:cNvSpPr/>
          <p:nvPr/>
        </p:nvSpPr>
        <p:spPr>
          <a:xfrm>
            <a:off x="6594490" y="1702613"/>
            <a:ext cx="1622700" cy="225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DNS query: dnskasd.info</a:t>
            </a:r>
            <a:endParaRPr b="0" i="0" sz="800" u="none" cap="none" strike="noStrike">
              <a:solidFill>
                <a:srgbClr val="000000"/>
              </a:solidFill>
              <a:latin typeface="Arial"/>
              <a:ea typeface="Arial"/>
              <a:cs typeface="Arial"/>
              <a:sym typeface="Arial"/>
            </a:endParaRPr>
          </a:p>
        </p:txBody>
      </p:sp>
      <p:sp>
        <p:nvSpPr>
          <p:cNvPr id="718" name="Google Shape;718;p56"/>
          <p:cNvSpPr/>
          <p:nvPr/>
        </p:nvSpPr>
        <p:spPr>
          <a:xfrm>
            <a:off x="6630938" y="2285813"/>
            <a:ext cx="1470600" cy="225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DNS query: akdjnfag.info</a:t>
            </a:r>
            <a:endParaRPr b="0" i="0" sz="800" u="none" cap="none" strike="noStrike">
              <a:solidFill>
                <a:srgbClr val="000000"/>
              </a:solidFill>
              <a:latin typeface="Arial"/>
              <a:ea typeface="Arial"/>
              <a:cs typeface="Arial"/>
              <a:sym typeface="Arial"/>
            </a:endParaRPr>
          </a:p>
        </p:txBody>
      </p:sp>
      <p:sp>
        <p:nvSpPr>
          <p:cNvPr id="719" name="Google Shape;719;p56"/>
          <p:cNvSpPr/>
          <p:nvPr/>
        </p:nvSpPr>
        <p:spPr>
          <a:xfrm rot="10800000">
            <a:off x="6756480" y="3961454"/>
            <a:ext cx="903150" cy="4576"/>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20" name="Google Shape;720;p56"/>
          <p:cNvSpPr/>
          <p:nvPr/>
        </p:nvSpPr>
        <p:spPr>
          <a:xfrm flipH="1" rot="10800000">
            <a:off x="6801030" y="3598560"/>
            <a:ext cx="908537" cy="2430"/>
          </a:xfrm>
          <a:custGeom>
            <a:rect b="b" l="l" r="r" t="t"/>
            <a:pathLst>
              <a:path extrusionOk="0" h="21600" w="21600">
                <a:moveTo>
                  <a:pt x="0" y="0"/>
                </a:moveTo>
                <a:lnTo>
                  <a:pt x="21600" y="21600"/>
                </a:lnTo>
              </a:path>
            </a:pathLst>
          </a:custGeom>
          <a:noFill/>
          <a:ln cap="flat" cmpd="sng" w="19050">
            <a:solidFill>
              <a:srgbClr val="00A98E"/>
            </a:solidFill>
            <a:prstDash val="solid"/>
            <a:round/>
            <a:headEnd len="sm" w="sm" type="none"/>
            <a:tailEnd len="lg" w="lg" type="triangle"/>
          </a:ln>
        </p:spPr>
      </p:sp>
      <p:sp>
        <p:nvSpPr>
          <p:cNvPr id="721" name="Google Shape;721;p56"/>
          <p:cNvSpPr/>
          <p:nvPr/>
        </p:nvSpPr>
        <p:spPr>
          <a:xfrm>
            <a:off x="6568830" y="3757050"/>
            <a:ext cx="1370025" cy="225675"/>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Malicious Payload</a:t>
            </a:r>
            <a:endParaRPr b="0" i="0" sz="800" u="none" cap="none" strike="noStrike">
              <a:solidFill>
                <a:srgbClr val="000000"/>
              </a:solidFill>
              <a:latin typeface="Arial"/>
              <a:ea typeface="Arial"/>
              <a:cs typeface="Arial"/>
              <a:sym typeface="Arial"/>
            </a:endParaRPr>
          </a:p>
        </p:txBody>
      </p:sp>
      <p:sp>
        <p:nvSpPr>
          <p:cNvPr id="722" name="Google Shape;722;p56"/>
          <p:cNvSpPr/>
          <p:nvPr/>
        </p:nvSpPr>
        <p:spPr>
          <a:xfrm>
            <a:off x="6630930" y="3375900"/>
            <a:ext cx="1268325" cy="225675"/>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323232"/>
              </a:buClr>
              <a:buSzPts val="800"/>
              <a:buFont typeface="Arial"/>
              <a:buNone/>
            </a:pPr>
            <a:r>
              <a:rPr b="0" i="0" lang="fr" sz="800" u="none" cap="none" strike="noStrike">
                <a:solidFill>
                  <a:srgbClr val="323232"/>
                </a:solidFill>
                <a:latin typeface="Arial"/>
                <a:ea typeface="Arial"/>
                <a:cs typeface="Arial"/>
                <a:sym typeface="Arial"/>
              </a:rPr>
              <a:t>Contact 135.175.17.35</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723" name="Google Shape;723;p56"/>
          <p:cNvGrpSpPr/>
          <p:nvPr/>
        </p:nvGrpSpPr>
        <p:grpSpPr>
          <a:xfrm>
            <a:off x="5915430" y="1613520"/>
            <a:ext cx="534825" cy="803520"/>
            <a:chOff x="7887240" y="2151360"/>
            <a:chExt cx="713100" cy="1071360"/>
          </a:xfrm>
        </p:grpSpPr>
        <p:grpSp>
          <p:nvGrpSpPr>
            <p:cNvPr id="724" name="Google Shape;724;p56"/>
            <p:cNvGrpSpPr/>
            <p:nvPr/>
          </p:nvGrpSpPr>
          <p:grpSpPr>
            <a:xfrm>
              <a:off x="7887240" y="2151360"/>
              <a:ext cx="713100" cy="649800"/>
              <a:chOff x="7887240" y="2151360"/>
              <a:chExt cx="713100" cy="649800"/>
            </a:xfrm>
          </p:grpSpPr>
          <p:sp>
            <p:nvSpPr>
              <p:cNvPr id="725" name="Google Shape;725;p56"/>
              <p:cNvSpPr/>
              <p:nvPr/>
            </p:nvSpPr>
            <p:spPr>
              <a:xfrm>
                <a:off x="7887240" y="2151360"/>
                <a:ext cx="713100" cy="649800"/>
              </a:xfrm>
              <a:prstGeom prst="roundRect">
                <a:avLst>
                  <a:gd fmla="val 16667" name="adj"/>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726" name="Google Shape;726;p56"/>
              <p:cNvPicPr preferRelativeResize="0"/>
              <p:nvPr/>
            </p:nvPicPr>
            <p:blipFill rotWithShape="1">
              <a:blip r:embed="rId4">
                <a:alphaModFix/>
              </a:blip>
              <a:srcRect b="0" l="0" r="0" t="0"/>
              <a:stretch/>
            </p:blipFill>
            <p:spPr>
              <a:xfrm>
                <a:off x="7952400" y="2177280"/>
                <a:ext cx="588600" cy="601920"/>
              </a:xfrm>
              <a:prstGeom prst="rect">
                <a:avLst/>
              </a:prstGeom>
              <a:noFill/>
              <a:ln>
                <a:noFill/>
              </a:ln>
            </p:spPr>
          </p:pic>
          <p:pic>
            <p:nvPicPr>
              <p:cNvPr id="727" name="Google Shape;727;p56"/>
              <p:cNvPicPr preferRelativeResize="0"/>
              <p:nvPr/>
            </p:nvPicPr>
            <p:blipFill rotWithShape="1">
              <a:blip r:embed="rId5">
                <a:alphaModFix/>
              </a:blip>
              <a:srcRect b="0" l="0" r="0" t="0"/>
              <a:stretch/>
            </p:blipFill>
            <p:spPr>
              <a:xfrm>
                <a:off x="8104320" y="2241360"/>
                <a:ext cx="270000" cy="263160"/>
              </a:xfrm>
              <a:prstGeom prst="rect">
                <a:avLst/>
              </a:prstGeom>
              <a:noFill/>
              <a:ln>
                <a:noFill/>
              </a:ln>
            </p:spPr>
          </p:pic>
          <p:sp>
            <p:nvSpPr>
              <p:cNvPr id="728" name="Google Shape;728;p56"/>
              <p:cNvSpPr/>
              <p:nvPr/>
            </p:nvSpPr>
            <p:spPr>
              <a:xfrm>
                <a:off x="8339760" y="244908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9" name="Google Shape;729;p56"/>
              <p:cNvSpPr/>
              <p:nvPr/>
            </p:nvSpPr>
            <p:spPr>
              <a:xfrm>
                <a:off x="8340480" y="222984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0" name="Google Shape;730;p56"/>
              <p:cNvSpPr/>
              <p:nvPr/>
            </p:nvSpPr>
            <p:spPr>
              <a:xfrm>
                <a:off x="8081640" y="222984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1" name="Google Shape;731;p56"/>
              <p:cNvSpPr/>
              <p:nvPr/>
            </p:nvSpPr>
            <p:spPr>
              <a:xfrm>
                <a:off x="8085600" y="244836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sp>
          <p:nvSpPr>
            <p:cNvPr id="732" name="Google Shape;732;p56"/>
            <p:cNvSpPr/>
            <p:nvPr/>
          </p:nvSpPr>
          <p:spPr>
            <a:xfrm>
              <a:off x="7896600" y="2821320"/>
              <a:ext cx="658200" cy="4014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323232"/>
                </a:buClr>
                <a:buSzPts val="1200"/>
                <a:buFont typeface="Arial"/>
                <a:buNone/>
              </a:pPr>
              <a:r>
                <a:rPr b="0" i="0" lang="fr" sz="1200" u="none" cap="none" strike="noStrike">
                  <a:solidFill>
                    <a:srgbClr val="323232"/>
                  </a:solidFill>
                  <a:latin typeface="Arial"/>
                  <a:ea typeface="Arial"/>
                  <a:cs typeface="Arial"/>
                  <a:sym typeface="Arial"/>
                </a:rPr>
                <a:t>Bot</a:t>
              </a:r>
              <a:endParaRPr b="0" i="0" sz="1200" u="none" cap="none" strike="noStrike">
                <a:solidFill>
                  <a:srgbClr val="000000"/>
                </a:solidFill>
                <a:latin typeface="Arial"/>
                <a:ea typeface="Arial"/>
                <a:cs typeface="Arial"/>
                <a:sym typeface="Arial"/>
              </a:endParaRPr>
            </a:p>
          </p:txBody>
        </p:sp>
      </p:grpSp>
      <p:grpSp>
        <p:nvGrpSpPr>
          <p:cNvPr id="733" name="Google Shape;733;p56"/>
          <p:cNvGrpSpPr/>
          <p:nvPr/>
        </p:nvGrpSpPr>
        <p:grpSpPr>
          <a:xfrm>
            <a:off x="5913540" y="3577230"/>
            <a:ext cx="534825" cy="487350"/>
            <a:chOff x="7884720" y="4769640"/>
            <a:chExt cx="713100" cy="649800"/>
          </a:xfrm>
        </p:grpSpPr>
        <p:sp>
          <p:nvSpPr>
            <p:cNvPr id="734" name="Google Shape;734;p56"/>
            <p:cNvSpPr/>
            <p:nvPr/>
          </p:nvSpPr>
          <p:spPr>
            <a:xfrm>
              <a:off x="7884720" y="4769640"/>
              <a:ext cx="713100" cy="649800"/>
            </a:xfrm>
            <a:prstGeom prst="roundRect">
              <a:avLst>
                <a:gd fmla="val 16667" name="adj"/>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735" name="Google Shape;735;p56"/>
            <p:cNvPicPr preferRelativeResize="0"/>
            <p:nvPr/>
          </p:nvPicPr>
          <p:blipFill rotWithShape="1">
            <a:blip r:embed="rId4">
              <a:alphaModFix/>
            </a:blip>
            <a:srcRect b="0" l="0" r="0" t="0"/>
            <a:stretch/>
          </p:blipFill>
          <p:spPr>
            <a:xfrm>
              <a:off x="7949880" y="4795200"/>
              <a:ext cx="588600" cy="601920"/>
            </a:xfrm>
            <a:prstGeom prst="rect">
              <a:avLst/>
            </a:prstGeom>
            <a:noFill/>
            <a:ln>
              <a:noFill/>
            </a:ln>
          </p:spPr>
        </p:pic>
        <p:pic>
          <p:nvPicPr>
            <p:cNvPr id="736" name="Google Shape;736;p56"/>
            <p:cNvPicPr preferRelativeResize="0"/>
            <p:nvPr/>
          </p:nvPicPr>
          <p:blipFill rotWithShape="1">
            <a:blip r:embed="rId5">
              <a:alphaModFix/>
            </a:blip>
            <a:srcRect b="0" l="0" r="0" t="0"/>
            <a:stretch/>
          </p:blipFill>
          <p:spPr>
            <a:xfrm>
              <a:off x="8101440" y="4859640"/>
              <a:ext cx="270000" cy="263160"/>
            </a:xfrm>
            <a:prstGeom prst="rect">
              <a:avLst/>
            </a:prstGeom>
            <a:noFill/>
            <a:ln>
              <a:noFill/>
            </a:ln>
          </p:spPr>
        </p:pic>
        <p:sp>
          <p:nvSpPr>
            <p:cNvPr id="737" name="Google Shape;737;p56"/>
            <p:cNvSpPr/>
            <p:nvPr/>
          </p:nvSpPr>
          <p:spPr>
            <a:xfrm>
              <a:off x="8336880" y="506736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8" name="Google Shape;738;p56"/>
            <p:cNvSpPr/>
            <p:nvPr/>
          </p:nvSpPr>
          <p:spPr>
            <a:xfrm>
              <a:off x="8337600" y="484776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9" name="Google Shape;739;p56"/>
            <p:cNvSpPr/>
            <p:nvPr/>
          </p:nvSpPr>
          <p:spPr>
            <a:xfrm>
              <a:off x="8079120" y="484776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0" name="Google Shape;740;p56"/>
            <p:cNvSpPr/>
            <p:nvPr/>
          </p:nvSpPr>
          <p:spPr>
            <a:xfrm>
              <a:off x="8083080" y="5066640"/>
              <a:ext cx="63300" cy="558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sp>
        <p:nvSpPr>
          <p:cNvPr id="741" name="Google Shape;741;p56"/>
          <p:cNvSpPr/>
          <p:nvPr/>
        </p:nvSpPr>
        <p:spPr>
          <a:xfrm>
            <a:off x="5920290" y="4079430"/>
            <a:ext cx="493425" cy="301275"/>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323232"/>
              </a:buClr>
              <a:buSzPts val="1200"/>
              <a:buFont typeface="Arial"/>
              <a:buNone/>
            </a:pPr>
            <a:r>
              <a:rPr b="0" i="0" lang="fr" sz="1200" u="none" cap="none" strike="noStrike">
                <a:solidFill>
                  <a:srgbClr val="323232"/>
                </a:solidFill>
                <a:latin typeface="Arial"/>
                <a:ea typeface="Arial"/>
                <a:cs typeface="Arial"/>
                <a:sym typeface="Arial"/>
              </a:rPr>
              <a:t>Bot</a:t>
            </a:r>
            <a:endParaRPr b="0" i="0" sz="1200" u="none" cap="none" strike="noStrike">
              <a:solidFill>
                <a:srgbClr val="000000"/>
              </a:solidFill>
              <a:latin typeface="Arial"/>
              <a:ea typeface="Arial"/>
              <a:cs typeface="Arial"/>
              <a:sym typeface="Arial"/>
            </a:endParaRPr>
          </a:p>
        </p:txBody>
      </p:sp>
      <p:pic>
        <p:nvPicPr>
          <p:cNvPr id="742" name="Google Shape;742;p56"/>
          <p:cNvPicPr preferRelativeResize="0"/>
          <p:nvPr/>
        </p:nvPicPr>
        <p:blipFill rotWithShape="1">
          <a:blip r:embed="rId6">
            <a:alphaModFix/>
          </a:blip>
          <a:srcRect b="0" l="0" r="0" t="0"/>
          <a:stretch/>
        </p:blipFill>
        <p:spPr>
          <a:xfrm>
            <a:off x="8138070" y="1443150"/>
            <a:ext cx="379889" cy="672571"/>
          </a:xfrm>
          <a:prstGeom prst="rect">
            <a:avLst/>
          </a:prstGeom>
          <a:noFill/>
          <a:ln>
            <a:noFill/>
          </a:ln>
        </p:spPr>
      </p:pic>
      <p:sp>
        <p:nvSpPr>
          <p:cNvPr id="743" name="Google Shape;743;p56"/>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2400">
                <a:solidFill>
                  <a:srgbClr val="434343"/>
                </a:solidFill>
                <a:latin typeface="Helvetica Neue"/>
                <a:ea typeface="Helvetica Neue"/>
                <a:cs typeface="Helvetica Neue"/>
                <a:sym typeface="Helvetica Neue"/>
              </a:rPr>
              <a:t>DGA – Domain Generation Algorithm</a:t>
            </a:r>
            <a:endParaRPr sz="24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24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4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57"/>
          <p:cNvSpPr txBox="1"/>
          <p:nvPr>
            <p:ph idx="4294967295" type="body"/>
          </p:nvPr>
        </p:nvSpPr>
        <p:spPr>
          <a:xfrm>
            <a:off x="330210" y="731970"/>
            <a:ext cx="8375625" cy="3897000"/>
          </a:xfrm>
          <a:prstGeom prst="rect">
            <a:avLst/>
          </a:prstGeom>
          <a:noFill/>
          <a:ln>
            <a:noFill/>
          </a:ln>
        </p:spPr>
        <p:txBody>
          <a:bodyPr anchorCtr="0" anchor="t" bIns="91525" lIns="91525" spcFirstLastPara="1" rIns="91525" wrap="square" tIns="91525">
            <a:noAutofit/>
          </a:bodyPr>
          <a:lstStyle/>
          <a:p>
            <a:pPr indent="-406400" lvl="0" marL="406400" marR="0" rtl="0" algn="l">
              <a:lnSpc>
                <a:spcPct val="100000"/>
              </a:lnSpc>
              <a:spcBef>
                <a:spcPts val="0"/>
              </a:spcBef>
              <a:spcAft>
                <a:spcPts val="0"/>
              </a:spcAft>
              <a:buClr>
                <a:srgbClr val="323232"/>
              </a:buClr>
              <a:buSzPts val="1800"/>
              <a:buFont typeface="Arial"/>
              <a:buChar char="•"/>
            </a:pPr>
            <a:r>
              <a:rPr b="0" i="0" lang="fr" sz="1800" u="none" cap="none" strike="noStrike">
                <a:solidFill>
                  <a:srgbClr val="323232"/>
                </a:solidFill>
                <a:latin typeface="Arial"/>
                <a:ea typeface="Arial"/>
                <a:cs typeface="Arial"/>
                <a:sym typeface="Arial"/>
              </a:rPr>
              <a:t>Detects from Newly Observed Domains (NOD), domain names that try to mimic popular domains (Alexa top-100) or strategic domains for phishing (e.g. banks) and spamming.</a:t>
            </a:r>
            <a:endParaRPr sz="1800">
              <a:solidFill>
                <a:srgbClr val="323232"/>
              </a:solidFill>
            </a:endParaRPr>
          </a:p>
          <a:p>
            <a:pPr indent="-406400" lvl="0" marL="406400" marR="0" rtl="0" algn="l">
              <a:lnSpc>
                <a:spcPct val="100000"/>
              </a:lnSpc>
              <a:spcBef>
                <a:spcPts val="400"/>
              </a:spcBef>
              <a:spcAft>
                <a:spcPts val="0"/>
              </a:spcAft>
              <a:buClr>
                <a:srgbClr val="323232"/>
              </a:buClr>
              <a:buSzPts val="1800"/>
              <a:buFont typeface="Arial"/>
              <a:buChar char="•"/>
            </a:pPr>
            <a:r>
              <a:rPr b="0" i="0" lang="fr" sz="1800" u="none" cap="none" strike="noStrike">
                <a:solidFill>
                  <a:srgbClr val="323232"/>
                </a:solidFill>
                <a:latin typeface="Arial"/>
                <a:ea typeface="Arial"/>
                <a:cs typeface="Arial"/>
                <a:sym typeface="Arial"/>
              </a:rPr>
              <a:t>Detects domains that overlaps and/or have homograph n-grams, </a:t>
            </a:r>
            <a:br>
              <a:rPr b="0" i="0" lang="fr" sz="1800" u="none" cap="none" strike="noStrike"/>
            </a:br>
            <a:r>
              <a:rPr b="0" i="0" lang="fr" sz="1800" u="none" cap="none" strike="noStrike">
                <a:solidFill>
                  <a:srgbClr val="323232"/>
                </a:solidFill>
                <a:latin typeface="Arial"/>
                <a:ea typeface="Arial"/>
                <a:cs typeface="Arial"/>
                <a:sym typeface="Arial"/>
              </a:rPr>
              <a:t>e.g. letter ‘O’ and number ‘0’ are considered homographs.</a:t>
            </a:r>
            <a:br>
              <a:rPr b="0" i="0" lang="fr" sz="1800" u="none" cap="none" strike="noStrike"/>
            </a:br>
            <a:r>
              <a:rPr b="0" i="0" lang="fr" sz="1800" u="none" cap="none" strike="noStrike">
                <a:solidFill>
                  <a:srgbClr val="323232"/>
                </a:solidFill>
                <a:latin typeface="Arial"/>
                <a:ea typeface="Arial"/>
                <a:cs typeface="Arial"/>
                <a:sym typeface="Arial"/>
              </a:rPr>
              <a:t>Use distance analysis to detect the likelihood of lookalike attacks</a:t>
            </a:r>
            <a:endParaRPr b="0" i="0" sz="1800" u="none" cap="none" strike="noStrike">
              <a:solidFill>
                <a:srgbClr val="323232"/>
              </a:solidFill>
              <a:latin typeface="Arial"/>
              <a:ea typeface="Arial"/>
              <a:cs typeface="Arial"/>
              <a:sym typeface="Arial"/>
            </a:endParaRPr>
          </a:p>
          <a:p>
            <a:pPr indent="-406400" lvl="0" marL="406400" marR="0" rtl="0" algn="l">
              <a:lnSpc>
                <a:spcPct val="100000"/>
              </a:lnSpc>
              <a:spcBef>
                <a:spcPts val="400"/>
              </a:spcBef>
              <a:spcAft>
                <a:spcPts val="0"/>
              </a:spcAft>
              <a:buClr>
                <a:srgbClr val="323232"/>
              </a:buClr>
              <a:buSzPts val="1800"/>
              <a:buFont typeface="Arial"/>
              <a:buChar char="•"/>
            </a:pPr>
            <a:r>
              <a:rPr b="0" i="0" lang="fr" sz="1800" u="none" cap="none" strike="noStrike">
                <a:solidFill>
                  <a:srgbClr val="323232"/>
                </a:solidFill>
                <a:latin typeface="Arial"/>
                <a:ea typeface="Arial"/>
                <a:cs typeface="Arial"/>
                <a:sym typeface="Arial"/>
              </a:rPr>
              <a:t>Detects </a:t>
            </a:r>
            <a:endParaRPr b="0" i="0" sz="1800" u="none" cap="none" strike="noStrike">
              <a:solidFill>
                <a:srgbClr val="323232"/>
              </a:solidFill>
              <a:latin typeface="Arial"/>
              <a:ea typeface="Arial"/>
              <a:cs typeface="Arial"/>
              <a:sym typeface="Arial"/>
            </a:endParaRPr>
          </a:p>
          <a:p>
            <a:pPr indent="-349250" lvl="1" marL="571500" marR="0" rtl="0" algn="l">
              <a:lnSpc>
                <a:spcPct val="100000"/>
              </a:lnSpc>
              <a:spcBef>
                <a:spcPts val="3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Letter replacement, example </a:t>
            </a:r>
            <a:r>
              <a:rPr b="0" i="0" lang="fr" sz="1500" u="none" cap="none" strike="noStrike">
                <a:solidFill>
                  <a:srgbClr val="1C6BCA"/>
                </a:solidFill>
                <a:latin typeface="Arial"/>
                <a:ea typeface="Arial"/>
                <a:cs typeface="Arial"/>
                <a:sym typeface="Arial"/>
              </a:rPr>
              <a:t>g</a:t>
            </a:r>
            <a:r>
              <a:rPr b="0" i="0" lang="fr" sz="1500" u="none" cap="none" strike="noStrike">
                <a:solidFill>
                  <a:srgbClr val="C00000"/>
                </a:solidFill>
                <a:latin typeface="Arial"/>
                <a:ea typeface="Arial"/>
                <a:cs typeface="Arial"/>
                <a:sym typeface="Arial"/>
              </a:rPr>
              <a:t>00</a:t>
            </a:r>
            <a:r>
              <a:rPr b="0" i="0" lang="fr" sz="1500" u="none" cap="none" strike="noStrike">
                <a:solidFill>
                  <a:srgbClr val="1C6BCA"/>
                </a:solidFill>
                <a:latin typeface="Arial"/>
                <a:ea typeface="Arial"/>
                <a:cs typeface="Arial"/>
                <a:sym typeface="Arial"/>
              </a:rPr>
              <a:t>gle.com, g</a:t>
            </a:r>
            <a:r>
              <a:rPr b="0" i="0" lang="fr" sz="1500" u="none" cap="none" strike="noStrike">
                <a:solidFill>
                  <a:srgbClr val="C00000"/>
                </a:solidFill>
                <a:latin typeface="Arial"/>
                <a:ea typeface="Arial"/>
                <a:cs typeface="Arial"/>
                <a:sym typeface="Arial"/>
              </a:rPr>
              <a:t>ooo</a:t>
            </a:r>
            <a:r>
              <a:rPr b="0" i="0" lang="fr" sz="1500" u="none" cap="none" strike="noStrike">
                <a:solidFill>
                  <a:srgbClr val="1C6BCA"/>
                </a:solidFill>
                <a:latin typeface="Arial"/>
                <a:ea typeface="Arial"/>
                <a:cs typeface="Arial"/>
                <a:sym typeface="Arial"/>
              </a:rPr>
              <a:t>gle.com,</a:t>
            </a:r>
            <a:r>
              <a:rPr b="0" i="0" lang="fr" sz="1500" u="none" cap="none" strike="noStrike">
                <a:solidFill>
                  <a:srgbClr val="323232"/>
                </a:solidFill>
                <a:latin typeface="Arial"/>
                <a:ea typeface="Arial"/>
                <a:cs typeface="Arial"/>
                <a:sym typeface="Arial"/>
              </a:rPr>
              <a:t> </a:t>
            </a:r>
            <a:r>
              <a:rPr b="0" i="0" lang="fr" sz="1500" u="none" cap="none" strike="noStrike">
                <a:solidFill>
                  <a:srgbClr val="1C6BCA"/>
                </a:solidFill>
                <a:latin typeface="Arial"/>
                <a:ea typeface="Arial"/>
                <a:cs typeface="Arial"/>
                <a:sym typeface="Arial"/>
              </a:rPr>
              <a:t>bankofthe</a:t>
            </a:r>
            <a:r>
              <a:rPr b="0" i="0" lang="fr" sz="1500" u="none" cap="none" strike="noStrike">
                <a:solidFill>
                  <a:srgbClr val="C00000"/>
                </a:solidFill>
                <a:latin typeface="Arial"/>
                <a:ea typeface="Arial"/>
                <a:cs typeface="Arial"/>
                <a:sym typeface="Arial"/>
              </a:rPr>
              <a:t>vv</a:t>
            </a:r>
            <a:r>
              <a:rPr b="0" i="0" lang="fr" sz="1500" u="none" cap="none" strike="noStrike">
                <a:solidFill>
                  <a:srgbClr val="1C6BCA"/>
                </a:solidFill>
                <a:latin typeface="Arial"/>
                <a:ea typeface="Arial"/>
                <a:cs typeface="Arial"/>
                <a:sym typeface="Arial"/>
              </a:rPr>
              <a:t>est.com, </a:t>
            </a:r>
            <a:r>
              <a:rPr b="0" i="0" lang="fr" sz="1500" u="none" cap="none" strike="noStrike">
                <a:solidFill>
                  <a:srgbClr val="C00000"/>
                </a:solidFill>
                <a:latin typeface="Arial"/>
                <a:ea typeface="Arial"/>
                <a:cs typeface="Arial"/>
                <a:sym typeface="Arial"/>
              </a:rPr>
              <a:t>rn1</a:t>
            </a:r>
            <a:r>
              <a:rPr b="0" i="0" lang="fr" sz="1500" u="none" cap="none" strike="noStrike">
                <a:solidFill>
                  <a:srgbClr val="1C6BCA"/>
                </a:solidFill>
                <a:latin typeface="Arial"/>
                <a:ea typeface="Arial"/>
                <a:cs typeface="Arial"/>
                <a:sym typeface="Arial"/>
              </a:rPr>
              <a:t>cr</a:t>
            </a:r>
            <a:r>
              <a:rPr b="0" i="0" lang="fr" sz="1500" u="none" cap="none" strike="noStrike">
                <a:solidFill>
                  <a:srgbClr val="C00000"/>
                </a:solidFill>
                <a:latin typeface="Arial"/>
                <a:ea typeface="Arial"/>
                <a:cs typeface="Arial"/>
                <a:sym typeface="Arial"/>
              </a:rPr>
              <a:t>0</a:t>
            </a:r>
            <a:r>
              <a:rPr b="0" i="0" lang="fr" sz="1500" u="none" cap="none" strike="noStrike">
                <a:solidFill>
                  <a:srgbClr val="1C6BCA"/>
                </a:solidFill>
                <a:latin typeface="Arial"/>
                <a:ea typeface="Arial"/>
                <a:cs typeface="Arial"/>
                <a:sym typeface="Arial"/>
              </a:rPr>
              <a:t>soft.com</a:t>
            </a:r>
            <a:endParaRPr b="0" i="0" sz="1500" u="none" cap="none" strike="noStrike">
              <a:solidFill>
                <a:srgbClr val="323232"/>
              </a:solidFill>
              <a:latin typeface="Arial"/>
              <a:ea typeface="Arial"/>
              <a:cs typeface="Arial"/>
              <a:sym typeface="Arial"/>
            </a:endParaRPr>
          </a:p>
          <a:p>
            <a:pPr indent="0" lvl="0" marL="266700" marR="0" rtl="0" algn="l">
              <a:lnSpc>
                <a:spcPct val="100000"/>
              </a:lnSpc>
              <a:spcBef>
                <a:spcPts val="300"/>
              </a:spcBef>
              <a:spcAft>
                <a:spcPts val="0"/>
              </a:spcAft>
              <a:buSzPts val="1100"/>
              <a:buNone/>
            </a:pPr>
            <a:r>
              <a:t/>
            </a:r>
            <a:endParaRPr sz="1500">
              <a:solidFill>
                <a:srgbClr val="323232"/>
              </a:solidFill>
            </a:endParaRPr>
          </a:p>
          <a:p>
            <a:pPr indent="-349250" lvl="1" marL="571500" marR="0" rtl="0" algn="l">
              <a:lnSpc>
                <a:spcPct val="100000"/>
              </a:lnSpc>
              <a:spcBef>
                <a:spcPts val="3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TLD change, example, </a:t>
            </a:r>
            <a:r>
              <a:rPr b="0" i="0" lang="fr" sz="1500" u="none" cap="none" strike="noStrike">
                <a:solidFill>
                  <a:srgbClr val="1C6BCA"/>
                </a:solidFill>
                <a:latin typeface="Arial"/>
                <a:ea typeface="Arial"/>
                <a:cs typeface="Arial"/>
                <a:sym typeface="Arial"/>
              </a:rPr>
              <a:t>walmart.cc</a:t>
            </a:r>
            <a:endParaRPr b="0" i="0" sz="1500" u="none" cap="none" strike="noStrike">
              <a:solidFill>
                <a:srgbClr val="323232"/>
              </a:solidFill>
              <a:latin typeface="Arial"/>
              <a:ea typeface="Arial"/>
              <a:cs typeface="Arial"/>
              <a:sym typeface="Arial"/>
            </a:endParaRPr>
          </a:p>
          <a:p>
            <a:pPr indent="-349250" lvl="1" marL="571500" marR="0" rtl="0" algn="l">
              <a:lnSpc>
                <a:spcPct val="100000"/>
              </a:lnSpc>
              <a:spcBef>
                <a:spcPts val="300"/>
              </a:spcBef>
              <a:spcAft>
                <a:spcPts val="0"/>
              </a:spcAft>
              <a:buClr>
                <a:srgbClr val="323232"/>
              </a:buClr>
              <a:buSzPts val="1500"/>
              <a:buFont typeface="Arial"/>
              <a:buChar char="̶"/>
            </a:pPr>
            <a:r>
              <a:rPr b="0" i="0" lang="fr" sz="1500" u="none" cap="none" strike="noStrike">
                <a:solidFill>
                  <a:srgbClr val="323232"/>
                </a:solidFill>
                <a:latin typeface="Arial"/>
                <a:ea typeface="Arial"/>
                <a:cs typeface="Arial"/>
                <a:sym typeface="Arial"/>
              </a:rPr>
              <a:t>other generic highly resembled domains, example: </a:t>
            </a:r>
            <a:r>
              <a:rPr b="0" i="0" lang="fr" sz="1500" u="none" cap="none" strike="noStrike">
                <a:solidFill>
                  <a:srgbClr val="1C6BCA"/>
                </a:solidFill>
                <a:latin typeface="Arial"/>
                <a:ea typeface="Arial"/>
                <a:cs typeface="Arial"/>
                <a:sym typeface="Arial"/>
              </a:rPr>
              <a:t>bankofAmericas.com</a:t>
            </a:r>
            <a:endParaRPr b="0" i="0" sz="1500" u="none" cap="none" strike="noStrike">
              <a:solidFill>
                <a:srgbClr val="323232"/>
              </a:solidFill>
              <a:latin typeface="Arial"/>
              <a:ea typeface="Arial"/>
              <a:cs typeface="Arial"/>
              <a:sym typeface="Arial"/>
            </a:endParaRPr>
          </a:p>
          <a:p>
            <a:pPr indent="-406400" lvl="0" marL="406400" marR="0" rtl="0" algn="l">
              <a:lnSpc>
                <a:spcPct val="100000"/>
              </a:lnSpc>
              <a:spcBef>
                <a:spcPts val="400"/>
              </a:spcBef>
              <a:spcAft>
                <a:spcPts val="0"/>
              </a:spcAft>
              <a:buClr>
                <a:srgbClr val="323232"/>
              </a:buClr>
              <a:buSzPts val="1800"/>
              <a:buFont typeface="Arial"/>
              <a:buChar char="•"/>
            </a:pPr>
            <a:r>
              <a:rPr b="0" i="0" lang="fr" sz="1800" u="none" cap="none" strike="noStrike">
                <a:solidFill>
                  <a:srgbClr val="323232"/>
                </a:solidFill>
                <a:latin typeface="Arial"/>
                <a:ea typeface="Arial"/>
                <a:cs typeface="Arial"/>
                <a:sym typeface="Arial"/>
              </a:rPr>
              <a:t>SOA record is analyzed and used for catching false positives. </a:t>
            </a:r>
            <a:endParaRPr b="0" i="0" sz="1800" u="none" cap="none" strike="noStrike">
              <a:solidFill>
                <a:srgbClr val="323232"/>
              </a:solidFill>
              <a:latin typeface="Arial"/>
              <a:ea typeface="Arial"/>
              <a:cs typeface="Arial"/>
              <a:sym typeface="Arial"/>
            </a:endParaRPr>
          </a:p>
        </p:txBody>
      </p:sp>
      <p:sp>
        <p:nvSpPr>
          <p:cNvPr id="749" name="Google Shape;749;p57"/>
          <p:cNvSpPr/>
          <p:nvPr/>
        </p:nvSpPr>
        <p:spPr>
          <a:xfrm>
            <a:off x="9339030" y="3860190"/>
            <a:ext cx="225" cy="225"/>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50" name="Google Shape;750;p57"/>
          <p:cNvSpPr/>
          <p:nvPr/>
        </p:nvSpPr>
        <p:spPr>
          <a:xfrm>
            <a:off x="4387166" y="3347727"/>
            <a:ext cx="4916250" cy="342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323232"/>
              </a:buClr>
              <a:buSzPts val="1800"/>
              <a:buFont typeface="Cutive"/>
              <a:buNone/>
            </a:pPr>
            <a:r>
              <a:rPr b="0" i="0" lang="fr" sz="1500" u="none" cap="none" strike="noStrike">
                <a:solidFill>
                  <a:srgbClr val="323232"/>
                </a:solidFill>
                <a:latin typeface="Cutive"/>
                <a:ea typeface="Cutive"/>
                <a:cs typeface="Cutive"/>
                <a:sym typeface="Cutive"/>
              </a:rPr>
              <a:t>app</a:t>
            </a:r>
            <a:r>
              <a:rPr b="0" i="0" lang="fr" sz="1500" u="none" cap="none" strike="noStrike">
                <a:solidFill>
                  <a:srgbClr val="C00000"/>
                </a:solidFill>
                <a:latin typeface="Cutive"/>
                <a:ea typeface="Cutive"/>
                <a:cs typeface="Cutive"/>
                <a:sym typeface="Cutive"/>
              </a:rPr>
              <a:t>l</a:t>
            </a:r>
            <a:r>
              <a:rPr b="0" i="0" lang="fr" sz="1500" u="none" cap="none" strike="noStrike">
                <a:solidFill>
                  <a:srgbClr val="323232"/>
                </a:solidFill>
                <a:latin typeface="Cutive"/>
                <a:ea typeface="Cutive"/>
                <a:cs typeface="Cutive"/>
                <a:sym typeface="Cutive"/>
              </a:rPr>
              <a:t>e.com  &gt;&gt;&gt;  app</a:t>
            </a:r>
            <a:r>
              <a:rPr b="0" i="0" lang="fr" sz="1500" u="none" cap="none" strike="noStrike">
                <a:solidFill>
                  <a:srgbClr val="C00000"/>
                </a:solidFill>
                <a:latin typeface="Cutive"/>
                <a:ea typeface="Cutive"/>
                <a:cs typeface="Cutive"/>
                <a:sym typeface="Cutive"/>
              </a:rPr>
              <a:t>I</a:t>
            </a:r>
            <a:r>
              <a:rPr b="0" i="0" lang="fr" sz="1500" u="none" cap="none" strike="noStrike">
                <a:solidFill>
                  <a:srgbClr val="323232"/>
                </a:solidFill>
                <a:latin typeface="Cutive"/>
                <a:ea typeface="Cutive"/>
                <a:cs typeface="Cutive"/>
                <a:sym typeface="Cutive"/>
              </a:rPr>
              <a:t>e.com (Cutive)</a:t>
            </a:r>
            <a:endParaRPr b="0" i="0" sz="1500" u="none" cap="none" strike="noStrike">
              <a:solidFill>
                <a:srgbClr val="000000"/>
              </a:solidFill>
              <a:latin typeface="Cutive"/>
              <a:ea typeface="Cutive"/>
              <a:cs typeface="Cutive"/>
              <a:sym typeface="Cutive"/>
            </a:endParaRPr>
          </a:p>
        </p:txBody>
      </p:sp>
      <p:sp>
        <p:nvSpPr>
          <p:cNvPr id="751" name="Google Shape;751;p57"/>
          <p:cNvSpPr txBox="1"/>
          <p:nvPr/>
        </p:nvSpPr>
        <p:spPr>
          <a:xfrm>
            <a:off x="1001419" y="3294619"/>
            <a:ext cx="3998700" cy="369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b="0" i="0" lang="fr" sz="1500" u="none" cap="none" strike="noStrike">
                <a:solidFill>
                  <a:srgbClr val="323232"/>
                </a:solidFill>
                <a:latin typeface="Arial"/>
                <a:ea typeface="Arial"/>
                <a:cs typeface="Arial"/>
                <a:sym typeface="Arial"/>
              </a:rPr>
              <a:t>app</a:t>
            </a:r>
            <a:r>
              <a:rPr b="0" i="0" lang="fr" sz="1500" u="none" cap="none" strike="noStrike">
                <a:solidFill>
                  <a:srgbClr val="C00000"/>
                </a:solidFill>
                <a:latin typeface="Arial"/>
                <a:ea typeface="Arial"/>
                <a:cs typeface="Arial"/>
                <a:sym typeface="Arial"/>
              </a:rPr>
              <a:t>l</a:t>
            </a:r>
            <a:r>
              <a:rPr b="0" i="0" lang="fr" sz="1500" u="none" cap="none" strike="noStrike">
                <a:solidFill>
                  <a:srgbClr val="323232"/>
                </a:solidFill>
                <a:latin typeface="Arial"/>
                <a:ea typeface="Arial"/>
                <a:cs typeface="Arial"/>
                <a:sym typeface="Arial"/>
              </a:rPr>
              <a:t>e.com  &gt;&gt;&gt;  </a:t>
            </a:r>
            <a:r>
              <a:rPr b="0" i="0" lang="fr" sz="1500" u="none" cap="none" strike="noStrike">
                <a:solidFill>
                  <a:srgbClr val="323232"/>
                </a:solidFill>
                <a:latin typeface="Arial"/>
                <a:ea typeface="Arial"/>
                <a:cs typeface="Arial"/>
                <a:sym typeface="Arial"/>
              </a:rPr>
              <a:t>app</a:t>
            </a:r>
            <a:r>
              <a:rPr b="0" i="0" lang="fr" sz="1500" u="none" cap="none" strike="noStrike">
                <a:solidFill>
                  <a:srgbClr val="C00000"/>
                </a:solidFill>
                <a:latin typeface="Arial"/>
                <a:ea typeface="Arial"/>
                <a:cs typeface="Arial"/>
                <a:sym typeface="Arial"/>
              </a:rPr>
              <a:t>I</a:t>
            </a:r>
            <a:r>
              <a:rPr b="0" i="0" lang="fr" sz="1500" u="none" cap="none" strike="noStrike">
                <a:solidFill>
                  <a:srgbClr val="323232"/>
                </a:solidFill>
                <a:latin typeface="Arial"/>
                <a:ea typeface="Arial"/>
                <a:cs typeface="Arial"/>
                <a:sym typeface="Arial"/>
              </a:rPr>
              <a:t>e.com</a:t>
            </a:r>
            <a:r>
              <a:rPr b="0" i="0" lang="fr" sz="1500" u="none" cap="none" strike="noStrike">
                <a:solidFill>
                  <a:srgbClr val="323232"/>
                </a:solidFill>
                <a:latin typeface="Arial"/>
                <a:ea typeface="Arial"/>
                <a:cs typeface="Arial"/>
                <a:sym typeface="Arial"/>
              </a:rPr>
              <a:t> (Arial)</a:t>
            </a:r>
            <a:endParaRPr b="0" i="0" sz="1500" u="none" cap="none" strike="noStrike">
              <a:solidFill>
                <a:schemeClr val="dk1"/>
              </a:solidFill>
              <a:latin typeface="Arial"/>
              <a:ea typeface="Arial"/>
              <a:cs typeface="Arial"/>
              <a:sym typeface="Arial"/>
            </a:endParaRPr>
          </a:p>
        </p:txBody>
      </p:sp>
      <p:sp>
        <p:nvSpPr>
          <p:cNvPr id="752" name="Google Shape;752;p57"/>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400">
                <a:solidFill>
                  <a:srgbClr val="434343"/>
                </a:solidFill>
                <a:latin typeface="Helvetica Neue"/>
                <a:ea typeface="Helvetica Neue"/>
                <a:cs typeface="Helvetica Neue"/>
                <a:sym typeface="Helvetica Neue"/>
              </a:rPr>
              <a:t>Lookalike Domain Detection</a:t>
            </a:r>
            <a:endParaRPr sz="24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58"/>
          <p:cNvSpPr txBox="1"/>
          <p:nvPr>
            <p:ph idx="4294967295" type="body"/>
          </p:nvPr>
        </p:nvSpPr>
        <p:spPr>
          <a:xfrm>
            <a:off x="330210" y="1200660"/>
            <a:ext cx="8375700" cy="3897000"/>
          </a:xfrm>
          <a:prstGeom prst="rect">
            <a:avLst/>
          </a:prstGeom>
          <a:noFill/>
          <a:ln>
            <a:noFill/>
          </a:ln>
        </p:spPr>
        <p:txBody>
          <a:bodyPr anchorCtr="0" anchor="t" bIns="0" lIns="0" spcFirstLastPara="1" rIns="0" wrap="square" tIns="0">
            <a:noAutofit/>
          </a:bodyPr>
          <a:lstStyle/>
          <a:p>
            <a:pPr indent="-254000" lvl="0" marL="342900" marR="0" rtl="0" algn="l">
              <a:lnSpc>
                <a:spcPct val="200000"/>
              </a:lnSpc>
              <a:spcBef>
                <a:spcPts val="0"/>
              </a:spcBef>
              <a:spcAft>
                <a:spcPts val="0"/>
              </a:spcAft>
              <a:buClr>
                <a:srgbClr val="323232"/>
              </a:buClr>
              <a:buSzPts val="1400"/>
              <a:buChar char="•"/>
            </a:pPr>
            <a:r>
              <a:rPr i="0" lang="fr" sz="1400" u="none" cap="none" strike="noStrike">
                <a:solidFill>
                  <a:srgbClr val="323232"/>
                </a:solidFill>
              </a:rPr>
              <a:t>g63uar2ejiq5tlrkg3zezf2fkemc6pi88tz.er.spotify.com</a:t>
            </a:r>
            <a:endParaRPr i="0" sz="1400" u="none" cap="none" strike="noStrike">
              <a:solidFill>
                <a:srgbClr val="323232"/>
              </a:solidFill>
            </a:endParaRPr>
          </a:p>
          <a:p>
            <a:pPr indent="-254000" lvl="0" marL="342900" marR="0" rtl="0" algn="l">
              <a:lnSpc>
                <a:spcPct val="200000"/>
              </a:lnSpc>
              <a:spcBef>
                <a:spcPts val="0"/>
              </a:spcBef>
              <a:spcAft>
                <a:spcPts val="0"/>
              </a:spcAft>
              <a:buClr>
                <a:srgbClr val="323232"/>
              </a:buClr>
              <a:buSzPts val="1400"/>
              <a:buChar char="•"/>
            </a:pPr>
            <a:r>
              <a:rPr i="1" lang="fr" sz="1400" u="none" cap="none" strike="noStrike">
                <a:solidFill>
                  <a:srgbClr val="323232"/>
                </a:solidFill>
              </a:rPr>
              <a:t>a-0.19-b3000081.a010083.15e0.1d99.36d4.210.0.ic7arfsqqzf694fs8zf8nz2t9b.avts.mcafee.com</a:t>
            </a:r>
            <a:endParaRPr i="0" sz="1400" u="none" cap="none" strike="noStrike">
              <a:solidFill>
                <a:srgbClr val="323232"/>
              </a:solidFill>
            </a:endParaRPr>
          </a:p>
          <a:p>
            <a:pPr indent="-254000" lvl="0" marL="342900" marR="0" rtl="0" algn="l">
              <a:lnSpc>
                <a:spcPct val="200000"/>
              </a:lnSpc>
              <a:spcBef>
                <a:spcPts val="0"/>
              </a:spcBef>
              <a:spcAft>
                <a:spcPts val="0"/>
              </a:spcAft>
              <a:buClr>
                <a:srgbClr val="323232"/>
              </a:buClr>
              <a:buSzPts val="1400"/>
              <a:buChar char="•"/>
            </a:pPr>
            <a:r>
              <a:rPr i="0" lang="fr" sz="1400" u="none" cap="none" strike="noStrike">
                <a:solidFill>
                  <a:srgbClr val="323232"/>
                </a:solidFill>
              </a:rPr>
              <a:t>4rzjp8zy7i7vawluximoxrko1p2tn58gj0fjjj2g.p.03.s.sophosxl.net</a:t>
            </a:r>
            <a:endParaRPr i="0" sz="1400" u="none" cap="none" strike="noStrike">
              <a:solidFill>
                <a:srgbClr val="323232"/>
              </a:solidFill>
            </a:endParaRPr>
          </a:p>
          <a:p>
            <a:pPr indent="-254000" lvl="0" marL="342900" marR="0" rtl="0" algn="l">
              <a:lnSpc>
                <a:spcPct val="200000"/>
              </a:lnSpc>
              <a:spcBef>
                <a:spcPts val="0"/>
              </a:spcBef>
              <a:spcAft>
                <a:spcPts val="0"/>
              </a:spcAft>
              <a:buClr>
                <a:srgbClr val="323232"/>
              </a:buClr>
              <a:buSzPts val="1400"/>
              <a:buChar char="•"/>
            </a:pPr>
            <a:r>
              <a:rPr i="0" lang="fr" sz="1400" u="none" cap="none" strike="noStrike">
                <a:solidFill>
                  <a:srgbClr val="323232"/>
                </a:solidFill>
              </a:rPr>
              <a:t>p2.a22a43lt5rwfg.ihg5ki5i6q3cfn3n.191742.i1.ds.ipv6-exp.l.google.com</a:t>
            </a:r>
            <a:endParaRPr i="0" sz="1400" u="none" cap="none" strike="noStrike">
              <a:solidFill>
                <a:srgbClr val="323232"/>
              </a:solidFill>
            </a:endParaRPr>
          </a:p>
          <a:p>
            <a:pPr indent="-254000" lvl="0" marL="342900" marR="0" rtl="0" algn="l">
              <a:lnSpc>
                <a:spcPct val="200000"/>
              </a:lnSpc>
              <a:spcBef>
                <a:spcPts val="0"/>
              </a:spcBef>
              <a:spcAft>
                <a:spcPts val="0"/>
              </a:spcAft>
              <a:buClr>
                <a:srgbClr val="323232"/>
              </a:buClr>
              <a:buSzPts val="1400"/>
              <a:buChar char="•"/>
            </a:pPr>
            <a:r>
              <a:rPr i="0" lang="fr" sz="1400" u="none" cap="none" strike="noStrike">
                <a:solidFill>
                  <a:srgbClr val="323232"/>
                </a:solidFill>
              </a:rPr>
              <a:t>a1294.w20.akamai.net</a:t>
            </a:r>
            <a:endParaRPr i="0" sz="1400" u="none" cap="none" strike="noStrike">
              <a:solidFill>
                <a:srgbClr val="323232"/>
              </a:solidFill>
            </a:endParaRPr>
          </a:p>
          <a:p>
            <a:pPr indent="-254000" lvl="0" marL="342900" marR="0" rtl="0" algn="l">
              <a:lnSpc>
                <a:spcPct val="200000"/>
              </a:lnSpc>
              <a:spcBef>
                <a:spcPts val="0"/>
              </a:spcBef>
              <a:spcAft>
                <a:spcPts val="0"/>
              </a:spcAft>
              <a:buClr>
                <a:srgbClr val="323232"/>
              </a:buClr>
              <a:buSzPts val="1400"/>
              <a:buChar char="•"/>
            </a:pPr>
            <a:r>
              <a:rPr i="0" lang="fr" sz="1400" u="none" cap="none" strike="noStrike">
                <a:solidFill>
                  <a:srgbClr val="323232"/>
                </a:solidFill>
              </a:rPr>
              <a:t>dnn506yrbagrg.cloudfront.net</a:t>
            </a:r>
            <a:endParaRPr i="0" sz="1400" u="none" cap="none" strike="noStrike">
              <a:solidFill>
                <a:srgbClr val="323232"/>
              </a:solidFill>
            </a:endParaRPr>
          </a:p>
          <a:p>
            <a:pPr indent="-254000" lvl="0" marL="342900" marR="0" rtl="0" algn="l">
              <a:lnSpc>
                <a:spcPct val="200000"/>
              </a:lnSpc>
              <a:spcBef>
                <a:spcPts val="0"/>
              </a:spcBef>
              <a:spcAft>
                <a:spcPts val="0"/>
              </a:spcAft>
              <a:buClr>
                <a:srgbClr val="323232"/>
              </a:buClr>
              <a:buSzPts val="1400"/>
              <a:buChar char="•"/>
            </a:pPr>
            <a:r>
              <a:rPr i="0" lang="fr" sz="1400" u="none" cap="none" strike="noStrike">
                <a:solidFill>
                  <a:srgbClr val="323232"/>
                </a:solidFill>
              </a:rPr>
              <a:t>A98dc034c7781a941ebabac02262202668bbe918ea9fb5289cd2.r58.cf2.rackcdn.com </a:t>
            </a:r>
            <a:endParaRPr i="0" sz="1400" u="none" cap="none" strike="noStrike">
              <a:solidFill>
                <a:srgbClr val="323232"/>
              </a:solidFill>
            </a:endParaRPr>
          </a:p>
        </p:txBody>
      </p:sp>
      <p:sp>
        <p:nvSpPr>
          <p:cNvPr id="758" name="Google Shape;758;p58"/>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2400">
                <a:solidFill>
                  <a:srgbClr val="434343"/>
                </a:solidFill>
                <a:latin typeface="Helvetica Neue"/>
                <a:ea typeface="Helvetica Neue"/>
                <a:cs typeface="Helvetica Neue"/>
                <a:sym typeface="Helvetica Neue"/>
              </a:rPr>
              <a:t>Legitimate DNS Tunneling</a:t>
            </a:r>
            <a:endParaRPr sz="24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24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4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59"/>
          <p:cNvSpPr txBox="1"/>
          <p:nvPr>
            <p:ph idx="4294967295" type="body"/>
          </p:nvPr>
        </p:nvSpPr>
        <p:spPr>
          <a:xfrm>
            <a:off x="204900" y="875600"/>
            <a:ext cx="8627400" cy="3897000"/>
          </a:xfrm>
          <a:prstGeom prst="rect">
            <a:avLst/>
          </a:prstGeom>
          <a:noFill/>
          <a:ln>
            <a:noFill/>
          </a:ln>
        </p:spPr>
        <p:txBody>
          <a:bodyPr anchorCtr="0" anchor="t" bIns="0" lIns="0" spcFirstLastPara="1" rIns="0" wrap="square" tIns="0">
            <a:noAutofit/>
          </a:bodyPr>
          <a:lstStyle/>
          <a:p>
            <a:pPr indent="-292100" lvl="0" marL="292100" marR="0" rtl="0" algn="l">
              <a:lnSpc>
                <a:spcPct val="100000"/>
              </a:lnSpc>
              <a:spcBef>
                <a:spcPts val="0"/>
              </a:spcBef>
              <a:spcAft>
                <a:spcPts val="0"/>
              </a:spcAft>
              <a:buClr>
                <a:srgbClr val="323232"/>
              </a:buClr>
              <a:buSzPts val="2400"/>
              <a:buFont typeface="Arial"/>
              <a:buChar char="•"/>
            </a:pPr>
            <a:r>
              <a:rPr b="0" i="0" lang="fr" sz="2400" u="none" cap="none" strike="noStrike">
                <a:solidFill>
                  <a:srgbClr val="323232"/>
                </a:solidFill>
                <a:latin typeface="Arial"/>
                <a:ea typeface="Arial"/>
                <a:cs typeface="Arial"/>
                <a:sym typeface="Arial"/>
              </a:rPr>
              <a:t>Domain fronting</a:t>
            </a:r>
            <a:endParaRPr sz="2400">
              <a:solidFill>
                <a:srgbClr val="323232"/>
              </a:solidFill>
            </a:endParaRPr>
          </a:p>
          <a:p>
            <a:pPr indent="0" lvl="0" marL="0" marR="0" rtl="0" algn="l">
              <a:lnSpc>
                <a:spcPct val="100000"/>
              </a:lnSpc>
              <a:spcBef>
                <a:spcPts val="0"/>
              </a:spcBef>
              <a:spcAft>
                <a:spcPts val="0"/>
              </a:spcAft>
              <a:buNone/>
            </a:pPr>
            <a:r>
              <a:t/>
            </a:r>
            <a:endParaRPr sz="600">
              <a:solidFill>
                <a:srgbClr val="323232"/>
              </a:solidFill>
            </a:endParaRPr>
          </a:p>
          <a:p>
            <a:pPr indent="0" lvl="0" marL="0" rtl="0" algn="l">
              <a:lnSpc>
                <a:spcPct val="100000"/>
              </a:lnSpc>
              <a:spcBef>
                <a:spcPts val="0"/>
              </a:spcBef>
              <a:spcAft>
                <a:spcPts val="0"/>
              </a:spcAft>
              <a:buNone/>
            </a:pPr>
            <a:r>
              <a:rPr lang="fr"/>
              <a:t>Domain fronting is a technique that masks the destination of a request by using different domains at various stages of the connection, allowing traffic to bypass certain filtering or detection systems.</a:t>
            </a:r>
            <a:endParaRPr sz="2700"/>
          </a:p>
          <a:p>
            <a:pPr indent="0" lvl="0" marL="0" rtl="0" algn="l">
              <a:lnSpc>
                <a:spcPct val="100000"/>
              </a:lnSpc>
              <a:spcBef>
                <a:spcPts val="0"/>
              </a:spcBef>
              <a:spcAft>
                <a:spcPts val="0"/>
              </a:spcAft>
              <a:buNone/>
            </a:pPr>
            <a:br>
              <a:rPr b="0" i="0" lang="fr" sz="2400" u="none" cap="none" strike="noStrike"/>
            </a:br>
            <a:r>
              <a:rPr b="0" i="0" lang="fr" sz="2400" u="none" cap="none" strike="noStrike">
                <a:solidFill>
                  <a:srgbClr val="323232"/>
                </a:solidFill>
                <a:latin typeface="Arial"/>
                <a:ea typeface="Arial"/>
                <a:cs typeface="Arial"/>
                <a:sym typeface="Arial"/>
              </a:rPr>
              <a:t>curl 'https://</a:t>
            </a:r>
            <a:r>
              <a:rPr b="1" i="0" lang="fr" sz="2400" u="none" cap="none" strike="noStrike">
                <a:solidFill>
                  <a:srgbClr val="00B050"/>
                </a:solidFill>
                <a:latin typeface="Arial"/>
                <a:ea typeface="Arial"/>
                <a:cs typeface="Arial"/>
                <a:sym typeface="Arial"/>
              </a:rPr>
              <a:t>google.com</a:t>
            </a:r>
            <a:r>
              <a:rPr b="0" i="0" lang="fr" sz="2400" u="none" cap="none" strike="noStrike">
                <a:solidFill>
                  <a:srgbClr val="323232"/>
                </a:solidFill>
                <a:latin typeface="Arial"/>
                <a:ea typeface="Arial"/>
                <a:cs typeface="Arial"/>
                <a:sym typeface="Arial"/>
              </a:rPr>
              <a:t>/resolve?name=</a:t>
            </a:r>
            <a:r>
              <a:rPr b="1" i="0" lang="fr" sz="2400" u="none" cap="none" strike="noStrike">
                <a:solidFill>
                  <a:srgbClr val="C00000"/>
                </a:solidFill>
              </a:rPr>
              <a:t>malwareC2.com</a:t>
            </a:r>
            <a:r>
              <a:rPr b="0" i="0" lang="fr" sz="2400" u="none" cap="none" strike="noStrike">
                <a:solidFill>
                  <a:srgbClr val="323232"/>
                </a:solidFill>
                <a:latin typeface="Arial"/>
                <a:ea typeface="Arial"/>
                <a:cs typeface="Arial"/>
                <a:sym typeface="Arial"/>
              </a:rPr>
              <a:t>’ </a:t>
            </a:r>
            <a:br>
              <a:rPr b="0" i="0" lang="fr" sz="2400" u="none" cap="none" strike="noStrike"/>
            </a:br>
            <a:r>
              <a:rPr b="0" i="0" lang="fr" sz="2400" u="none" cap="none" strike="noStrike">
                <a:solidFill>
                  <a:srgbClr val="323232"/>
                </a:solidFill>
                <a:latin typeface="Arial"/>
                <a:ea typeface="Arial"/>
                <a:cs typeface="Arial"/>
                <a:sym typeface="Arial"/>
              </a:rPr>
              <a:t>-H "Host: </a:t>
            </a:r>
            <a:r>
              <a:rPr b="1" i="0" lang="fr" sz="2400" u="none" cap="none" strike="noStrike">
                <a:solidFill>
                  <a:srgbClr val="E79A22"/>
                </a:solidFill>
                <a:latin typeface="Arial"/>
                <a:ea typeface="Arial"/>
                <a:cs typeface="Arial"/>
                <a:sym typeface="Arial"/>
              </a:rPr>
              <a:t>dns.google.com</a:t>
            </a:r>
            <a:r>
              <a:rPr b="0" i="0" lang="fr" sz="2400" u="none" cap="none" strike="noStrike">
                <a:solidFill>
                  <a:srgbClr val="323232"/>
                </a:solidFill>
                <a:latin typeface="Arial"/>
                <a:ea typeface="Arial"/>
                <a:cs typeface="Arial"/>
                <a:sym typeface="Arial"/>
              </a:rPr>
              <a:t>"</a:t>
            </a:r>
            <a:endParaRPr b="0" i="0" sz="2400" u="none" cap="none" strike="noStrike">
              <a:solidFill>
                <a:srgbClr val="323232"/>
              </a:solidFill>
              <a:latin typeface="Arial"/>
              <a:ea typeface="Arial"/>
              <a:cs typeface="Arial"/>
              <a:sym typeface="Arial"/>
            </a:endParaRPr>
          </a:p>
          <a:p>
            <a:pPr indent="0" lvl="0" marL="0" marR="0" rtl="0" algn="l">
              <a:lnSpc>
                <a:spcPct val="100000"/>
              </a:lnSpc>
              <a:spcBef>
                <a:spcPts val="500"/>
              </a:spcBef>
              <a:spcAft>
                <a:spcPts val="0"/>
              </a:spcAft>
              <a:buSzPts val="2400"/>
              <a:buFont typeface="Arial"/>
              <a:buNone/>
            </a:pPr>
            <a:r>
              <a:t/>
            </a:r>
            <a:endParaRPr b="0" i="0" sz="600" u="none" cap="none" strike="noStrike">
              <a:solidFill>
                <a:srgbClr val="323232"/>
              </a:solidFill>
              <a:latin typeface="Arial"/>
              <a:ea typeface="Arial"/>
              <a:cs typeface="Arial"/>
              <a:sym typeface="Arial"/>
            </a:endParaRPr>
          </a:p>
          <a:p>
            <a:pPr indent="0" lvl="0" marL="0" marR="0" rtl="0" algn="l">
              <a:lnSpc>
                <a:spcPct val="100000"/>
              </a:lnSpc>
              <a:spcBef>
                <a:spcPts val="50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Unencrypted DNS lookup &amp; </a:t>
            </a:r>
            <a:r>
              <a:rPr lang="fr" sz="2400">
                <a:solidFill>
                  <a:srgbClr val="323232"/>
                </a:solidFill>
              </a:rPr>
              <a:t>TLS SNI</a:t>
            </a:r>
            <a:r>
              <a:rPr b="0" i="0" lang="fr" sz="2400" u="none" cap="none" strike="noStrike">
                <a:solidFill>
                  <a:srgbClr val="323232"/>
                </a:solidFill>
                <a:latin typeface="Arial"/>
                <a:ea typeface="Arial"/>
                <a:cs typeface="Arial"/>
                <a:sym typeface="Arial"/>
              </a:rPr>
              <a:t>: </a:t>
            </a:r>
            <a:r>
              <a:rPr b="1" lang="fr" sz="2400">
                <a:solidFill>
                  <a:srgbClr val="00B050"/>
                </a:solidFill>
              </a:rPr>
              <a:t>google.com</a:t>
            </a:r>
            <a:endParaRPr b="1" i="0" sz="2400" u="none" cap="none" strike="noStrike">
              <a:solidFill>
                <a:srgbClr val="323232"/>
              </a:solidFill>
            </a:endParaRPr>
          </a:p>
          <a:p>
            <a:pPr indent="0" lvl="0" marL="0" marR="0" rtl="0" algn="l">
              <a:lnSpc>
                <a:spcPct val="100000"/>
              </a:lnSpc>
              <a:spcBef>
                <a:spcPts val="50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Encrypted HTTP host: 					 </a:t>
            </a:r>
            <a:r>
              <a:rPr b="1" lang="fr" sz="2400">
                <a:solidFill>
                  <a:srgbClr val="E79A22"/>
                </a:solidFill>
              </a:rPr>
              <a:t>dns.google.com</a:t>
            </a:r>
            <a:endParaRPr b="0" i="0" sz="2400" u="none" cap="none" strike="noStrike">
              <a:solidFill>
                <a:srgbClr val="323232"/>
              </a:solidFill>
              <a:latin typeface="Arial"/>
              <a:ea typeface="Arial"/>
              <a:cs typeface="Arial"/>
              <a:sym typeface="Arial"/>
            </a:endParaRPr>
          </a:p>
          <a:p>
            <a:pPr indent="0" lvl="0" marL="0" rtl="0" algn="l">
              <a:lnSpc>
                <a:spcPct val="100000"/>
              </a:lnSpc>
              <a:spcBef>
                <a:spcPts val="500"/>
              </a:spcBef>
              <a:spcAft>
                <a:spcPts val="0"/>
              </a:spcAft>
              <a:buClr>
                <a:srgbClr val="323232"/>
              </a:buClr>
              <a:buSzPts val="2400"/>
              <a:buFont typeface="Arial"/>
              <a:buNone/>
            </a:pPr>
            <a:r>
              <a:rPr lang="fr" sz="2400">
                <a:solidFill>
                  <a:srgbClr val="323232"/>
                </a:solidFill>
              </a:rPr>
              <a:t>Requested Domain</a:t>
            </a:r>
            <a:r>
              <a:rPr lang="fr" sz="2400">
                <a:solidFill>
                  <a:srgbClr val="323232"/>
                </a:solidFill>
              </a:rPr>
              <a:t>: 					 </a:t>
            </a:r>
            <a:r>
              <a:rPr b="1" lang="fr" sz="2400">
                <a:solidFill>
                  <a:srgbClr val="C00000"/>
                </a:solidFill>
              </a:rPr>
              <a:t>malwareC2.com</a:t>
            </a:r>
            <a:endParaRPr sz="2400">
              <a:solidFill>
                <a:srgbClr val="323232"/>
              </a:solidFill>
            </a:endParaRPr>
          </a:p>
          <a:p>
            <a:pPr indent="0" lvl="0" marL="0" marR="0" rtl="0" algn="l">
              <a:lnSpc>
                <a:spcPct val="100000"/>
              </a:lnSpc>
              <a:spcBef>
                <a:spcPts val="500"/>
              </a:spcBef>
              <a:spcAft>
                <a:spcPts val="0"/>
              </a:spcAft>
              <a:buSzPts val="2400"/>
              <a:buFont typeface="Arial"/>
              <a:buNone/>
            </a:pPr>
            <a:r>
              <a:t/>
            </a:r>
            <a:endParaRPr sz="2400">
              <a:solidFill>
                <a:srgbClr val="323232"/>
              </a:solidFill>
            </a:endParaRPr>
          </a:p>
        </p:txBody>
      </p:sp>
      <p:sp>
        <p:nvSpPr>
          <p:cNvPr id="764" name="Google Shape;764;p59"/>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400">
                <a:solidFill>
                  <a:srgbClr val="434343"/>
                </a:solidFill>
                <a:latin typeface="Helvetica Neue"/>
                <a:ea typeface="Helvetica Neue"/>
                <a:cs typeface="Helvetica Neue"/>
                <a:sym typeface="Helvetica Neue"/>
              </a:rPr>
              <a:t>C2 over DNS over HTTPS (DoH)</a:t>
            </a:r>
            <a:endParaRPr sz="24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9" name="Shape 769"/>
        <p:cNvGrpSpPr/>
        <p:nvPr/>
      </p:nvGrpSpPr>
      <p:grpSpPr>
        <a:xfrm>
          <a:off x="0" y="0"/>
          <a:ext cx="0" cy="0"/>
          <a:chOff x="0" y="0"/>
          <a:chExt cx="0" cy="0"/>
        </a:xfrm>
      </p:grpSpPr>
      <p:sp>
        <p:nvSpPr>
          <p:cNvPr id="770" name="Google Shape;770;p60"/>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2600"/>
              <a:buNone/>
            </a:pPr>
            <a:r>
              <a:rPr lang="fr" sz="1900">
                <a:solidFill>
                  <a:srgbClr val="006A7E"/>
                </a:solidFill>
              </a:rPr>
              <a:t>Lab: DNS Tunneling for bypassing filtering</a:t>
            </a:r>
            <a:endParaRPr b="1" sz="1100"/>
          </a:p>
        </p:txBody>
      </p:sp>
      <p:pic>
        <p:nvPicPr>
          <p:cNvPr id="771" name="Google Shape;771;p60"/>
          <p:cNvPicPr preferRelativeResize="0"/>
          <p:nvPr/>
        </p:nvPicPr>
        <p:blipFill rotWithShape="1">
          <a:blip r:embed="rId3">
            <a:alphaModFix/>
          </a:blip>
          <a:srcRect b="0" l="0" r="0" t="0"/>
          <a:stretch/>
        </p:blipFill>
        <p:spPr>
          <a:xfrm>
            <a:off x="689656" y="1168013"/>
            <a:ext cx="1294106" cy="1010495"/>
          </a:xfrm>
          <a:prstGeom prst="rect">
            <a:avLst/>
          </a:prstGeom>
          <a:noFill/>
          <a:ln>
            <a:noFill/>
          </a:ln>
        </p:spPr>
      </p:pic>
      <p:sp>
        <p:nvSpPr>
          <p:cNvPr id="772" name="Google Shape;772;p60"/>
          <p:cNvSpPr txBox="1"/>
          <p:nvPr/>
        </p:nvSpPr>
        <p:spPr>
          <a:xfrm>
            <a:off x="2214900" y="1490344"/>
            <a:ext cx="5594850" cy="43875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rgbClr val="000000"/>
                </a:solidFill>
                <a:latin typeface="Arial"/>
                <a:ea typeface="Arial"/>
                <a:cs typeface="Arial"/>
                <a:sym typeface="Arial"/>
              </a:rPr>
              <a:t>Practical Exercise: DNS Tunneling with Iodine</a:t>
            </a:r>
            <a:endParaRPr b="1" i="0" sz="2000" u="none" cap="none" strike="noStrike">
              <a:solidFill>
                <a:srgbClr val="000000"/>
              </a:solidFill>
              <a:latin typeface="Arial"/>
              <a:ea typeface="Arial"/>
              <a:cs typeface="Arial"/>
              <a:sym typeface="Arial"/>
            </a:endParaRPr>
          </a:p>
        </p:txBody>
      </p:sp>
      <p:pic>
        <p:nvPicPr>
          <p:cNvPr id="773" name="Google Shape;773;p60"/>
          <p:cNvPicPr preferRelativeResize="0"/>
          <p:nvPr/>
        </p:nvPicPr>
        <p:blipFill rotWithShape="1">
          <a:blip r:embed="rId4">
            <a:alphaModFix/>
          </a:blip>
          <a:srcRect b="0" l="0" r="0" t="0"/>
          <a:stretch/>
        </p:blipFill>
        <p:spPr>
          <a:xfrm>
            <a:off x="2098062" y="2043394"/>
            <a:ext cx="5160281" cy="298580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1"/>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2600"/>
              <a:buNone/>
            </a:pPr>
            <a:r>
              <a:rPr lang="fr" sz="1900">
                <a:solidFill>
                  <a:srgbClr val="006A7E"/>
                </a:solidFill>
              </a:rPr>
              <a:t>Lab: Command and Control over DNS</a:t>
            </a:r>
            <a:endParaRPr b="1" sz="1100"/>
          </a:p>
        </p:txBody>
      </p:sp>
      <p:pic>
        <p:nvPicPr>
          <p:cNvPr id="780" name="Google Shape;780;p61"/>
          <p:cNvPicPr preferRelativeResize="0"/>
          <p:nvPr/>
        </p:nvPicPr>
        <p:blipFill rotWithShape="1">
          <a:blip r:embed="rId3">
            <a:alphaModFix/>
          </a:blip>
          <a:srcRect b="0" l="0" r="0" t="0"/>
          <a:stretch/>
        </p:blipFill>
        <p:spPr>
          <a:xfrm>
            <a:off x="689656" y="1168013"/>
            <a:ext cx="1294106" cy="1010495"/>
          </a:xfrm>
          <a:prstGeom prst="rect">
            <a:avLst/>
          </a:prstGeom>
          <a:noFill/>
          <a:ln>
            <a:noFill/>
          </a:ln>
        </p:spPr>
      </p:pic>
      <p:sp>
        <p:nvSpPr>
          <p:cNvPr id="781" name="Google Shape;781;p61"/>
          <p:cNvSpPr txBox="1"/>
          <p:nvPr/>
        </p:nvSpPr>
        <p:spPr>
          <a:xfrm>
            <a:off x="2214900" y="1490344"/>
            <a:ext cx="5594850" cy="43875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rgbClr val="000000"/>
                </a:solidFill>
                <a:latin typeface="Arial"/>
                <a:ea typeface="Arial"/>
                <a:cs typeface="Arial"/>
                <a:sym typeface="Arial"/>
              </a:rPr>
              <a:t>Practical Exercise: DNS C2 with Sliver</a:t>
            </a:r>
            <a:endParaRPr b="1" i="0" sz="2000" u="none" cap="none" strike="noStrike">
              <a:solidFill>
                <a:srgbClr val="000000"/>
              </a:solidFill>
              <a:latin typeface="Arial"/>
              <a:ea typeface="Arial"/>
              <a:cs typeface="Arial"/>
              <a:sym typeface="Arial"/>
            </a:endParaRPr>
          </a:p>
        </p:txBody>
      </p:sp>
      <p:pic>
        <p:nvPicPr>
          <p:cNvPr id="782" name="Google Shape;782;p61"/>
          <p:cNvPicPr preferRelativeResize="0"/>
          <p:nvPr/>
        </p:nvPicPr>
        <p:blipFill rotWithShape="1">
          <a:blip r:embed="rId4">
            <a:alphaModFix/>
          </a:blip>
          <a:srcRect b="0" l="0" r="0" t="0"/>
          <a:stretch/>
        </p:blipFill>
        <p:spPr>
          <a:xfrm>
            <a:off x="2098062" y="2043394"/>
            <a:ext cx="5160281" cy="298580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grpSp>
        <p:nvGrpSpPr>
          <p:cNvPr id="788" name="Google Shape;788;p62"/>
          <p:cNvGrpSpPr/>
          <p:nvPr/>
        </p:nvGrpSpPr>
        <p:grpSpPr>
          <a:xfrm>
            <a:off x="346950" y="2150505"/>
            <a:ext cx="8566875" cy="1152675"/>
            <a:chOff x="462600" y="2867340"/>
            <a:chExt cx="11422500" cy="1536900"/>
          </a:xfrm>
        </p:grpSpPr>
        <p:grpSp>
          <p:nvGrpSpPr>
            <p:cNvPr id="789" name="Google Shape;789;p62"/>
            <p:cNvGrpSpPr/>
            <p:nvPr/>
          </p:nvGrpSpPr>
          <p:grpSpPr>
            <a:xfrm>
              <a:off x="462600" y="2867340"/>
              <a:ext cx="11422500" cy="1536900"/>
              <a:chOff x="462600" y="2867340"/>
              <a:chExt cx="11422500" cy="1536900"/>
            </a:xfrm>
          </p:grpSpPr>
          <p:grpSp>
            <p:nvGrpSpPr>
              <p:cNvPr id="790" name="Google Shape;790;p62"/>
              <p:cNvGrpSpPr/>
              <p:nvPr/>
            </p:nvGrpSpPr>
            <p:grpSpPr>
              <a:xfrm>
                <a:off x="462600" y="2867340"/>
                <a:ext cx="11422500" cy="1536900"/>
                <a:chOff x="462600" y="2867340"/>
                <a:chExt cx="11422500" cy="1536900"/>
              </a:xfrm>
            </p:grpSpPr>
            <p:sp>
              <p:nvSpPr>
                <p:cNvPr id="791" name="Google Shape;791;p62"/>
                <p:cNvSpPr/>
                <p:nvPr/>
              </p:nvSpPr>
              <p:spPr>
                <a:xfrm rot="-5400000">
                  <a:off x="5405400" y="-20754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2" name="Google Shape;792;p62"/>
                <p:cNvSpPr/>
                <p:nvPr/>
              </p:nvSpPr>
              <p:spPr>
                <a:xfrm>
                  <a:off x="1698480" y="2999160"/>
                  <a:ext cx="77052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Stopping APTs/malware from using DNS</a:t>
                  </a:r>
                  <a:endParaRPr b="0" i="0" sz="2400" u="none" cap="none" strike="noStrike">
                    <a:solidFill>
                      <a:srgbClr val="000000"/>
                    </a:solidFill>
                    <a:latin typeface="Arial"/>
                    <a:ea typeface="Arial"/>
                    <a:cs typeface="Arial"/>
                    <a:sym typeface="Arial"/>
                  </a:endParaRPr>
                </a:p>
              </p:txBody>
            </p:sp>
          </p:grpSp>
          <p:sp>
            <p:nvSpPr>
              <p:cNvPr id="793" name="Google Shape;793;p62"/>
              <p:cNvSpPr/>
              <p:nvPr/>
            </p:nvSpPr>
            <p:spPr>
              <a:xfrm>
                <a:off x="755640" y="3188880"/>
                <a:ext cx="811500" cy="832200"/>
              </a:xfrm>
              <a:prstGeom prst="ellipse">
                <a:avLst/>
              </a:prstGeom>
              <a:solidFill>
                <a:schemeClr val="accent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2</a:t>
                </a:r>
                <a:endParaRPr b="0" i="0" sz="1800" u="none" cap="none" strike="noStrike">
                  <a:solidFill>
                    <a:srgbClr val="000000"/>
                  </a:solidFill>
                  <a:latin typeface="Arial"/>
                  <a:ea typeface="Arial"/>
                  <a:cs typeface="Arial"/>
                  <a:sym typeface="Arial"/>
                </a:endParaRPr>
              </a:p>
            </p:txBody>
          </p:sp>
        </p:grpSp>
        <p:pic>
          <p:nvPicPr>
            <p:cNvPr id="794" name="Google Shape;794;p62"/>
            <p:cNvPicPr preferRelativeResize="0"/>
            <p:nvPr/>
          </p:nvPicPr>
          <p:blipFill rotWithShape="1">
            <a:blip r:embed="rId3">
              <a:alphaModFix/>
            </a:blip>
            <a:srcRect b="0" l="0" r="0" t="0"/>
            <a:stretch/>
          </p:blipFill>
          <p:spPr>
            <a:xfrm>
              <a:off x="9216000" y="3482280"/>
              <a:ext cx="795600" cy="795600"/>
            </a:xfrm>
            <a:prstGeom prst="rect">
              <a:avLst/>
            </a:prstGeom>
            <a:noFill/>
            <a:ln>
              <a:noFill/>
            </a:ln>
          </p:spPr>
        </p:pic>
        <p:pic>
          <p:nvPicPr>
            <p:cNvPr id="795" name="Google Shape;795;p62"/>
            <p:cNvPicPr preferRelativeResize="0"/>
            <p:nvPr/>
          </p:nvPicPr>
          <p:blipFill rotWithShape="1">
            <a:blip r:embed="rId4">
              <a:alphaModFix/>
            </a:blip>
            <a:srcRect b="0" l="0" r="0" t="0"/>
            <a:stretch/>
          </p:blipFill>
          <p:spPr>
            <a:xfrm>
              <a:off x="9767160" y="2999160"/>
              <a:ext cx="1170720" cy="1170720"/>
            </a:xfrm>
            <a:prstGeom prst="rect">
              <a:avLst/>
            </a:prstGeom>
            <a:noFill/>
            <a:ln>
              <a:noFill/>
            </a:ln>
          </p:spPr>
        </p:pic>
        <p:pic>
          <p:nvPicPr>
            <p:cNvPr id="796" name="Google Shape;796;p62"/>
            <p:cNvPicPr preferRelativeResize="0"/>
            <p:nvPr/>
          </p:nvPicPr>
          <p:blipFill rotWithShape="1">
            <a:blip r:embed="rId5">
              <a:alphaModFix/>
            </a:blip>
            <a:srcRect b="0" l="0" r="0" t="0"/>
            <a:stretch/>
          </p:blipFill>
          <p:spPr>
            <a:xfrm>
              <a:off x="10597680" y="2999160"/>
              <a:ext cx="698400" cy="698400"/>
            </a:xfrm>
            <a:prstGeom prst="rect">
              <a:avLst/>
            </a:prstGeom>
            <a:noFill/>
            <a:ln>
              <a:noFill/>
            </a:ln>
          </p:spPr>
        </p:pic>
      </p:grpSp>
      <p:grpSp>
        <p:nvGrpSpPr>
          <p:cNvPr id="797" name="Google Shape;797;p62"/>
          <p:cNvGrpSpPr/>
          <p:nvPr/>
        </p:nvGrpSpPr>
        <p:grpSpPr>
          <a:xfrm>
            <a:off x="339660" y="3208410"/>
            <a:ext cx="8566875" cy="1796850"/>
            <a:chOff x="452880" y="4277880"/>
            <a:chExt cx="11422500" cy="2395800"/>
          </a:xfrm>
        </p:grpSpPr>
        <p:grpSp>
          <p:nvGrpSpPr>
            <p:cNvPr id="798" name="Google Shape;798;p62"/>
            <p:cNvGrpSpPr/>
            <p:nvPr/>
          </p:nvGrpSpPr>
          <p:grpSpPr>
            <a:xfrm>
              <a:off x="452880" y="4699740"/>
              <a:ext cx="11422500" cy="1536900"/>
              <a:chOff x="452880" y="4699740"/>
              <a:chExt cx="11422500" cy="1536900"/>
            </a:xfrm>
          </p:grpSpPr>
          <p:grpSp>
            <p:nvGrpSpPr>
              <p:cNvPr id="799" name="Google Shape;799;p62"/>
              <p:cNvGrpSpPr/>
              <p:nvPr/>
            </p:nvGrpSpPr>
            <p:grpSpPr>
              <a:xfrm>
                <a:off x="452880" y="4699740"/>
                <a:ext cx="11422500" cy="1536900"/>
                <a:chOff x="452880" y="4699740"/>
                <a:chExt cx="11422500" cy="1536900"/>
              </a:xfrm>
            </p:grpSpPr>
            <p:sp>
              <p:nvSpPr>
                <p:cNvPr id="800" name="Google Shape;800;p62"/>
                <p:cNvSpPr/>
                <p:nvPr/>
              </p:nvSpPr>
              <p:spPr>
                <a:xfrm rot="-5400000">
                  <a:off x="5395680" y="-2430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1" name="Google Shape;801;p62"/>
                <p:cNvSpPr/>
                <p:nvPr/>
              </p:nvSpPr>
              <p:spPr>
                <a:xfrm>
                  <a:off x="1699200" y="4820400"/>
                  <a:ext cx="72987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Defending DNS Infrastructure</a:t>
                  </a:r>
                  <a:endParaRPr b="0" i="0" sz="2400" u="none" cap="none" strike="noStrike">
                    <a:solidFill>
                      <a:srgbClr val="000000"/>
                    </a:solidFill>
                    <a:latin typeface="Arial"/>
                    <a:ea typeface="Arial"/>
                    <a:cs typeface="Arial"/>
                    <a:sym typeface="Arial"/>
                  </a:endParaRPr>
                </a:p>
              </p:txBody>
            </p:sp>
          </p:grpSp>
          <p:sp>
            <p:nvSpPr>
              <p:cNvPr id="802" name="Google Shape;802;p62"/>
              <p:cNvSpPr/>
              <p:nvPr/>
            </p:nvSpPr>
            <p:spPr>
              <a:xfrm>
                <a:off x="756360" y="5028120"/>
                <a:ext cx="811500" cy="832200"/>
              </a:xfrm>
              <a:prstGeom prst="ellipse">
                <a:avLst/>
              </a:prstGeom>
              <a:solidFill>
                <a:schemeClr val="accent4"/>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3</a:t>
                </a:r>
                <a:endParaRPr b="0" i="0" sz="1800" u="none" cap="none" strike="noStrike">
                  <a:solidFill>
                    <a:srgbClr val="000000"/>
                  </a:solidFill>
                  <a:latin typeface="Arial"/>
                  <a:ea typeface="Arial"/>
                  <a:cs typeface="Arial"/>
                  <a:sym typeface="Arial"/>
                </a:endParaRPr>
              </a:p>
            </p:txBody>
          </p:sp>
        </p:grpSp>
        <p:pic>
          <p:nvPicPr>
            <p:cNvPr id="803" name="Google Shape;803;p62"/>
            <p:cNvPicPr preferRelativeResize="0"/>
            <p:nvPr/>
          </p:nvPicPr>
          <p:blipFill rotWithShape="1">
            <a:blip r:embed="rId6">
              <a:alphaModFix/>
            </a:blip>
            <a:srcRect b="0" l="0" r="0" t="0"/>
            <a:stretch/>
          </p:blipFill>
          <p:spPr>
            <a:xfrm>
              <a:off x="9129600" y="4277880"/>
              <a:ext cx="2395800" cy="2395800"/>
            </a:xfrm>
            <a:prstGeom prst="rect">
              <a:avLst/>
            </a:prstGeom>
            <a:noFill/>
            <a:ln>
              <a:noFill/>
            </a:ln>
          </p:spPr>
        </p:pic>
      </p:grpSp>
      <p:sp>
        <p:nvSpPr>
          <p:cNvPr id="804" name="Google Shape;804;p62"/>
          <p:cNvSpPr/>
          <p:nvPr/>
        </p:nvSpPr>
        <p:spPr>
          <a:xfrm>
            <a:off x="346950" y="351135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5" name="Google Shape;805;p62"/>
          <p:cNvSpPr/>
          <p:nvPr/>
        </p:nvSpPr>
        <p:spPr>
          <a:xfrm>
            <a:off x="346950" y="78030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6" name="Google Shape;806;p62"/>
          <p:cNvSpPr txBox="1"/>
          <p:nvPr>
            <p:ph idx="4294967295" type="title"/>
          </p:nvPr>
        </p:nvSpPr>
        <p:spPr>
          <a:xfrm>
            <a:off x="414188" y="258488"/>
            <a:ext cx="7688700" cy="53527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1900"/>
              <a:buNone/>
            </a:pPr>
            <a:r>
              <a:rPr lang="fr" sz="1100"/>
              <a:t>DNS &amp; CyberSecurity</a:t>
            </a:r>
            <a:endParaRPr sz="1100"/>
          </a:p>
        </p:txBody>
      </p:sp>
      <p:grpSp>
        <p:nvGrpSpPr>
          <p:cNvPr id="807" name="Google Shape;807;p62"/>
          <p:cNvGrpSpPr/>
          <p:nvPr/>
        </p:nvGrpSpPr>
        <p:grpSpPr>
          <a:xfrm>
            <a:off x="333450" y="214110"/>
            <a:ext cx="8566875" cy="2344680"/>
            <a:chOff x="444600" y="285480"/>
            <a:chExt cx="11422500" cy="3126240"/>
          </a:xfrm>
        </p:grpSpPr>
        <p:grpSp>
          <p:nvGrpSpPr>
            <p:cNvPr id="808" name="Google Shape;808;p62"/>
            <p:cNvGrpSpPr/>
            <p:nvPr/>
          </p:nvGrpSpPr>
          <p:grpSpPr>
            <a:xfrm>
              <a:off x="444600" y="1040700"/>
              <a:ext cx="11422500" cy="1543740"/>
              <a:chOff x="444600" y="1040700"/>
              <a:chExt cx="11422500" cy="1543740"/>
            </a:xfrm>
          </p:grpSpPr>
          <p:sp>
            <p:nvSpPr>
              <p:cNvPr id="809" name="Google Shape;809;p62"/>
              <p:cNvSpPr/>
              <p:nvPr/>
            </p:nvSpPr>
            <p:spPr>
              <a:xfrm rot="-5400000">
                <a:off x="5387400" y="-3902100"/>
                <a:ext cx="1536900" cy="11422500"/>
              </a:xfrm>
              <a:prstGeom prst="rect">
                <a:avLst/>
              </a:prstGeom>
              <a:solidFill>
                <a:srgbClr val="D9D9D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0" name="Google Shape;810;p62"/>
              <p:cNvSpPr/>
              <p:nvPr/>
            </p:nvSpPr>
            <p:spPr>
              <a:xfrm>
                <a:off x="1713600" y="1047240"/>
                <a:ext cx="7294200" cy="15372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Preventing communication over DNS</a:t>
                </a:r>
                <a:endParaRPr b="0" i="0" sz="2400" u="none" cap="none" strike="noStrike">
                  <a:solidFill>
                    <a:srgbClr val="000000"/>
                  </a:solidFill>
                  <a:latin typeface="Arial"/>
                  <a:ea typeface="Arial"/>
                  <a:cs typeface="Arial"/>
                  <a:sym typeface="Arial"/>
                </a:endParaRPr>
              </a:p>
            </p:txBody>
          </p:sp>
        </p:grpSp>
        <p:pic>
          <p:nvPicPr>
            <p:cNvPr id="811" name="Google Shape;811;p62"/>
            <p:cNvPicPr preferRelativeResize="0"/>
            <p:nvPr/>
          </p:nvPicPr>
          <p:blipFill rotWithShape="1">
            <a:blip r:embed="rId7">
              <a:alphaModFix/>
            </a:blip>
            <a:srcRect b="0" l="0" r="0" t="0"/>
            <a:stretch/>
          </p:blipFill>
          <p:spPr>
            <a:xfrm>
              <a:off x="8740800" y="285480"/>
              <a:ext cx="3126240" cy="3126240"/>
            </a:xfrm>
            <a:prstGeom prst="rect">
              <a:avLst/>
            </a:prstGeom>
            <a:noFill/>
            <a:ln>
              <a:noFill/>
            </a:ln>
          </p:spPr>
        </p:pic>
        <p:sp>
          <p:nvSpPr>
            <p:cNvPr id="812" name="Google Shape;812;p62"/>
            <p:cNvSpPr/>
            <p:nvPr/>
          </p:nvSpPr>
          <p:spPr>
            <a:xfrm>
              <a:off x="750960" y="1397880"/>
              <a:ext cx="811500" cy="832200"/>
            </a:xfrm>
            <a:prstGeom prst="ellipse">
              <a:avLst/>
            </a:prstGeom>
            <a:solidFill>
              <a:schemeClr val="dk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grpSp>
      <p:sp>
        <p:nvSpPr>
          <p:cNvPr id="813" name="Google Shape;813;p62"/>
          <p:cNvSpPr/>
          <p:nvPr/>
        </p:nvSpPr>
        <p:spPr>
          <a:xfrm>
            <a:off x="353700" y="78030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63"/>
          <p:cNvSpPr txBox="1"/>
          <p:nvPr>
            <p:ph idx="4294967295" type="subTitle"/>
          </p:nvPr>
        </p:nvSpPr>
        <p:spPr>
          <a:xfrm>
            <a:off x="333450" y="601290"/>
            <a:ext cx="8372475" cy="321750"/>
          </a:xfrm>
          <a:prstGeom prst="rect">
            <a:avLst/>
          </a:prstGeom>
          <a:noFill/>
          <a:ln>
            <a:noFill/>
          </a:ln>
        </p:spPr>
        <p:txBody>
          <a:bodyPr anchorCtr="0" anchor="t" bIns="33750" lIns="0" spcFirstLastPara="1" rIns="67500" wrap="square" tIns="33750">
            <a:noAutofit/>
          </a:bodyPr>
          <a:lstStyle/>
          <a:p>
            <a:pPr indent="0" lvl="0" marL="0" marR="0" rtl="0" algn="l">
              <a:lnSpc>
                <a:spcPct val="100000"/>
              </a:lnSpc>
              <a:spcBef>
                <a:spcPts val="0"/>
              </a:spcBef>
              <a:spcAft>
                <a:spcPts val="0"/>
              </a:spcAft>
              <a:buClr>
                <a:srgbClr val="595959"/>
              </a:buClr>
              <a:buSzPts val="1100"/>
              <a:buFont typeface="Arial"/>
              <a:buNone/>
            </a:pPr>
            <a:r>
              <a:rPr b="1" i="0" lang="fr" sz="2000" u="none" cap="none" strike="noStrike">
                <a:solidFill>
                  <a:srgbClr val="323232"/>
                </a:solidFill>
                <a:latin typeface="Arial"/>
                <a:ea typeface="Arial"/>
                <a:cs typeface="Arial"/>
                <a:sym typeface="Arial"/>
              </a:rPr>
              <a:t>Traditional approach</a:t>
            </a:r>
            <a:endParaRPr b="0" i="0" sz="2000" u="none" cap="none" strike="noStrike">
              <a:solidFill>
                <a:srgbClr val="595959"/>
              </a:solidFill>
              <a:latin typeface="Arial"/>
              <a:ea typeface="Arial"/>
              <a:cs typeface="Arial"/>
              <a:sym typeface="Arial"/>
            </a:endParaRPr>
          </a:p>
        </p:txBody>
      </p:sp>
      <p:sp>
        <p:nvSpPr>
          <p:cNvPr id="820" name="Google Shape;820;p63"/>
          <p:cNvSpPr txBox="1"/>
          <p:nvPr>
            <p:ph idx="4294967295" type="body"/>
          </p:nvPr>
        </p:nvSpPr>
        <p:spPr>
          <a:xfrm>
            <a:off x="330210" y="1148850"/>
            <a:ext cx="6197850" cy="3629700"/>
          </a:xfrm>
          <a:prstGeom prst="rect">
            <a:avLst/>
          </a:prstGeom>
          <a:noFill/>
          <a:ln>
            <a:noFill/>
          </a:ln>
        </p:spPr>
        <p:txBody>
          <a:bodyPr anchorCtr="0" anchor="t" bIns="0" lIns="0" spcFirstLastPara="1" rIns="0" wrap="square" tIns="0">
            <a:noAutofit/>
          </a:bodyPr>
          <a:lstStyle/>
          <a:p>
            <a:pPr indent="-177800" lvl="1" marL="571500" marR="0" rtl="0" algn="l">
              <a:lnSpc>
                <a:spcPct val="100000"/>
              </a:lnSpc>
              <a:spcBef>
                <a:spcPts val="0"/>
              </a:spcBef>
              <a:spcAft>
                <a:spcPts val="0"/>
              </a:spcAft>
              <a:buClr>
                <a:srgbClr val="323232"/>
              </a:buClr>
              <a:buSzPts val="1400"/>
              <a:buFont typeface="Arial"/>
              <a:buChar char="̶"/>
            </a:pPr>
            <a:r>
              <a:rPr b="0" i="0" lang="fr" sz="1400" u="none" cap="none" strike="noStrike">
                <a:solidFill>
                  <a:srgbClr val="323232"/>
                </a:solidFill>
                <a:latin typeface="Arial"/>
                <a:ea typeface="Arial"/>
                <a:cs typeface="Arial"/>
                <a:sym typeface="Arial"/>
              </a:rPr>
              <a:t>Use a firewall to </a:t>
            </a:r>
            <a:r>
              <a:rPr b="1" i="0" lang="fr" sz="1400" u="none" cap="none" strike="noStrike">
                <a:solidFill>
                  <a:srgbClr val="323232"/>
                </a:solidFill>
                <a:latin typeface="Arial"/>
                <a:ea typeface="Arial"/>
                <a:cs typeface="Arial"/>
                <a:sym typeface="Arial"/>
              </a:rPr>
              <a:t>rate limit UDP</a:t>
            </a:r>
            <a:r>
              <a:rPr b="0" i="0" lang="fr" sz="1400" u="none" cap="none" strike="noStrike">
                <a:solidFill>
                  <a:srgbClr val="323232"/>
                </a:solidFill>
                <a:latin typeface="Arial"/>
                <a:ea typeface="Arial"/>
                <a:cs typeface="Arial"/>
                <a:sym typeface="Arial"/>
              </a:rPr>
              <a:t>, slowing the speed at which data can be transferred but not preventing it from happening</a:t>
            </a:r>
            <a:endParaRPr b="0" i="0" sz="1400" u="none" cap="none" strike="noStrike">
              <a:solidFill>
                <a:srgbClr val="323232"/>
              </a:solidFill>
              <a:latin typeface="Arial"/>
              <a:ea typeface="Arial"/>
              <a:cs typeface="Arial"/>
              <a:sym typeface="Arial"/>
            </a:endParaRPr>
          </a:p>
          <a:p>
            <a:pPr indent="-177800" lvl="1" marL="571500" marR="0" rtl="0" algn="l">
              <a:lnSpc>
                <a:spcPct val="100000"/>
              </a:lnSpc>
              <a:spcBef>
                <a:spcPts val="300"/>
              </a:spcBef>
              <a:spcAft>
                <a:spcPts val="0"/>
              </a:spcAft>
              <a:buClr>
                <a:srgbClr val="323232"/>
              </a:buClr>
              <a:buSzPts val="1400"/>
              <a:buFont typeface="Arial"/>
              <a:buChar char="̶"/>
            </a:pPr>
            <a:r>
              <a:rPr b="1" i="0" lang="fr" sz="1400" u="none" cap="none" strike="noStrike">
                <a:solidFill>
                  <a:srgbClr val="323232"/>
                </a:solidFill>
                <a:latin typeface="Arial"/>
                <a:ea typeface="Arial"/>
                <a:cs typeface="Arial"/>
                <a:sym typeface="Arial"/>
              </a:rPr>
              <a:t>Analyze logs by hand</a:t>
            </a:r>
            <a:r>
              <a:rPr b="0" i="0" lang="fr" sz="1400" u="none" cap="none" strike="noStrike">
                <a:solidFill>
                  <a:srgbClr val="323232"/>
                </a:solidFill>
                <a:latin typeface="Arial"/>
                <a:ea typeface="Arial"/>
                <a:cs typeface="Arial"/>
                <a:sym typeface="Arial"/>
              </a:rPr>
              <a:t> / using a visualization tool to find evidence of tunneling / data exfiltration after it’s happened. Typically achieved by looking for abnormal query types (such as NULL), particular REGEXs and long queries all of the same length. </a:t>
            </a:r>
            <a:endParaRPr b="0" i="0" sz="1400" u="none" cap="none" strike="noStrike">
              <a:solidFill>
                <a:srgbClr val="323232"/>
              </a:solidFill>
              <a:latin typeface="Arial"/>
              <a:ea typeface="Arial"/>
              <a:cs typeface="Arial"/>
              <a:sym typeface="Arial"/>
            </a:endParaRPr>
          </a:p>
          <a:p>
            <a:pPr indent="-177800" lvl="1" marL="571500" marR="0" rtl="0" algn="l">
              <a:lnSpc>
                <a:spcPct val="100000"/>
              </a:lnSpc>
              <a:spcBef>
                <a:spcPts val="300"/>
              </a:spcBef>
              <a:spcAft>
                <a:spcPts val="0"/>
              </a:spcAft>
              <a:buClr>
                <a:srgbClr val="323232"/>
              </a:buClr>
              <a:buSzPts val="1400"/>
              <a:buFont typeface="Arial"/>
              <a:buChar char="̶"/>
            </a:pPr>
            <a:r>
              <a:rPr b="1" i="0" lang="fr" sz="1400" u="none" cap="none" strike="noStrike">
                <a:solidFill>
                  <a:srgbClr val="323232"/>
                </a:solidFill>
                <a:latin typeface="Arial"/>
                <a:ea typeface="Arial"/>
                <a:cs typeface="Arial"/>
                <a:sym typeface="Arial"/>
              </a:rPr>
              <a:t>Tunnel endpoints can then be blocked </a:t>
            </a:r>
            <a:r>
              <a:rPr b="0" i="0" lang="fr" sz="1400" u="none" cap="none" strike="noStrike">
                <a:solidFill>
                  <a:srgbClr val="323232"/>
                </a:solidFill>
                <a:latin typeface="Arial"/>
                <a:ea typeface="Arial"/>
                <a:cs typeface="Arial"/>
                <a:sym typeface="Arial"/>
              </a:rPr>
              <a:t>at the firewall level. Provides protection only if the attacker continues to use the same domain/server in the future.</a:t>
            </a:r>
            <a:endParaRPr b="0" i="0" sz="1400" u="none" cap="none" strike="noStrike">
              <a:solidFill>
                <a:srgbClr val="323232"/>
              </a:solidFill>
              <a:latin typeface="Arial"/>
              <a:ea typeface="Arial"/>
              <a:cs typeface="Arial"/>
              <a:sym typeface="Arial"/>
            </a:endParaRPr>
          </a:p>
          <a:p>
            <a:pPr indent="-177800" lvl="1" marL="571500" marR="0" rtl="0" algn="l">
              <a:lnSpc>
                <a:spcPct val="100000"/>
              </a:lnSpc>
              <a:spcBef>
                <a:spcPts val="300"/>
              </a:spcBef>
              <a:spcAft>
                <a:spcPts val="0"/>
              </a:spcAft>
              <a:buClr>
                <a:srgbClr val="323232"/>
              </a:buClr>
              <a:buSzPts val="1400"/>
              <a:buFont typeface="Arial"/>
              <a:buChar char="̶"/>
            </a:pPr>
            <a:r>
              <a:rPr b="1" i="0" lang="fr" sz="1400" u="none" cap="none" strike="noStrike">
                <a:solidFill>
                  <a:srgbClr val="323232"/>
                </a:solidFill>
                <a:latin typeface="Arial"/>
                <a:ea typeface="Arial"/>
                <a:cs typeface="Arial"/>
                <a:sym typeface="Arial"/>
              </a:rPr>
              <a:t>Manually configure security appliances </a:t>
            </a:r>
            <a:r>
              <a:rPr b="0" i="0" lang="fr" sz="1400" u="none" cap="none" strike="noStrike">
                <a:solidFill>
                  <a:srgbClr val="323232"/>
                </a:solidFill>
                <a:latin typeface="Arial"/>
                <a:ea typeface="Arial"/>
                <a:cs typeface="Arial"/>
                <a:sym typeface="Arial"/>
              </a:rPr>
              <a:t>(such as DDoS mitigation platforms) to block specific REGEXs, query types, long queries etc. Laborious process that risks blocking legitimate software such as anti-virus, that use DNS to check for new signatures, file hashes etc</a:t>
            </a:r>
            <a:endParaRPr b="0" i="0" sz="1400" u="none" cap="none" strike="noStrike">
              <a:solidFill>
                <a:srgbClr val="323232"/>
              </a:solidFill>
              <a:latin typeface="Arial"/>
              <a:ea typeface="Arial"/>
              <a:cs typeface="Arial"/>
              <a:sym typeface="Arial"/>
            </a:endParaRPr>
          </a:p>
          <a:p>
            <a:pPr indent="0" lvl="0" marL="0" marR="0" rtl="0" algn="l">
              <a:lnSpc>
                <a:spcPct val="100000"/>
              </a:lnSpc>
              <a:spcBef>
                <a:spcPts val="300"/>
              </a:spcBef>
              <a:spcAft>
                <a:spcPts val="0"/>
              </a:spcAft>
              <a:buSzPts val="1500"/>
              <a:buFont typeface="Arial"/>
              <a:buNone/>
            </a:pPr>
            <a:r>
              <a:t/>
            </a:r>
            <a:endParaRPr b="0" i="0" sz="1500" u="none" cap="none" strike="noStrike">
              <a:solidFill>
                <a:srgbClr val="323232"/>
              </a:solidFill>
              <a:latin typeface="Arial"/>
              <a:ea typeface="Arial"/>
              <a:cs typeface="Arial"/>
              <a:sym typeface="Arial"/>
            </a:endParaRPr>
          </a:p>
          <a:p>
            <a:pPr indent="0" lvl="0" marL="0" marR="0" rtl="0" algn="l">
              <a:lnSpc>
                <a:spcPct val="100000"/>
              </a:lnSpc>
              <a:spcBef>
                <a:spcPts val="300"/>
              </a:spcBef>
              <a:spcAft>
                <a:spcPts val="0"/>
              </a:spcAft>
              <a:buClr>
                <a:srgbClr val="FF0000"/>
              </a:buClr>
              <a:buSzPts val="1500"/>
              <a:buFont typeface="Arial"/>
              <a:buNone/>
            </a:pPr>
            <a:r>
              <a:rPr b="0" i="0" lang="fr" sz="1500" u="none" cap="none" strike="noStrike">
                <a:solidFill>
                  <a:srgbClr val="FF0000"/>
                </a:solidFill>
                <a:latin typeface="Arial"/>
                <a:ea typeface="Arial"/>
                <a:cs typeface="Arial"/>
                <a:sym typeface="Arial"/>
              </a:rPr>
              <a:t>Ineffective against APTs &amp; software that can be configured to vary query length, query type etc. to avoid detection  </a:t>
            </a:r>
            <a:endParaRPr b="0" i="0" sz="1500" u="none" cap="none" strike="noStrike">
              <a:solidFill>
                <a:srgbClr val="323232"/>
              </a:solidFill>
              <a:latin typeface="Arial"/>
              <a:ea typeface="Arial"/>
              <a:cs typeface="Arial"/>
              <a:sym typeface="Arial"/>
            </a:endParaRPr>
          </a:p>
        </p:txBody>
      </p:sp>
      <p:sp>
        <p:nvSpPr>
          <p:cNvPr id="821" name="Google Shape;821;p63"/>
          <p:cNvSpPr/>
          <p:nvPr/>
        </p:nvSpPr>
        <p:spPr>
          <a:xfrm>
            <a:off x="5108130" y="1841940"/>
            <a:ext cx="4035375" cy="3028950"/>
          </a:xfrm>
          <a:prstGeom prst="rect">
            <a:avLst/>
          </a:prstGeom>
          <a:gradFill>
            <a:gsLst>
              <a:gs pos="0">
                <a:srgbClr val="FFFFFF">
                  <a:alpha val="0"/>
                </a:srgbClr>
              </a:gs>
              <a:gs pos="100000">
                <a:srgbClr val="CCCCCC"/>
              </a:gs>
            </a:gsLst>
            <a:lin ang="0" scaled="0"/>
          </a:gra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822" name="Google Shape;822;p63"/>
          <p:cNvCxnSpPr/>
          <p:nvPr/>
        </p:nvCxnSpPr>
        <p:spPr>
          <a:xfrm rot="10800000">
            <a:off x="7209450" y="3511035"/>
            <a:ext cx="7650" cy="703125"/>
          </a:xfrm>
          <a:prstGeom prst="straightConnector1">
            <a:avLst/>
          </a:prstGeom>
          <a:noFill/>
          <a:ln cap="flat" cmpd="sng" w="9525">
            <a:solidFill>
              <a:srgbClr val="F17930"/>
            </a:solidFill>
            <a:prstDash val="solid"/>
            <a:round/>
            <a:headEnd len="sm" w="sm" type="none"/>
            <a:tailEnd len="med" w="med" type="stealth"/>
          </a:ln>
        </p:spPr>
      </p:cxnSp>
      <p:cxnSp>
        <p:nvCxnSpPr>
          <p:cNvPr id="823" name="Google Shape;823;p63"/>
          <p:cNvCxnSpPr/>
          <p:nvPr/>
        </p:nvCxnSpPr>
        <p:spPr>
          <a:xfrm rot="10800000">
            <a:off x="7209450" y="2256615"/>
            <a:ext cx="7650" cy="703125"/>
          </a:xfrm>
          <a:prstGeom prst="straightConnector1">
            <a:avLst/>
          </a:prstGeom>
          <a:noFill/>
          <a:ln cap="flat" cmpd="sng" w="9525">
            <a:solidFill>
              <a:srgbClr val="F17930"/>
            </a:solidFill>
            <a:prstDash val="solid"/>
            <a:round/>
            <a:headEnd len="sm" w="sm" type="none"/>
            <a:tailEnd len="med" w="med" type="stealth"/>
          </a:ln>
        </p:spPr>
      </p:cxnSp>
      <p:cxnSp>
        <p:nvCxnSpPr>
          <p:cNvPr id="824" name="Google Shape;824;p63"/>
          <p:cNvCxnSpPr/>
          <p:nvPr/>
        </p:nvCxnSpPr>
        <p:spPr>
          <a:xfrm rot="10800000">
            <a:off x="7191630" y="1300275"/>
            <a:ext cx="7650" cy="703125"/>
          </a:xfrm>
          <a:prstGeom prst="straightConnector1">
            <a:avLst/>
          </a:prstGeom>
          <a:noFill/>
          <a:ln cap="flat" cmpd="sng" w="9525">
            <a:solidFill>
              <a:srgbClr val="F17930"/>
            </a:solidFill>
            <a:prstDash val="solid"/>
            <a:round/>
            <a:headEnd len="sm" w="sm" type="none"/>
            <a:tailEnd len="med" w="med" type="stealth"/>
          </a:ln>
        </p:spPr>
      </p:cxnSp>
      <p:cxnSp>
        <p:nvCxnSpPr>
          <p:cNvPr id="825" name="Google Shape;825;p63"/>
          <p:cNvCxnSpPr/>
          <p:nvPr/>
        </p:nvCxnSpPr>
        <p:spPr>
          <a:xfrm>
            <a:off x="5634630" y="1841940"/>
            <a:ext cx="3509550" cy="225"/>
          </a:xfrm>
          <a:prstGeom prst="straightConnector1">
            <a:avLst/>
          </a:prstGeom>
          <a:noFill/>
          <a:ln cap="flat" cmpd="sng" w="12700">
            <a:solidFill>
              <a:srgbClr val="FFFFFF">
                <a:alpha val="0"/>
              </a:srgbClr>
            </a:solidFill>
            <a:prstDash val="dash"/>
            <a:round/>
            <a:headEnd len="sm" w="sm" type="none"/>
            <a:tailEnd len="sm" w="sm" type="none"/>
          </a:ln>
        </p:spPr>
      </p:cxnSp>
      <p:sp>
        <p:nvSpPr>
          <p:cNvPr id="826" name="Google Shape;826;p63"/>
          <p:cNvSpPr/>
          <p:nvPr/>
        </p:nvSpPr>
        <p:spPr>
          <a:xfrm>
            <a:off x="8071920" y="1300590"/>
            <a:ext cx="1079100" cy="541350"/>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rgbClr val="323232"/>
                </a:solidFill>
                <a:latin typeface="Arial"/>
                <a:ea typeface="Arial"/>
                <a:cs typeface="Arial"/>
                <a:sym typeface="Arial"/>
              </a:rPr>
              <a:t>INTERNET</a:t>
            </a:r>
            <a:endParaRPr b="0" i="0" sz="1000" u="none" cap="none" strike="noStrike">
              <a:solidFill>
                <a:srgbClr val="000000"/>
              </a:solidFill>
              <a:latin typeface="Arial"/>
              <a:ea typeface="Arial"/>
              <a:cs typeface="Arial"/>
              <a:sym typeface="Arial"/>
            </a:endParaRPr>
          </a:p>
        </p:txBody>
      </p:sp>
      <p:sp>
        <p:nvSpPr>
          <p:cNvPr id="827" name="Google Shape;827;p63"/>
          <p:cNvSpPr/>
          <p:nvPr/>
        </p:nvSpPr>
        <p:spPr>
          <a:xfrm>
            <a:off x="8008470" y="1841940"/>
            <a:ext cx="1167975" cy="5591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rgbClr val="323232"/>
                </a:solidFill>
                <a:latin typeface="Arial"/>
                <a:ea typeface="Arial"/>
                <a:cs typeface="Arial"/>
                <a:sym typeface="Arial"/>
              </a:rPr>
              <a:t>ENTERPRISE</a:t>
            </a:r>
            <a:endParaRPr b="0" i="0" sz="1000" u="none" cap="none" strike="noStrike">
              <a:solidFill>
                <a:srgbClr val="000000"/>
              </a:solidFill>
              <a:latin typeface="Arial"/>
              <a:ea typeface="Arial"/>
              <a:cs typeface="Arial"/>
              <a:sym typeface="Arial"/>
            </a:endParaRPr>
          </a:p>
        </p:txBody>
      </p:sp>
      <p:sp>
        <p:nvSpPr>
          <p:cNvPr id="828" name="Google Shape;828;p63"/>
          <p:cNvSpPr/>
          <p:nvPr/>
        </p:nvSpPr>
        <p:spPr>
          <a:xfrm>
            <a:off x="7796520" y="3851820"/>
            <a:ext cx="2407050" cy="4187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accent1"/>
                </a:solidFill>
                <a:latin typeface="Arial"/>
                <a:ea typeface="Arial"/>
                <a:cs typeface="Arial"/>
                <a:sym typeface="Arial"/>
              </a:rPr>
              <a:t>Client-side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accent1"/>
                </a:solidFill>
                <a:latin typeface="Arial"/>
                <a:ea typeface="Arial"/>
                <a:cs typeface="Arial"/>
                <a:sym typeface="Arial"/>
              </a:rPr>
              <a:t>tunnel program</a:t>
            </a:r>
            <a:endParaRPr b="0" i="0" sz="1200" u="none" cap="none" strike="noStrike">
              <a:solidFill>
                <a:srgbClr val="000000"/>
              </a:solidFill>
              <a:latin typeface="Arial"/>
              <a:ea typeface="Arial"/>
              <a:cs typeface="Arial"/>
              <a:sym typeface="Arial"/>
            </a:endParaRPr>
          </a:p>
        </p:txBody>
      </p:sp>
      <p:sp>
        <p:nvSpPr>
          <p:cNvPr id="829" name="Google Shape;829;p63"/>
          <p:cNvSpPr/>
          <p:nvPr/>
        </p:nvSpPr>
        <p:spPr>
          <a:xfrm>
            <a:off x="7588080" y="2741850"/>
            <a:ext cx="2407050" cy="4187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accent1"/>
                </a:solidFill>
                <a:latin typeface="Arial"/>
                <a:ea typeface="Arial"/>
                <a:cs typeface="Arial"/>
                <a:sym typeface="Arial"/>
              </a:rPr>
              <a:t>DNS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accent1"/>
                </a:solidFill>
                <a:latin typeface="Arial"/>
                <a:ea typeface="Arial"/>
                <a:cs typeface="Arial"/>
                <a:sym typeface="Arial"/>
              </a:rPr>
              <a:t>server </a:t>
            </a:r>
            <a:endParaRPr b="0" i="0" sz="1200" u="none" cap="none" strike="noStrike">
              <a:solidFill>
                <a:srgbClr val="000000"/>
              </a:solidFill>
              <a:latin typeface="Arial"/>
              <a:ea typeface="Arial"/>
              <a:cs typeface="Arial"/>
              <a:sym typeface="Arial"/>
            </a:endParaRPr>
          </a:p>
        </p:txBody>
      </p:sp>
      <p:pic>
        <p:nvPicPr>
          <p:cNvPr id="830" name="Google Shape;830;p63"/>
          <p:cNvPicPr preferRelativeResize="0"/>
          <p:nvPr/>
        </p:nvPicPr>
        <p:blipFill rotWithShape="1">
          <a:blip r:embed="rId3">
            <a:alphaModFix/>
          </a:blip>
          <a:srcRect b="0" l="0" r="0" t="0"/>
          <a:stretch/>
        </p:blipFill>
        <p:spPr>
          <a:xfrm>
            <a:off x="6675480" y="1440450"/>
            <a:ext cx="1002780" cy="1002780"/>
          </a:xfrm>
          <a:prstGeom prst="rect">
            <a:avLst/>
          </a:prstGeom>
          <a:noFill/>
          <a:ln>
            <a:noFill/>
          </a:ln>
        </p:spPr>
      </p:pic>
      <p:pic>
        <p:nvPicPr>
          <p:cNvPr id="831" name="Google Shape;831;p63"/>
          <p:cNvPicPr preferRelativeResize="0"/>
          <p:nvPr/>
        </p:nvPicPr>
        <p:blipFill rotWithShape="1">
          <a:blip r:embed="rId4">
            <a:alphaModFix/>
          </a:blip>
          <a:srcRect b="0" l="0" r="0" t="0"/>
          <a:stretch/>
        </p:blipFill>
        <p:spPr>
          <a:xfrm>
            <a:off x="6758370" y="2595510"/>
            <a:ext cx="903690" cy="903690"/>
          </a:xfrm>
          <a:prstGeom prst="rect">
            <a:avLst/>
          </a:prstGeom>
          <a:noFill/>
          <a:ln>
            <a:noFill/>
          </a:ln>
        </p:spPr>
      </p:pic>
      <p:pic>
        <p:nvPicPr>
          <p:cNvPr id="832" name="Google Shape;832;p63"/>
          <p:cNvPicPr preferRelativeResize="0"/>
          <p:nvPr/>
        </p:nvPicPr>
        <p:blipFill rotWithShape="1">
          <a:blip r:embed="rId5">
            <a:alphaModFix/>
          </a:blip>
          <a:srcRect b="0" l="0" r="0" t="0"/>
          <a:stretch/>
        </p:blipFill>
        <p:spPr>
          <a:xfrm>
            <a:off x="6665490" y="3642840"/>
            <a:ext cx="1135621" cy="1135621"/>
          </a:xfrm>
          <a:prstGeom prst="rect">
            <a:avLst/>
          </a:prstGeom>
          <a:noFill/>
          <a:ln>
            <a:noFill/>
          </a:ln>
        </p:spPr>
      </p:pic>
      <p:sp>
        <p:nvSpPr>
          <p:cNvPr id="833" name="Google Shape;833;p63"/>
          <p:cNvSpPr/>
          <p:nvPr/>
        </p:nvSpPr>
        <p:spPr>
          <a:xfrm>
            <a:off x="7734420" y="814860"/>
            <a:ext cx="2407050" cy="418725"/>
          </a:xfrm>
          <a:prstGeom prst="rect">
            <a:avLst/>
          </a:prstGeom>
          <a:no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chemeClr val="accent1"/>
                </a:solidFill>
                <a:latin typeface="Arial"/>
                <a:ea typeface="Arial"/>
                <a:cs typeface="Arial"/>
                <a:sym typeface="Arial"/>
              </a:rPr>
              <a:t>Internet</a:t>
            </a:r>
            <a:endParaRPr b="0" i="0" sz="1200" u="none" cap="none" strike="noStrike">
              <a:solidFill>
                <a:srgbClr val="000000"/>
              </a:solidFill>
              <a:latin typeface="Arial"/>
              <a:ea typeface="Arial"/>
              <a:cs typeface="Arial"/>
              <a:sym typeface="Arial"/>
            </a:endParaRPr>
          </a:p>
        </p:txBody>
      </p:sp>
      <p:pic>
        <p:nvPicPr>
          <p:cNvPr id="834" name="Google Shape;834;p63"/>
          <p:cNvPicPr preferRelativeResize="0"/>
          <p:nvPr/>
        </p:nvPicPr>
        <p:blipFill rotWithShape="1">
          <a:blip r:embed="rId6">
            <a:alphaModFix/>
          </a:blip>
          <a:srcRect b="0" l="0" r="0" t="0"/>
          <a:stretch/>
        </p:blipFill>
        <p:spPr>
          <a:xfrm>
            <a:off x="6777205" y="633994"/>
            <a:ext cx="806456" cy="806456"/>
          </a:xfrm>
          <a:prstGeom prst="rect">
            <a:avLst/>
          </a:prstGeom>
          <a:noFill/>
          <a:ln>
            <a:noFill/>
          </a:ln>
        </p:spPr>
      </p:pic>
      <p:sp>
        <p:nvSpPr>
          <p:cNvPr id="835" name="Google Shape;835;p63"/>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2800">
                <a:solidFill>
                  <a:srgbClr val="434343"/>
                </a:solidFill>
                <a:latin typeface="Helvetica Neue"/>
                <a:ea typeface="Helvetica Neue"/>
                <a:cs typeface="Helvetica Neue"/>
                <a:sym typeface="Helvetica Neue"/>
              </a:rPr>
              <a:t>Detecting DNS Tunnels &amp; Data Exfiltration</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8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64"/>
          <p:cNvSpPr/>
          <p:nvPr/>
        </p:nvSpPr>
        <p:spPr>
          <a:xfrm>
            <a:off x="330210" y="1077840"/>
            <a:ext cx="5631075" cy="3199500"/>
          </a:xfrm>
          <a:prstGeom prst="rect">
            <a:avLst/>
          </a:prstGeom>
          <a:noFill/>
          <a:ln>
            <a:noFill/>
          </a:ln>
        </p:spPr>
        <p:txBody>
          <a:bodyPr anchorCtr="0" anchor="t" bIns="33750" lIns="67500" spcFirstLastPara="1" rIns="67500" wrap="square" tIns="33750">
            <a:noAutofit/>
          </a:bodyPr>
          <a:lstStyle/>
          <a:p>
            <a:pPr indent="-355600" lvl="0" marL="457200" marR="0" rtl="0" algn="l">
              <a:lnSpc>
                <a:spcPct val="100000"/>
              </a:lnSpc>
              <a:spcBef>
                <a:spcPts val="400"/>
              </a:spcBef>
              <a:spcAft>
                <a:spcPts val="0"/>
              </a:spcAft>
              <a:buClr>
                <a:srgbClr val="323232"/>
              </a:buClr>
              <a:buSzPts val="2000"/>
              <a:buFont typeface="Arial"/>
              <a:buChar char="•"/>
            </a:pPr>
            <a:r>
              <a:rPr b="0" i="0" lang="fr" sz="2000" u="none" cap="none" strike="noStrike">
                <a:solidFill>
                  <a:srgbClr val="323232"/>
                </a:solidFill>
                <a:latin typeface="Arial"/>
                <a:ea typeface="Arial"/>
                <a:cs typeface="Arial"/>
                <a:sym typeface="Arial"/>
              </a:rPr>
              <a:t>Like a firewall it implements a security policy (called RPZ – Response Policy Zone)</a:t>
            </a:r>
            <a:endParaRPr b="0" i="0" sz="20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323232"/>
              </a:buClr>
              <a:buSzPts val="2000"/>
              <a:buFont typeface="Arial"/>
              <a:buChar char="•"/>
            </a:pPr>
            <a:r>
              <a:rPr b="0" i="0" lang="fr" sz="2000" u="none" cap="none" strike="noStrike">
                <a:solidFill>
                  <a:srgbClr val="323232"/>
                </a:solidFill>
                <a:latin typeface="Arial"/>
                <a:ea typeface="Arial"/>
                <a:cs typeface="Arial"/>
                <a:sym typeface="Arial"/>
              </a:rPr>
              <a:t>Has triggers:</a:t>
            </a:r>
            <a:endParaRPr b="0" i="0" sz="2000" u="none" cap="none" strike="noStrike">
              <a:solidFill>
                <a:srgbClr val="000000"/>
              </a:solidFill>
              <a:latin typeface="Arial"/>
              <a:ea typeface="Arial"/>
              <a:cs typeface="Arial"/>
              <a:sym typeface="Arial"/>
            </a:endParaRPr>
          </a:p>
          <a:p>
            <a:pPr indent="-355600" lvl="1" marL="914400" marR="0" rtl="0" algn="l">
              <a:lnSpc>
                <a:spcPct val="100000"/>
              </a:lnSpc>
              <a:spcBef>
                <a:spcPts val="0"/>
              </a:spcBef>
              <a:spcAft>
                <a:spcPts val="0"/>
              </a:spcAft>
              <a:buClr>
                <a:srgbClr val="323232"/>
              </a:buClr>
              <a:buSzPts val="2000"/>
              <a:buFont typeface="Arial"/>
              <a:buChar char="̶"/>
            </a:pPr>
            <a:r>
              <a:rPr b="0" i="0" lang="fr" sz="1500" u="none" cap="none" strike="noStrike">
                <a:solidFill>
                  <a:srgbClr val="323232"/>
                </a:solidFill>
                <a:latin typeface="Arial"/>
                <a:ea typeface="Arial"/>
                <a:cs typeface="Arial"/>
                <a:sym typeface="Arial"/>
              </a:rPr>
              <a:t>Queried domain name</a:t>
            </a:r>
            <a:endParaRPr b="0" i="0" sz="1500" u="none" cap="none" strike="noStrike">
              <a:solidFill>
                <a:srgbClr val="000000"/>
              </a:solidFill>
              <a:latin typeface="Arial"/>
              <a:ea typeface="Arial"/>
              <a:cs typeface="Arial"/>
              <a:sym typeface="Arial"/>
            </a:endParaRPr>
          </a:p>
          <a:p>
            <a:pPr indent="-355600" lvl="1" marL="914400" marR="0" rtl="0" algn="l">
              <a:lnSpc>
                <a:spcPct val="100000"/>
              </a:lnSpc>
              <a:spcBef>
                <a:spcPts val="0"/>
              </a:spcBef>
              <a:spcAft>
                <a:spcPts val="0"/>
              </a:spcAft>
              <a:buClr>
                <a:srgbClr val="323232"/>
              </a:buClr>
              <a:buSzPts val="2000"/>
              <a:buFont typeface="Arial"/>
              <a:buChar char="̶"/>
            </a:pPr>
            <a:r>
              <a:rPr b="0" i="0" lang="fr" sz="1500" u="none" cap="none" strike="noStrike">
                <a:solidFill>
                  <a:srgbClr val="323232"/>
                </a:solidFill>
                <a:latin typeface="Arial"/>
                <a:ea typeface="Arial"/>
                <a:cs typeface="Arial"/>
                <a:sym typeface="Arial"/>
              </a:rPr>
              <a:t>IP address in response</a:t>
            </a:r>
            <a:endParaRPr b="0" i="0" sz="1500" u="none" cap="none" strike="noStrike">
              <a:solidFill>
                <a:srgbClr val="000000"/>
              </a:solidFill>
              <a:latin typeface="Arial"/>
              <a:ea typeface="Arial"/>
              <a:cs typeface="Arial"/>
              <a:sym typeface="Arial"/>
            </a:endParaRPr>
          </a:p>
          <a:p>
            <a:pPr indent="-355600" lvl="1" marL="914400" marR="0" rtl="0" algn="l">
              <a:lnSpc>
                <a:spcPct val="100000"/>
              </a:lnSpc>
              <a:spcBef>
                <a:spcPts val="0"/>
              </a:spcBef>
              <a:spcAft>
                <a:spcPts val="0"/>
              </a:spcAft>
              <a:buClr>
                <a:srgbClr val="323232"/>
              </a:buClr>
              <a:buSzPts val="2000"/>
              <a:buFont typeface="Arial"/>
              <a:buChar char="̶"/>
            </a:pPr>
            <a:r>
              <a:rPr b="0" i="0" lang="fr" sz="1500" u="none" cap="none" strike="noStrike">
                <a:solidFill>
                  <a:srgbClr val="000000"/>
                </a:solidFill>
                <a:latin typeface="Arial"/>
                <a:ea typeface="Arial"/>
                <a:cs typeface="Arial"/>
                <a:sym typeface="Arial"/>
              </a:rPr>
              <a:t>I</a:t>
            </a:r>
            <a:r>
              <a:rPr b="0" i="0" lang="fr" sz="1500" u="none" cap="none" strike="noStrike">
                <a:solidFill>
                  <a:srgbClr val="323232"/>
                </a:solidFill>
                <a:latin typeface="Arial"/>
                <a:ea typeface="Arial"/>
                <a:cs typeface="Arial"/>
                <a:sym typeface="Arial"/>
              </a:rPr>
              <a:t>P address of querying client</a:t>
            </a:r>
            <a:endParaRPr b="0" i="0" sz="15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323232"/>
              </a:buClr>
              <a:buSzPts val="2000"/>
              <a:buFont typeface="Arial"/>
              <a:buChar char="•"/>
            </a:pPr>
            <a:r>
              <a:rPr b="0" i="0" lang="fr" sz="1800" u="none" cap="none" strike="noStrike">
                <a:solidFill>
                  <a:srgbClr val="323232"/>
                </a:solidFill>
                <a:latin typeface="Arial"/>
                <a:ea typeface="Arial"/>
                <a:cs typeface="Arial"/>
                <a:sym typeface="Arial"/>
              </a:rPr>
              <a:t>And actions:</a:t>
            </a:r>
            <a:endParaRPr b="0" i="0" sz="1800" u="none" cap="none" strike="noStrike">
              <a:solidFill>
                <a:srgbClr val="000000"/>
              </a:solidFill>
              <a:latin typeface="Arial"/>
              <a:ea typeface="Arial"/>
              <a:cs typeface="Arial"/>
              <a:sym typeface="Arial"/>
            </a:endParaRPr>
          </a:p>
          <a:p>
            <a:pPr indent="-355600" lvl="1" marL="914400" marR="0" rtl="0" algn="l">
              <a:lnSpc>
                <a:spcPct val="100000"/>
              </a:lnSpc>
              <a:spcBef>
                <a:spcPts val="0"/>
              </a:spcBef>
              <a:spcAft>
                <a:spcPts val="0"/>
              </a:spcAft>
              <a:buClr>
                <a:srgbClr val="323232"/>
              </a:buClr>
              <a:buSzPts val="2000"/>
              <a:buFont typeface="Arial"/>
              <a:buChar char="̶"/>
            </a:pPr>
            <a:r>
              <a:rPr b="0" i="0" lang="fr" sz="1500" u="none" cap="none" strike="noStrike">
                <a:solidFill>
                  <a:srgbClr val="323232"/>
                </a:solidFill>
                <a:latin typeface="Arial"/>
                <a:ea typeface="Arial"/>
                <a:cs typeface="Arial"/>
                <a:sym typeface="Arial"/>
              </a:rPr>
              <a:t>Reject (NXdomain)</a:t>
            </a:r>
            <a:endParaRPr b="0" i="0" sz="1500" u="none" cap="none" strike="noStrike">
              <a:solidFill>
                <a:srgbClr val="000000"/>
              </a:solidFill>
              <a:latin typeface="Arial"/>
              <a:ea typeface="Arial"/>
              <a:cs typeface="Arial"/>
              <a:sym typeface="Arial"/>
            </a:endParaRPr>
          </a:p>
          <a:p>
            <a:pPr indent="-355600" lvl="1" marL="914400" marR="0" rtl="0" algn="l">
              <a:lnSpc>
                <a:spcPct val="100000"/>
              </a:lnSpc>
              <a:spcBef>
                <a:spcPts val="0"/>
              </a:spcBef>
              <a:spcAft>
                <a:spcPts val="0"/>
              </a:spcAft>
              <a:buClr>
                <a:srgbClr val="323232"/>
              </a:buClr>
              <a:buSzPts val="2000"/>
              <a:buFont typeface="Arial"/>
              <a:buChar char="̶"/>
            </a:pPr>
            <a:r>
              <a:rPr b="0" i="0" lang="fr" sz="1500" u="none" cap="none" strike="noStrike">
                <a:solidFill>
                  <a:srgbClr val="323232"/>
                </a:solidFill>
                <a:latin typeface="Arial"/>
                <a:ea typeface="Arial"/>
                <a:cs typeface="Arial"/>
                <a:sym typeface="Arial"/>
              </a:rPr>
              <a:t>Block (no data)</a:t>
            </a:r>
            <a:endParaRPr b="0" i="0" sz="1500" u="none" cap="none" strike="noStrike">
              <a:solidFill>
                <a:srgbClr val="000000"/>
              </a:solidFill>
              <a:latin typeface="Arial"/>
              <a:ea typeface="Arial"/>
              <a:cs typeface="Arial"/>
              <a:sym typeface="Arial"/>
            </a:endParaRPr>
          </a:p>
          <a:p>
            <a:pPr indent="-355600" lvl="1" marL="914400" marR="0" rtl="0" algn="l">
              <a:lnSpc>
                <a:spcPct val="100000"/>
              </a:lnSpc>
              <a:spcBef>
                <a:spcPts val="0"/>
              </a:spcBef>
              <a:spcAft>
                <a:spcPts val="0"/>
              </a:spcAft>
              <a:buClr>
                <a:srgbClr val="323232"/>
              </a:buClr>
              <a:buSzPts val="2000"/>
              <a:buFont typeface="Arial"/>
              <a:buChar char="̶"/>
            </a:pPr>
            <a:r>
              <a:rPr b="0" i="0" lang="fr" sz="1500" u="none" cap="none" strike="noStrike">
                <a:solidFill>
                  <a:srgbClr val="323232"/>
                </a:solidFill>
                <a:latin typeface="Arial"/>
                <a:ea typeface="Arial"/>
                <a:cs typeface="Arial"/>
                <a:sym typeface="Arial"/>
              </a:rPr>
              <a:t>Redirect</a:t>
            </a:r>
            <a:endParaRPr b="0" i="0" sz="1500" u="none" cap="none" strike="noStrike">
              <a:solidFill>
                <a:srgbClr val="000000"/>
              </a:solidFill>
              <a:latin typeface="Arial"/>
              <a:ea typeface="Arial"/>
              <a:cs typeface="Arial"/>
              <a:sym typeface="Arial"/>
            </a:endParaRPr>
          </a:p>
          <a:p>
            <a:pPr indent="-355600" lvl="1" marL="914400" marR="0" rtl="0" algn="l">
              <a:lnSpc>
                <a:spcPct val="100000"/>
              </a:lnSpc>
              <a:spcBef>
                <a:spcPts val="0"/>
              </a:spcBef>
              <a:spcAft>
                <a:spcPts val="0"/>
              </a:spcAft>
              <a:buClr>
                <a:srgbClr val="323232"/>
              </a:buClr>
              <a:buSzPts val="2000"/>
              <a:buFont typeface="Arial"/>
              <a:buChar char="̶"/>
            </a:pPr>
            <a:r>
              <a:rPr b="0" i="0" lang="fr" sz="1500" u="none" cap="none" strike="noStrike">
                <a:solidFill>
                  <a:srgbClr val="323232"/>
                </a:solidFill>
                <a:latin typeface="Arial"/>
                <a:ea typeface="Arial"/>
                <a:cs typeface="Arial"/>
                <a:sym typeface="Arial"/>
              </a:rPr>
              <a:t>Passthrough and log</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descr="DNS Firewall.eps" id="842" name="Google Shape;842;p64"/>
          <p:cNvPicPr preferRelativeResize="0"/>
          <p:nvPr/>
        </p:nvPicPr>
        <p:blipFill rotWithShape="1">
          <a:blip r:embed="rId3">
            <a:alphaModFix/>
          </a:blip>
          <a:srcRect b="0" l="0" r="0" t="0"/>
          <a:stretch/>
        </p:blipFill>
        <p:spPr>
          <a:xfrm>
            <a:off x="6118200" y="1700460"/>
            <a:ext cx="2179980" cy="1949400"/>
          </a:xfrm>
          <a:prstGeom prst="rect">
            <a:avLst/>
          </a:prstGeom>
          <a:noFill/>
          <a:ln>
            <a:noFill/>
          </a:ln>
        </p:spPr>
      </p:pic>
      <p:sp>
        <p:nvSpPr>
          <p:cNvPr id="843" name="Google Shape;843;p64"/>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DNS Firewall</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8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65"/>
          <p:cNvSpPr txBox="1"/>
          <p:nvPr>
            <p:ph idx="4294967295" type="subTitle"/>
          </p:nvPr>
        </p:nvSpPr>
        <p:spPr>
          <a:xfrm>
            <a:off x="333450" y="753690"/>
            <a:ext cx="8372400" cy="321600"/>
          </a:xfrm>
          <a:prstGeom prst="rect">
            <a:avLst/>
          </a:prstGeom>
          <a:noFill/>
          <a:ln>
            <a:noFill/>
          </a:ln>
        </p:spPr>
        <p:txBody>
          <a:bodyPr anchorCtr="0" anchor="t" bIns="33750" lIns="0" spcFirstLastPara="1" rIns="67500" wrap="square" tIns="33750">
            <a:noAutofit/>
          </a:bodyPr>
          <a:lstStyle/>
          <a:p>
            <a:pPr indent="0" lvl="0" marL="0" marR="0" rtl="0" algn="l">
              <a:lnSpc>
                <a:spcPct val="100000"/>
              </a:lnSpc>
              <a:spcBef>
                <a:spcPts val="0"/>
              </a:spcBef>
              <a:spcAft>
                <a:spcPts val="0"/>
              </a:spcAft>
              <a:buClr>
                <a:srgbClr val="595959"/>
              </a:buClr>
              <a:buSzPts val="1100"/>
              <a:buFont typeface="Arial"/>
              <a:buNone/>
            </a:pPr>
            <a:r>
              <a:rPr b="1" i="0" lang="fr" sz="2000" u="none" cap="none" strike="noStrike">
                <a:solidFill>
                  <a:srgbClr val="323232"/>
                </a:solidFill>
                <a:latin typeface="Arial"/>
                <a:ea typeface="Arial"/>
                <a:cs typeface="Arial"/>
                <a:sym typeface="Arial"/>
              </a:rPr>
              <a:t>DNS Firewall approach (vendor based solutions)</a:t>
            </a:r>
            <a:endParaRPr b="0" i="0" sz="2000" u="none" cap="none" strike="noStrike">
              <a:solidFill>
                <a:srgbClr val="595959"/>
              </a:solidFill>
              <a:latin typeface="Arial"/>
              <a:ea typeface="Arial"/>
              <a:cs typeface="Arial"/>
              <a:sym typeface="Arial"/>
            </a:endParaRPr>
          </a:p>
        </p:txBody>
      </p:sp>
      <p:sp>
        <p:nvSpPr>
          <p:cNvPr id="850" name="Google Shape;850;p65"/>
          <p:cNvSpPr/>
          <p:nvPr/>
        </p:nvSpPr>
        <p:spPr>
          <a:xfrm>
            <a:off x="6149790" y="1323810"/>
            <a:ext cx="2649825" cy="3323475"/>
          </a:xfrm>
          <a:prstGeom prst="roundRect">
            <a:avLst>
              <a:gd fmla="val 3186" name="adj"/>
            </a:avLst>
          </a:prstGeom>
          <a:solidFill>
            <a:schemeClr val="accent2"/>
          </a:solidFill>
          <a:ln>
            <a:noFill/>
          </a:ln>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1" name="Google Shape;851;p65"/>
          <p:cNvSpPr/>
          <p:nvPr/>
        </p:nvSpPr>
        <p:spPr>
          <a:xfrm>
            <a:off x="328590" y="1301400"/>
            <a:ext cx="2649825" cy="3323475"/>
          </a:xfrm>
          <a:prstGeom prst="roundRect">
            <a:avLst>
              <a:gd fmla="val 4012" name="adj"/>
            </a:avLst>
          </a:prstGeom>
          <a:solidFill>
            <a:srgbClr val="1C6BCA"/>
          </a:solidFill>
          <a:ln>
            <a:noFill/>
          </a:ln>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2" name="Google Shape;852;p65"/>
          <p:cNvSpPr/>
          <p:nvPr/>
        </p:nvSpPr>
        <p:spPr>
          <a:xfrm>
            <a:off x="3244860" y="1301400"/>
            <a:ext cx="2649825" cy="3323475"/>
          </a:xfrm>
          <a:prstGeom prst="roundRect">
            <a:avLst>
              <a:gd fmla="val 4013" name="adj"/>
            </a:avLst>
          </a:prstGeom>
          <a:solidFill>
            <a:schemeClr val="dk2"/>
          </a:solidFill>
          <a:ln>
            <a:noFill/>
          </a:ln>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3" name="Google Shape;853;p65"/>
          <p:cNvSpPr/>
          <p:nvPr/>
        </p:nvSpPr>
        <p:spPr>
          <a:xfrm>
            <a:off x="6345000" y="3058560"/>
            <a:ext cx="2262150" cy="1683225"/>
          </a:xfrm>
          <a:prstGeom prst="rect">
            <a:avLst/>
          </a:prstGeom>
          <a:noFill/>
          <a:ln>
            <a:noFill/>
          </a:ln>
          <a:effectLst>
            <a:outerShdw blurRad="39960" rotWithShape="0" dir="5400000" dist="23040">
              <a:srgbClr val="000000">
                <a:alpha val="34510"/>
              </a:srgbClr>
            </a:outerShdw>
          </a:effectLst>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lt1"/>
                </a:solidFill>
                <a:latin typeface="Arial"/>
                <a:ea typeface="Arial"/>
                <a:cs typeface="Arial"/>
                <a:sym typeface="Arial"/>
              </a:rPr>
              <a:t>Use </a:t>
            </a:r>
            <a:r>
              <a:rPr b="1" i="0" lang="fr" sz="1400" u="none" cap="none" strike="noStrike">
                <a:solidFill>
                  <a:schemeClr val="lt1"/>
                </a:solidFill>
                <a:latin typeface="Arial"/>
                <a:ea typeface="Arial"/>
                <a:cs typeface="Arial"/>
                <a:sym typeface="Arial"/>
              </a:rPr>
              <a:t>DNS heuristics </a:t>
            </a:r>
            <a:r>
              <a:rPr b="0" i="0" lang="fr" sz="1400" u="none" cap="none" strike="noStrike">
                <a:solidFill>
                  <a:schemeClr val="lt1"/>
                </a:solidFill>
                <a:latin typeface="Arial"/>
                <a:ea typeface="Arial"/>
                <a:cs typeface="Arial"/>
                <a:sym typeface="Arial"/>
              </a:rPr>
              <a:t>to detect and block zero day data exfiltration, using real-time streaming analytics to mitigate against previously unseen code</a:t>
            </a:r>
            <a:endParaRPr b="0" i="0" sz="1400" u="none" cap="none" strike="noStrike">
              <a:solidFill>
                <a:srgbClr val="000000"/>
              </a:solidFill>
              <a:latin typeface="Arial"/>
              <a:ea typeface="Arial"/>
              <a:cs typeface="Arial"/>
              <a:sym typeface="Arial"/>
            </a:endParaRPr>
          </a:p>
        </p:txBody>
      </p:sp>
      <p:sp>
        <p:nvSpPr>
          <p:cNvPr id="854" name="Google Shape;854;p65"/>
          <p:cNvSpPr/>
          <p:nvPr/>
        </p:nvSpPr>
        <p:spPr>
          <a:xfrm>
            <a:off x="3407670" y="3029130"/>
            <a:ext cx="2272275" cy="1459350"/>
          </a:xfrm>
          <a:prstGeom prst="rect">
            <a:avLst/>
          </a:prstGeom>
          <a:noFill/>
          <a:ln>
            <a:noFill/>
          </a:ln>
          <a:effectLst>
            <a:outerShdw blurRad="39960" rotWithShape="0" dir="5400000" dist="23040">
              <a:srgbClr val="000000">
                <a:alpha val="34510"/>
              </a:srgbClr>
            </a:outerShdw>
          </a:effectLst>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lt1"/>
                </a:solidFill>
                <a:latin typeface="Arial"/>
                <a:ea typeface="Arial"/>
                <a:cs typeface="Arial"/>
                <a:sym typeface="Arial"/>
              </a:rPr>
              <a:t>Use </a:t>
            </a:r>
            <a:r>
              <a:rPr b="1" i="0" lang="fr" sz="1400" u="none" cap="none" strike="noStrike">
                <a:solidFill>
                  <a:schemeClr val="lt1"/>
                </a:solidFill>
                <a:latin typeface="Arial"/>
                <a:ea typeface="Arial"/>
                <a:cs typeface="Arial"/>
                <a:sym typeface="Arial"/>
              </a:rPr>
              <a:t>DNS Firewall </a:t>
            </a:r>
            <a:r>
              <a:rPr b="0" i="0" lang="fr" sz="1400" u="none" cap="none" strike="noStrike">
                <a:solidFill>
                  <a:schemeClr val="lt1"/>
                </a:solidFill>
                <a:latin typeface="Arial"/>
                <a:ea typeface="Arial"/>
                <a:cs typeface="Arial"/>
                <a:sym typeface="Arial"/>
              </a:rPr>
              <a:t>to automatically block known tunnel, C2 and data exfiltration endpoints and newly registered domains with Vendor backed database</a:t>
            </a:r>
            <a:endParaRPr b="0" i="0" sz="1400" u="none" cap="none" strike="noStrike">
              <a:solidFill>
                <a:srgbClr val="000000"/>
              </a:solidFill>
              <a:latin typeface="Arial"/>
              <a:ea typeface="Arial"/>
              <a:cs typeface="Arial"/>
              <a:sym typeface="Arial"/>
            </a:endParaRPr>
          </a:p>
        </p:txBody>
      </p:sp>
      <p:sp>
        <p:nvSpPr>
          <p:cNvPr id="855" name="Google Shape;855;p65"/>
          <p:cNvSpPr/>
          <p:nvPr/>
        </p:nvSpPr>
        <p:spPr>
          <a:xfrm>
            <a:off x="507330" y="3055050"/>
            <a:ext cx="2285100" cy="1511550"/>
          </a:xfrm>
          <a:prstGeom prst="rect">
            <a:avLst/>
          </a:prstGeom>
          <a:noFill/>
          <a:ln>
            <a:noFill/>
          </a:ln>
          <a:effectLst>
            <a:outerShdw blurRad="39960" rotWithShape="0" dir="5400000" dist="23040">
              <a:srgbClr val="000000">
                <a:alpha val="34510"/>
              </a:srgbClr>
            </a:outerShdw>
          </a:effectLst>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lt1"/>
                </a:solidFill>
                <a:latin typeface="Arial"/>
                <a:ea typeface="Arial"/>
                <a:cs typeface="Arial"/>
                <a:sym typeface="Arial"/>
              </a:rPr>
              <a:t>Use </a:t>
            </a:r>
            <a:r>
              <a:rPr b="1" i="0" lang="fr" sz="1400" u="none" cap="none" strike="noStrike">
                <a:solidFill>
                  <a:schemeClr val="lt1"/>
                </a:solidFill>
                <a:latin typeface="Arial"/>
                <a:ea typeface="Arial"/>
                <a:cs typeface="Arial"/>
                <a:sym typeface="Arial"/>
              </a:rPr>
              <a:t>algorithms </a:t>
            </a:r>
            <a:r>
              <a:rPr b="0" i="0" lang="fr" sz="1400" u="none" cap="none" strike="noStrike">
                <a:solidFill>
                  <a:schemeClr val="lt1"/>
                </a:solidFill>
                <a:latin typeface="Arial"/>
                <a:ea typeface="Arial"/>
                <a:cs typeface="Arial"/>
                <a:sym typeface="Arial"/>
              </a:rPr>
              <a:t>to detect and block all known DNS Tunneling tools </a:t>
            </a:r>
            <a:br>
              <a:rPr b="0" i="0" lang="fr" sz="1400" u="none" cap="none" strike="noStrike">
                <a:solidFill>
                  <a:srgbClr val="000000"/>
                </a:solidFill>
                <a:latin typeface="Arial"/>
                <a:ea typeface="Arial"/>
                <a:cs typeface="Arial"/>
                <a:sym typeface="Arial"/>
              </a:rPr>
            </a:br>
            <a:r>
              <a:rPr b="0" i="0" lang="fr" sz="1400" u="none" cap="none" strike="noStrike">
                <a:solidFill>
                  <a:schemeClr val="lt1"/>
                </a:solidFill>
                <a:latin typeface="Arial"/>
                <a:ea typeface="Arial"/>
                <a:cs typeface="Arial"/>
                <a:sym typeface="Arial"/>
              </a:rPr>
              <a:t>(in hardware, at line speed)</a:t>
            </a:r>
            <a:endParaRPr b="0" i="0" sz="1400" u="none" cap="none" strike="noStrike">
              <a:solidFill>
                <a:srgbClr val="000000"/>
              </a:solidFill>
              <a:latin typeface="Arial"/>
              <a:ea typeface="Arial"/>
              <a:cs typeface="Arial"/>
              <a:sym typeface="Arial"/>
            </a:endParaRPr>
          </a:p>
        </p:txBody>
      </p:sp>
      <p:sp>
        <p:nvSpPr>
          <p:cNvPr id="856" name="Google Shape;856;p65"/>
          <p:cNvSpPr/>
          <p:nvPr/>
        </p:nvSpPr>
        <p:spPr>
          <a:xfrm>
            <a:off x="886680" y="2305800"/>
            <a:ext cx="1541700" cy="4329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2400"/>
              <a:buFont typeface="Arial"/>
              <a:buNone/>
            </a:pPr>
            <a:r>
              <a:rPr b="1" i="0" lang="fr" sz="2400" u="none" cap="none" strike="noStrike">
                <a:solidFill>
                  <a:srgbClr val="FFFFFF"/>
                </a:solidFill>
                <a:latin typeface="Arial"/>
                <a:ea typeface="Arial"/>
                <a:cs typeface="Arial"/>
                <a:sym typeface="Arial"/>
              </a:rPr>
              <a:t>Signature</a:t>
            </a:r>
            <a:endParaRPr b="0" i="0" sz="2400" u="none" cap="none" strike="noStrike">
              <a:solidFill>
                <a:srgbClr val="000000"/>
              </a:solidFill>
              <a:latin typeface="Arial"/>
              <a:ea typeface="Arial"/>
              <a:cs typeface="Arial"/>
              <a:sym typeface="Arial"/>
            </a:endParaRPr>
          </a:p>
        </p:txBody>
      </p:sp>
      <p:sp>
        <p:nvSpPr>
          <p:cNvPr id="857" name="Google Shape;857;p65"/>
          <p:cNvSpPr/>
          <p:nvPr/>
        </p:nvSpPr>
        <p:spPr>
          <a:xfrm>
            <a:off x="3694680" y="2312280"/>
            <a:ext cx="1728000" cy="4329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2400"/>
              <a:buFont typeface="Arial"/>
              <a:buNone/>
            </a:pPr>
            <a:r>
              <a:rPr b="1" i="0" lang="fr" sz="2400" u="none" cap="none" strike="noStrike">
                <a:solidFill>
                  <a:srgbClr val="FFFFFF"/>
                </a:solidFill>
                <a:latin typeface="Arial"/>
                <a:ea typeface="Arial"/>
                <a:cs typeface="Arial"/>
                <a:sym typeface="Arial"/>
              </a:rPr>
              <a:t>Reputation</a:t>
            </a:r>
            <a:endParaRPr b="0" i="0" sz="2400" u="none" cap="none" strike="noStrike">
              <a:solidFill>
                <a:srgbClr val="000000"/>
              </a:solidFill>
              <a:latin typeface="Arial"/>
              <a:ea typeface="Arial"/>
              <a:cs typeface="Arial"/>
              <a:sym typeface="Arial"/>
            </a:endParaRPr>
          </a:p>
        </p:txBody>
      </p:sp>
      <p:sp>
        <p:nvSpPr>
          <p:cNvPr id="858" name="Google Shape;858;p65"/>
          <p:cNvSpPr/>
          <p:nvPr/>
        </p:nvSpPr>
        <p:spPr>
          <a:xfrm>
            <a:off x="6720300" y="2333340"/>
            <a:ext cx="1440000" cy="4329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2400"/>
              <a:buFont typeface="Arial"/>
              <a:buNone/>
            </a:pPr>
            <a:r>
              <a:rPr b="1" i="0" lang="fr" sz="2400" u="none" cap="none" strike="noStrike">
                <a:solidFill>
                  <a:srgbClr val="FFFFFF"/>
                </a:solidFill>
                <a:latin typeface="Arial"/>
                <a:ea typeface="Arial"/>
                <a:cs typeface="Arial"/>
                <a:sym typeface="Arial"/>
              </a:rPr>
              <a:t>Behavior</a:t>
            </a:r>
            <a:endParaRPr b="0" i="0" sz="2400" u="none" cap="none" strike="noStrike">
              <a:solidFill>
                <a:srgbClr val="000000"/>
              </a:solidFill>
              <a:latin typeface="Arial"/>
              <a:ea typeface="Arial"/>
              <a:cs typeface="Arial"/>
              <a:sym typeface="Arial"/>
            </a:endParaRPr>
          </a:p>
        </p:txBody>
      </p:sp>
      <p:pic>
        <p:nvPicPr>
          <p:cNvPr id="859" name="Google Shape;859;p65"/>
          <p:cNvPicPr preferRelativeResize="0"/>
          <p:nvPr/>
        </p:nvPicPr>
        <p:blipFill rotWithShape="1">
          <a:blip r:embed="rId3">
            <a:alphaModFix/>
          </a:blip>
          <a:srcRect b="0" l="0" r="0" t="0"/>
          <a:stretch/>
        </p:blipFill>
        <p:spPr>
          <a:xfrm>
            <a:off x="3851820" y="1657800"/>
            <a:ext cx="1431810" cy="376920"/>
          </a:xfrm>
          <a:prstGeom prst="rect">
            <a:avLst/>
          </a:prstGeom>
          <a:noFill/>
          <a:ln>
            <a:noFill/>
          </a:ln>
        </p:spPr>
      </p:pic>
      <p:pic>
        <p:nvPicPr>
          <p:cNvPr id="860" name="Google Shape;860;p65"/>
          <p:cNvPicPr preferRelativeResize="0"/>
          <p:nvPr/>
        </p:nvPicPr>
        <p:blipFill rotWithShape="1">
          <a:blip r:embed="rId4">
            <a:alphaModFix/>
          </a:blip>
          <a:srcRect b="0" l="0" r="0" t="0"/>
          <a:stretch/>
        </p:blipFill>
        <p:spPr>
          <a:xfrm>
            <a:off x="718200" y="1572210"/>
            <a:ext cx="1868939" cy="574019"/>
          </a:xfrm>
          <a:prstGeom prst="rect">
            <a:avLst/>
          </a:prstGeom>
          <a:noFill/>
          <a:ln>
            <a:noFill/>
          </a:ln>
        </p:spPr>
      </p:pic>
      <p:pic>
        <p:nvPicPr>
          <p:cNvPr id="861" name="Google Shape;861;p65"/>
          <p:cNvPicPr preferRelativeResize="0"/>
          <p:nvPr/>
        </p:nvPicPr>
        <p:blipFill rotWithShape="1">
          <a:blip r:embed="rId5">
            <a:alphaModFix/>
          </a:blip>
          <a:srcRect b="0" l="0" r="0" t="0"/>
          <a:stretch/>
        </p:blipFill>
        <p:spPr>
          <a:xfrm>
            <a:off x="6939270" y="1628640"/>
            <a:ext cx="1041389" cy="493830"/>
          </a:xfrm>
          <a:prstGeom prst="rect">
            <a:avLst/>
          </a:prstGeom>
          <a:noFill/>
          <a:ln>
            <a:noFill/>
          </a:ln>
        </p:spPr>
      </p:pic>
      <p:sp>
        <p:nvSpPr>
          <p:cNvPr id="862" name="Google Shape;862;p65"/>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Detecting DNS Tunnels &amp; Data Exfiltration</a:t>
            </a:r>
            <a:endParaRPr sz="28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66"/>
          <p:cNvSpPr txBox="1"/>
          <p:nvPr>
            <p:ph idx="4294967295" type="body"/>
          </p:nvPr>
        </p:nvSpPr>
        <p:spPr>
          <a:xfrm>
            <a:off x="330210" y="1010160"/>
            <a:ext cx="8375700" cy="3897000"/>
          </a:xfrm>
          <a:prstGeom prst="rect">
            <a:avLst/>
          </a:prstGeom>
          <a:noFill/>
          <a:ln>
            <a:noFill/>
          </a:ln>
        </p:spPr>
        <p:txBody>
          <a:bodyPr anchorCtr="0" anchor="t" bIns="0" lIns="0" spcFirstLastPara="1" rIns="0" wrap="square" tIns="0">
            <a:noAutofit/>
          </a:bodyPr>
          <a:lstStyle/>
          <a:p>
            <a:pPr indent="-292100" lvl="0" marL="292100" marR="0" rtl="0" algn="l">
              <a:lnSpc>
                <a:spcPct val="100000"/>
              </a:lnSpc>
              <a:spcBef>
                <a:spcPts val="0"/>
              </a:spcBef>
              <a:spcAft>
                <a:spcPts val="0"/>
              </a:spcAft>
              <a:buClr>
                <a:srgbClr val="323232"/>
              </a:buClr>
              <a:buSzPts val="2000"/>
              <a:buFont typeface="Arial"/>
              <a:buChar char="•"/>
            </a:pPr>
            <a:r>
              <a:rPr b="1" i="0" lang="fr" sz="2000" u="none" cap="none" strike="noStrike">
                <a:solidFill>
                  <a:srgbClr val="323232"/>
                </a:solidFill>
                <a:latin typeface="Arial"/>
                <a:ea typeface="Arial"/>
                <a:cs typeface="Arial"/>
                <a:sym typeface="Arial"/>
              </a:rPr>
              <a:t>Entropy</a:t>
            </a:r>
            <a:endParaRPr sz="2000">
              <a:solidFill>
                <a:srgbClr val="323232"/>
              </a:solidFill>
            </a:endParaRPr>
          </a:p>
          <a:p>
            <a:pPr indent="-190500" lvl="1" marL="266700" marR="0" rtl="0" algn="l">
              <a:lnSpc>
                <a:spcPct val="100000"/>
              </a:lnSpc>
              <a:spcBef>
                <a:spcPts val="0"/>
              </a:spcBef>
              <a:spcAft>
                <a:spcPts val="0"/>
              </a:spcAft>
              <a:buClr>
                <a:srgbClr val="323232"/>
              </a:buClr>
              <a:buSzPts val="2000"/>
              <a:buFont typeface="Arial"/>
              <a:buChar char="̶"/>
            </a:pPr>
            <a:r>
              <a:rPr lang="fr" sz="2000">
                <a:solidFill>
                  <a:srgbClr val="323232"/>
                </a:solidFill>
              </a:rPr>
              <a:t> </a:t>
            </a:r>
            <a:r>
              <a:rPr b="0" i="0" lang="fr" sz="2000" u="none" cap="none" strike="noStrike">
                <a:solidFill>
                  <a:srgbClr val="323232"/>
                </a:solidFill>
                <a:latin typeface="Arial"/>
                <a:ea typeface="Arial"/>
                <a:cs typeface="Arial"/>
                <a:sym typeface="Arial"/>
              </a:rPr>
              <a:t>Higher Entropy =&gt; more information transferred</a:t>
            </a:r>
            <a:endParaRPr sz="2000">
              <a:solidFill>
                <a:srgbClr val="323232"/>
              </a:solidFill>
            </a:endParaRPr>
          </a:p>
          <a:p>
            <a:pPr indent="-190500" lvl="1" marL="266700" marR="0" rtl="0" algn="l">
              <a:lnSpc>
                <a:spcPct val="100000"/>
              </a:lnSpc>
              <a:spcBef>
                <a:spcPts val="0"/>
              </a:spcBef>
              <a:spcAft>
                <a:spcPts val="0"/>
              </a:spcAft>
              <a:buClr>
                <a:srgbClr val="323232"/>
              </a:buClr>
              <a:buSzPts val="2000"/>
              <a:buFont typeface="Arial"/>
              <a:buChar char="̶"/>
            </a:pPr>
            <a:r>
              <a:rPr lang="fr" sz="2000">
                <a:solidFill>
                  <a:srgbClr val="323232"/>
                </a:solidFill>
              </a:rPr>
              <a:t> </a:t>
            </a:r>
            <a:r>
              <a:rPr b="0" i="0" lang="fr" sz="2000" u="none" cap="none" strike="noStrike">
                <a:solidFill>
                  <a:srgbClr val="323232"/>
                </a:solidFill>
                <a:latin typeface="Arial"/>
                <a:ea typeface="Arial"/>
                <a:cs typeface="Arial"/>
                <a:sym typeface="Arial"/>
              </a:rPr>
              <a:t>Legitimate DNS names often have dictionary words or something that looks meaningful. </a:t>
            </a:r>
            <a:br>
              <a:rPr b="0" i="0" lang="fr" sz="2000" u="none" cap="none" strike="noStrike"/>
            </a:br>
            <a:r>
              <a:rPr b="0" i="0" lang="fr" sz="2000" u="none" cap="none" strike="noStrike">
                <a:solidFill>
                  <a:srgbClr val="323232"/>
                </a:solidFill>
                <a:latin typeface="Arial"/>
                <a:ea typeface="Arial"/>
                <a:cs typeface="Arial"/>
                <a:sym typeface="Arial"/>
              </a:rPr>
              <a:t>Encoded names have a higher entropy. DNS names that have high entropy can be an indicator of tunneling.</a:t>
            </a:r>
            <a:endParaRPr b="0" i="0" sz="2000" u="none" cap="none" strike="noStrike">
              <a:solidFill>
                <a:srgbClr val="323232"/>
              </a:solidFill>
              <a:latin typeface="Arial"/>
              <a:ea typeface="Arial"/>
              <a:cs typeface="Arial"/>
              <a:sym typeface="Arial"/>
            </a:endParaRPr>
          </a:p>
          <a:p>
            <a:pPr indent="0" lvl="0" marL="266700" marR="0" rtl="0" algn="l">
              <a:lnSpc>
                <a:spcPct val="100000"/>
              </a:lnSpc>
              <a:spcBef>
                <a:spcPts val="0"/>
              </a:spcBef>
              <a:spcAft>
                <a:spcPts val="0"/>
              </a:spcAft>
              <a:buSzPts val="1100"/>
              <a:buNone/>
            </a:pPr>
            <a:r>
              <a:t/>
            </a:r>
            <a:endParaRPr sz="500">
              <a:solidFill>
                <a:srgbClr val="323232"/>
              </a:solidFill>
            </a:endParaRPr>
          </a:p>
          <a:p>
            <a:pPr indent="-139700" lvl="0" marL="139700" marR="0" rtl="0" algn="l">
              <a:lnSpc>
                <a:spcPct val="100000"/>
              </a:lnSpc>
              <a:spcBef>
                <a:spcPts val="0"/>
              </a:spcBef>
              <a:spcAft>
                <a:spcPts val="0"/>
              </a:spcAft>
              <a:buClr>
                <a:srgbClr val="323232"/>
              </a:buClr>
              <a:buSzPts val="2000"/>
              <a:buFont typeface="Arial"/>
              <a:buChar char="•"/>
            </a:pPr>
            <a:r>
              <a:rPr b="1" lang="fr" sz="2000">
                <a:solidFill>
                  <a:srgbClr val="323232"/>
                </a:solidFill>
              </a:rPr>
              <a:t>  Lexical</a:t>
            </a:r>
            <a:endParaRPr sz="2000">
              <a:solidFill>
                <a:srgbClr val="323232"/>
              </a:solidFill>
            </a:endParaRPr>
          </a:p>
          <a:p>
            <a:pPr indent="-190500" lvl="1" marL="266700" rtl="0" algn="l">
              <a:lnSpc>
                <a:spcPct val="100000"/>
              </a:lnSpc>
              <a:spcBef>
                <a:spcPts val="0"/>
              </a:spcBef>
              <a:spcAft>
                <a:spcPts val="0"/>
              </a:spcAft>
              <a:buClr>
                <a:srgbClr val="323232"/>
              </a:buClr>
              <a:buSzPts val="2000"/>
              <a:buChar char="̶"/>
            </a:pPr>
            <a:r>
              <a:rPr lang="fr" sz="2000">
                <a:solidFill>
                  <a:srgbClr val="323232"/>
                </a:solidFill>
              </a:rPr>
              <a:t> Analysis of individual characters in domain names</a:t>
            </a:r>
            <a:endParaRPr sz="2000">
              <a:solidFill>
                <a:srgbClr val="323232"/>
              </a:solidFill>
            </a:endParaRPr>
          </a:p>
          <a:p>
            <a:pPr indent="-190500" lvl="1" marL="266700" rtl="0" algn="l">
              <a:lnSpc>
                <a:spcPct val="100000"/>
              </a:lnSpc>
              <a:spcBef>
                <a:spcPts val="0"/>
              </a:spcBef>
              <a:spcAft>
                <a:spcPts val="0"/>
              </a:spcAft>
              <a:buClr>
                <a:srgbClr val="323232"/>
              </a:buClr>
              <a:buSzPts val="2000"/>
              <a:buChar char="̶"/>
            </a:pPr>
            <a:r>
              <a:rPr lang="fr" sz="2000">
                <a:solidFill>
                  <a:srgbClr val="323232"/>
                </a:solidFill>
              </a:rPr>
              <a:t> non-letters (numbers or allowed special characters) c</a:t>
            </a:r>
            <a:r>
              <a:rPr lang="fr" sz="2100">
                <a:solidFill>
                  <a:srgbClr val="323232"/>
                </a:solidFill>
              </a:rPr>
              <a:t>haracter ratio</a:t>
            </a:r>
            <a:endParaRPr sz="2100">
              <a:solidFill>
                <a:srgbClr val="323232"/>
              </a:solidFill>
            </a:endParaRPr>
          </a:p>
          <a:p>
            <a:pPr indent="-190500" lvl="1" marL="266700" rtl="0" algn="l">
              <a:lnSpc>
                <a:spcPct val="100000"/>
              </a:lnSpc>
              <a:spcBef>
                <a:spcPts val="0"/>
              </a:spcBef>
              <a:spcAft>
                <a:spcPts val="0"/>
              </a:spcAft>
              <a:buClr>
                <a:srgbClr val="323232"/>
              </a:buClr>
              <a:buSzPts val="2000"/>
              <a:buChar char="̶"/>
            </a:pPr>
            <a:r>
              <a:rPr lang="fr" sz="2100">
                <a:solidFill>
                  <a:srgbClr val="323232"/>
                </a:solidFill>
              </a:rPr>
              <a:t> hex /A-F/ character ratio</a:t>
            </a:r>
            <a:endParaRPr sz="2100">
              <a:solidFill>
                <a:srgbClr val="323232"/>
              </a:solidFill>
            </a:endParaRPr>
          </a:p>
          <a:p>
            <a:pPr indent="-190500" lvl="1" marL="266700" rtl="0" algn="l">
              <a:lnSpc>
                <a:spcPct val="100000"/>
              </a:lnSpc>
              <a:spcBef>
                <a:spcPts val="0"/>
              </a:spcBef>
              <a:spcAft>
                <a:spcPts val="0"/>
              </a:spcAft>
              <a:buClr>
                <a:srgbClr val="323232"/>
              </a:buClr>
              <a:buSzPts val="2000"/>
              <a:buChar char="̶"/>
            </a:pPr>
            <a:r>
              <a:rPr lang="fr" sz="2100">
                <a:solidFill>
                  <a:srgbClr val="323232"/>
                </a:solidFill>
              </a:rPr>
              <a:t> vowel character ratio</a:t>
            </a:r>
            <a:endParaRPr sz="2000">
              <a:solidFill>
                <a:srgbClr val="323232"/>
              </a:solidFill>
            </a:endParaRPr>
          </a:p>
        </p:txBody>
      </p:sp>
      <p:sp>
        <p:nvSpPr>
          <p:cNvPr id="869" name="Google Shape;869;p66"/>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DNS heuristics</a:t>
            </a:r>
            <a:endParaRPr sz="28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67"/>
          <p:cNvSpPr txBox="1"/>
          <p:nvPr>
            <p:ph idx="4294967295" type="body"/>
          </p:nvPr>
        </p:nvSpPr>
        <p:spPr>
          <a:xfrm>
            <a:off x="330210" y="1166670"/>
            <a:ext cx="8375625" cy="1976850"/>
          </a:xfrm>
          <a:prstGeom prst="rect">
            <a:avLst/>
          </a:prstGeom>
          <a:noFill/>
          <a:ln>
            <a:noFill/>
          </a:ln>
        </p:spPr>
        <p:txBody>
          <a:bodyPr anchorCtr="0" anchor="t" bIns="0" lIns="0" spcFirstLastPara="1" rIns="0" wrap="square" tIns="0">
            <a:noAutofit/>
          </a:bodyPr>
          <a:lstStyle/>
          <a:p>
            <a:pPr indent="-292100" lvl="0" marL="292100" marR="0" rtl="0" algn="l">
              <a:lnSpc>
                <a:spcPct val="100000"/>
              </a:lnSpc>
              <a:spcBef>
                <a:spcPts val="0"/>
              </a:spcBef>
              <a:spcAft>
                <a:spcPts val="0"/>
              </a:spcAft>
              <a:buClr>
                <a:srgbClr val="323232"/>
              </a:buClr>
              <a:buSzPts val="2000"/>
              <a:buFont typeface="Arial"/>
              <a:buChar char="•"/>
            </a:pPr>
            <a:r>
              <a:rPr b="1" i="0" lang="fr" sz="2000" u="none" cap="none" strike="noStrike">
                <a:solidFill>
                  <a:srgbClr val="323232"/>
                </a:solidFill>
                <a:latin typeface="Arial"/>
                <a:ea typeface="Arial"/>
                <a:cs typeface="Arial"/>
                <a:sym typeface="Arial"/>
              </a:rPr>
              <a:t>N-Gram</a:t>
            </a:r>
            <a:endParaRPr sz="2000">
              <a:solidFill>
                <a:srgbClr val="323232"/>
              </a:solidFill>
            </a:endParaRPr>
          </a:p>
          <a:p>
            <a:pPr indent="-190500" lvl="2" marL="406400" marR="0" rtl="0" algn="l">
              <a:lnSpc>
                <a:spcPct val="100000"/>
              </a:lnSpc>
              <a:spcBef>
                <a:spcPts val="0"/>
              </a:spcBef>
              <a:spcAft>
                <a:spcPts val="0"/>
              </a:spcAft>
              <a:buClr>
                <a:srgbClr val="323232"/>
              </a:buClr>
              <a:buSzPts val="2000"/>
              <a:buFont typeface="Arial"/>
              <a:buChar char="–"/>
            </a:pPr>
            <a:r>
              <a:rPr b="0" i="0" lang="fr" sz="2000" u="none" cap="none" strike="noStrike">
                <a:solidFill>
                  <a:srgbClr val="323232"/>
                </a:solidFill>
                <a:latin typeface="Arial"/>
                <a:ea typeface="Arial"/>
                <a:cs typeface="Arial"/>
                <a:sym typeface="Arial"/>
              </a:rPr>
              <a:t>Detects non human like domain names based on character distribution.  </a:t>
            </a:r>
            <a:br>
              <a:rPr b="0" i="0" lang="fr" sz="2000" u="none" cap="none" strike="noStrike"/>
            </a:br>
            <a:r>
              <a:rPr b="0" i="0" lang="fr" sz="2000" u="none" cap="none" strike="noStrike">
                <a:solidFill>
                  <a:srgbClr val="323232"/>
                </a:solidFill>
                <a:latin typeface="Arial"/>
                <a:ea typeface="Arial"/>
                <a:cs typeface="Arial"/>
                <a:sym typeface="Arial"/>
              </a:rPr>
              <a:t>Focus is on 2- and 3-gram (i.e. sequences of 2 or 3 characters, or bigram and trigram analysis).   </a:t>
            </a:r>
            <a:endParaRPr b="0" i="0" sz="2000" u="none" cap="none" strike="noStrike">
              <a:solidFill>
                <a:srgbClr val="323232"/>
              </a:solidFill>
              <a:latin typeface="Arial"/>
              <a:ea typeface="Arial"/>
              <a:cs typeface="Arial"/>
              <a:sym typeface="Arial"/>
            </a:endParaRPr>
          </a:p>
        </p:txBody>
      </p:sp>
      <p:pic>
        <p:nvPicPr>
          <p:cNvPr id="875" name="Google Shape;875;p67"/>
          <p:cNvPicPr preferRelativeResize="0"/>
          <p:nvPr/>
        </p:nvPicPr>
        <p:blipFill rotWithShape="1">
          <a:blip r:embed="rId3">
            <a:alphaModFix/>
          </a:blip>
          <a:srcRect b="0" l="0" r="0" t="0"/>
          <a:stretch/>
        </p:blipFill>
        <p:spPr>
          <a:xfrm>
            <a:off x="4997779" y="2924549"/>
            <a:ext cx="3588993" cy="1371695"/>
          </a:xfrm>
          <a:prstGeom prst="rect">
            <a:avLst/>
          </a:prstGeom>
          <a:noFill/>
          <a:ln>
            <a:noFill/>
          </a:ln>
        </p:spPr>
      </p:pic>
      <p:pic>
        <p:nvPicPr>
          <p:cNvPr id="876" name="Google Shape;876;p67"/>
          <p:cNvPicPr preferRelativeResize="0"/>
          <p:nvPr/>
        </p:nvPicPr>
        <p:blipFill rotWithShape="1">
          <a:blip r:embed="rId4">
            <a:alphaModFix/>
          </a:blip>
          <a:srcRect b="0" l="0" r="0" t="0"/>
          <a:stretch/>
        </p:blipFill>
        <p:spPr>
          <a:xfrm>
            <a:off x="676561" y="2912885"/>
            <a:ext cx="3631650" cy="1395019"/>
          </a:xfrm>
          <a:prstGeom prst="rect">
            <a:avLst/>
          </a:prstGeom>
          <a:noFill/>
          <a:ln>
            <a:noFill/>
          </a:ln>
        </p:spPr>
      </p:pic>
      <p:sp>
        <p:nvSpPr>
          <p:cNvPr id="877" name="Google Shape;877;p67"/>
          <p:cNvSpPr/>
          <p:nvPr/>
        </p:nvSpPr>
        <p:spPr>
          <a:xfrm>
            <a:off x="98010" y="4586760"/>
            <a:ext cx="4435200" cy="2493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rgbClr val="323232"/>
                </a:solidFill>
                <a:latin typeface="Arial"/>
                <a:ea typeface="Arial"/>
                <a:cs typeface="Arial"/>
                <a:sym typeface="Arial"/>
              </a:rPr>
              <a:t>Source: </a:t>
            </a:r>
            <a:r>
              <a:rPr b="0" i="0" lang="fr" sz="1400" u="sng" cap="none" strike="noStrike">
                <a:solidFill>
                  <a:schemeClr val="hlink"/>
                </a:solidFill>
                <a:latin typeface="Arial"/>
                <a:ea typeface="Arial"/>
                <a:cs typeface="Arial"/>
                <a:sym typeface="Arial"/>
                <a:hlinkClick r:id="rId5"/>
              </a:rPr>
              <a:t>https://books.google.com/ngrams</a:t>
            </a:r>
            <a:r>
              <a:rPr b="0" i="0" lang="fr" sz="1400" u="none" cap="none" strike="noStrike">
                <a:solidFill>
                  <a:srgbClr val="32323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878" name="Google Shape;878;p67"/>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DNS heuristics</a:t>
            </a:r>
            <a:endParaRPr sz="28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68"/>
          <p:cNvSpPr txBox="1"/>
          <p:nvPr>
            <p:ph idx="4294967295" type="body"/>
          </p:nvPr>
        </p:nvSpPr>
        <p:spPr>
          <a:xfrm>
            <a:off x="330210" y="895860"/>
            <a:ext cx="8375625" cy="3897000"/>
          </a:xfrm>
          <a:prstGeom prst="rect">
            <a:avLst/>
          </a:prstGeom>
          <a:noFill/>
          <a:ln>
            <a:noFill/>
          </a:ln>
        </p:spPr>
        <p:txBody>
          <a:bodyPr anchorCtr="0" anchor="t" bIns="0" lIns="0" spcFirstLastPara="1" rIns="0" wrap="square" tIns="0">
            <a:noAutofit/>
          </a:bodyPr>
          <a:lstStyle/>
          <a:p>
            <a:pPr indent="-215900" lvl="2" marL="228600" marR="0" rtl="0" algn="l">
              <a:lnSpc>
                <a:spcPct val="150000"/>
              </a:lnSpc>
              <a:spcBef>
                <a:spcPts val="0"/>
              </a:spcBef>
              <a:spcAft>
                <a:spcPts val="0"/>
              </a:spcAft>
              <a:buClr>
                <a:srgbClr val="323232"/>
              </a:buClr>
              <a:buSzPts val="2000"/>
              <a:buFont typeface="Arial"/>
              <a:buChar char="•"/>
            </a:pPr>
            <a:r>
              <a:rPr b="1" i="0" lang="fr" sz="1400" u="none" cap="none" strike="noStrike">
                <a:solidFill>
                  <a:srgbClr val="323232"/>
                </a:solidFill>
                <a:latin typeface="Arial"/>
                <a:ea typeface="Arial"/>
                <a:cs typeface="Arial"/>
                <a:sym typeface="Arial"/>
              </a:rPr>
              <a:t>Gini index </a:t>
            </a:r>
            <a:r>
              <a:rPr b="0" i="0" lang="fr" sz="1400" u="none" cap="none" strike="noStrike">
                <a:solidFill>
                  <a:srgbClr val="323232"/>
                </a:solidFill>
                <a:latin typeface="Arial"/>
                <a:ea typeface="Arial"/>
                <a:cs typeface="Arial"/>
                <a:sym typeface="Arial"/>
              </a:rPr>
              <a:t>– how often a randomly chosen character from the domain name would be incorrectly labeled if it was randomly labeled according to the distribution of characters in the domain name</a:t>
            </a:r>
            <a:endParaRPr b="0" i="0" sz="1400" u="none" cap="none" strike="noStrike">
              <a:solidFill>
                <a:srgbClr val="323232"/>
              </a:solidFill>
              <a:latin typeface="Arial"/>
              <a:ea typeface="Arial"/>
              <a:cs typeface="Arial"/>
              <a:sym typeface="Arial"/>
            </a:endParaRPr>
          </a:p>
          <a:p>
            <a:pPr indent="-215900" lvl="2" marL="228600" marR="0" rtl="0" algn="l">
              <a:lnSpc>
                <a:spcPct val="150000"/>
              </a:lnSpc>
              <a:spcBef>
                <a:spcPts val="600"/>
              </a:spcBef>
              <a:spcAft>
                <a:spcPts val="0"/>
              </a:spcAft>
              <a:buClr>
                <a:srgbClr val="323232"/>
              </a:buClr>
              <a:buSzPts val="2000"/>
              <a:buFont typeface="Arial"/>
              <a:buChar char="•"/>
            </a:pPr>
            <a:r>
              <a:rPr b="1" i="0" lang="fr" sz="1400" u="none" cap="none" strike="noStrike">
                <a:solidFill>
                  <a:srgbClr val="323232"/>
                </a:solidFill>
                <a:latin typeface="Arial"/>
                <a:ea typeface="Arial"/>
                <a:cs typeface="Arial"/>
                <a:sym typeface="Arial"/>
              </a:rPr>
              <a:t>Classification error </a:t>
            </a:r>
            <a:r>
              <a:rPr b="0" i="0" lang="fr" sz="1400" u="none" cap="none" strike="noStrike">
                <a:solidFill>
                  <a:srgbClr val="323232"/>
                </a:solidFill>
                <a:latin typeface="Arial"/>
                <a:ea typeface="Arial"/>
                <a:cs typeface="Arial"/>
                <a:sym typeface="Arial"/>
              </a:rPr>
              <a:t>– measure of the diversity of characters in the string</a:t>
            </a:r>
            <a:endParaRPr b="0" i="0" sz="1400" u="none" cap="none" strike="noStrike">
              <a:solidFill>
                <a:srgbClr val="323232"/>
              </a:solidFill>
              <a:latin typeface="Arial"/>
              <a:ea typeface="Arial"/>
              <a:cs typeface="Arial"/>
              <a:sym typeface="Arial"/>
            </a:endParaRPr>
          </a:p>
          <a:p>
            <a:pPr indent="-215900" lvl="2" marL="228600" marR="0" rtl="0" algn="l">
              <a:lnSpc>
                <a:spcPct val="150000"/>
              </a:lnSpc>
              <a:spcBef>
                <a:spcPts val="600"/>
              </a:spcBef>
              <a:spcAft>
                <a:spcPts val="0"/>
              </a:spcAft>
              <a:buClr>
                <a:srgbClr val="323232"/>
              </a:buClr>
              <a:buSzPts val="2000"/>
              <a:buFont typeface="Arial"/>
              <a:buChar char="•"/>
            </a:pPr>
            <a:r>
              <a:rPr b="1" i="0" lang="fr" sz="1400" u="none" cap="none" strike="noStrike">
                <a:solidFill>
                  <a:srgbClr val="323232"/>
                </a:solidFill>
                <a:latin typeface="Arial"/>
                <a:ea typeface="Arial"/>
                <a:cs typeface="Arial"/>
                <a:sym typeface="Arial"/>
              </a:rPr>
              <a:t>Number of Labels </a:t>
            </a:r>
            <a:r>
              <a:rPr b="0" i="0" lang="fr" sz="1400" u="none" cap="none" strike="noStrike">
                <a:solidFill>
                  <a:srgbClr val="323232"/>
                </a:solidFill>
                <a:latin typeface="Arial"/>
                <a:ea typeface="Arial"/>
                <a:cs typeface="Arial"/>
                <a:sym typeface="Arial"/>
              </a:rPr>
              <a:t>– number of domain labels in an FQDN payload</a:t>
            </a:r>
            <a:endParaRPr b="0" i="0" sz="1400" u="none" cap="none" strike="noStrike">
              <a:solidFill>
                <a:srgbClr val="323232"/>
              </a:solidFill>
              <a:latin typeface="Arial"/>
              <a:ea typeface="Arial"/>
              <a:cs typeface="Arial"/>
              <a:sym typeface="Arial"/>
            </a:endParaRPr>
          </a:p>
          <a:p>
            <a:pPr indent="-215900" lvl="2" marL="228600" marR="0" rtl="0" algn="l">
              <a:lnSpc>
                <a:spcPct val="150000"/>
              </a:lnSpc>
              <a:spcBef>
                <a:spcPts val="600"/>
              </a:spcBef>
              <a:spcAft>
                <a:spcPts val="0"/>
              </a:spcAft>
              <a:buClr>
                <a:srgbClr val="323232"/>
              </a:buClr>
              <a:buSzPts val="2000"/>
              <a:buFont typeface="Arial"/>
              <a:buChar char="•"/>
            </a:pPr>
            <a:r>
              <a:rPr b="1" i="0" lang="fr" sz="1400" u="none" cap="none" strike="noStrike">
                <a:solidFill>
                  <a:srgbClr val="323232"/>
                </a:solidFill>
                <a:latin typeface="Arial"/>
                <a:ea typeface="Arial"/>
                <a:cs typeface="Arial"/>
                <a:sym typeface="Arial"/>
              </a:rPr>
              <a:t>Frequency</a:t>
            </a:r>
            <a:r>
              <a:rPr b="0" i="0" lang="fr" sz="1400" u="none" cap="none" strike="noStrike">
                <a:solidFill>
                  <a:srgbClr val="323232"/>
                </a:solidFill>
                <a:latin typeface="Arial"/>
                <a:ea typeface="Arial"/>
                <a:cs typeface="Arial"/>
                <a:sym typeface="Arial"/>
              </a:rPr>
              <a:t>:  how often are requests being sent to the same recipient (typically multiple requests to same recipient are not common and indicate malicious activity)</a:t>
            </a:r>
            <a:br>
              <a:rPr b="0" i="0" lang="fr" sz="1400" u="none" cap="none" strike="noStrike"/>
            </a:br>
            <a:r>
              <a:rPr b="0" i="0" lang="fr" sz="1400" u="none" cap="none" strike="noStrike">
                <a:solidFill>
                  <a:srgbClr val="323232"/>
                </a:solidFill>
                <a:latin typeface="Arial"/>
                <a:ea typeface="Arial"/>
                <a:cs typeface="Arial"/>
                <a:sym typeface="Arial"/>
              </a:rPr>
              <a:t>Are the queries being repeated at precise intervals?</a:t>
            </a:r>
            <a:endParaRPr b="0" i="0" sz="1400" u="none" cap="none" strike="noStrike">
              <a:solidFill>
                <a:srgbClr val="323232"/>
              </a:solidFill>
              <a:latin typeface="Arial"/>
              <a:ea typeface="Arial"/>
              <a:cs typeface="Arial"/>
              <a:sym typeface="Arial"/>
            </a:endParaRPr>
          </a:p>
          <a:p>
            <a:pPr indent="-215900" lvl="2" marL="228600" marR="0" rtl="0" algn="l">
              <a:lnSpc>
                <a:spcPct val="150000"/>
              </a:lnSpc>
              <a:spcBef>
                <a:spcPts val="600"/>
              </a:spcBef>
              <a:spcAft>
                <a:spcPts val="0"/>
              </a:spcAft>
              <a:buClr>
                <a:srgbClr val="323232"/>
              </a:buClr>
              <a:buSzPts val="2000"/>
              <a:buFont typeface="Arial"/>
              <a:buChar char="•"/>
            </a:pPr>
            <a:r>
              <a:rPr b="1" i="0" lang="fr" sz="1400" u="none" cap="none" strike="noStrike">
                <a:solidFill>
                  <a:srgbClr val="323232"/>
                </a:solidFill>
                <a:latin typeface="Arial"/>
                <a:ea typeface="Arial"/>
                <a:cs typeface="Arial"/>
                <a:sym typeface="Arial"/>
              </a:rPr>
              <a:t>Size</a:t>
            </a:r>
            <a:r>
              <a:rPr lang="fr" sz="1400"/>
              <a:t> </a:t>
            </a:r>
            <a:r>
              <a:rPr b="0" i="0" lang="fr" sz="1400" u="none" cap="none" strike="noStrike">
                <a:solidFill>
                  <a:srgbClr val="323232"/>
                </a:solidFill>
                <a:latin typeface="Arial"/>
                <a:ea typeface="Arial"/>
                <a:cs typeface="Arial"/>
                <a:sym typeface="Arial"/>
              </a:rPr>
              <a:t>Higher payload size =&gt; more information transferred</a:t>
            </a:r>
            <a:endParaRPr b="0" i="0" sz="1400" u="none" cap="none" strike="noStrike">
              <a:solidFill>
                <a:srgbClr val="323232"/>
              </a:solidFill>
              <a:latin typeface="Arial"/>
              <a:ea typeface="Arial"/>
              <a:cs typeface="Arial"/>
              <a:sym typeface="Arial"/>
            </a:endParaRPr>
          </a:p>
          <a:p>
            <a:pPr indent="0" lvl="0" marL="406400" marR="0" rtl="0" algn="l">
              <a:lnSpc>
                <a:spcPct val="150000"/>
              </a:lnSpc>
              <a:spcBef>
                <a:spcPts val="600"/>
              </a:spcBef>
              <a:spcAft>
                <a:spcPts val="0"/>
              </a:spcAft>
              <a:buSzPts val="1100"/>
              <a:buNone/>
            </a:pPr>
            <a:r>
              <a:t/>
            </a:r>
            <a:endParaRPr b="0" i="0" sz="1400" u="none" cap="none" strike="noStrike">
              <a:solidFill>
                <a:srgbClr val="323232"/>
              </a:solidFill>
              <a:latin typeface="Arial"/>
              <a:ea typeface="Arial"/>
              <a:cs typeface="Arial"/>
              <a:sym typeface="Arial"/>
            </a:endParaRPr>
          </a:p>
        </p:txBody>
      </p:sp>
      <p:sp>
        <p:nvSpPr>
          <p:cNvPr id="885" name="Google Shape;885;p68"/>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DNS heuristics</a:t>
            </a:r>
            <a:endParaRPr sz="28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grpSp>
        <p:nvGrpSpPr>
          <p:cNvPr id="891" name="Google Shape;891;p69"/>
          <p:cNvGrpSpPr/>
          <p:nvPr/>
        </p:nvGrpSpPr>
        <p:grpSpPr>
          <a:xfrm>
            <a:off x="346950" y="2150505"/>
            <a:ext cx="8566875" cy="1152675"/>
            <a:chOff x="462600" y="2867340"/>
            <a:chExt cx="11422500" cy="1536900"/>
          </a:xfrm>
        </p:grpSpPr>
        <p:grpSp>
          <p:nvGrpSpPr>
            <p:cNvPr id="892" name="Google Shape;892;p69"/>
            <p:cNvGrpSpPr/>
            <p:nvPr/>
          </p:nvGrpSpPr>
          <p:grpSpPr>
            <a:xfrm>
              <a:off x="462600" y="2867340"/>
              <a:ext cx="11422500" cy="1536900"/>
              <a:chOff x="462600" y="2867340"/>
              <a:chExt cx="11422500" cy="1536900"/>
            </a:xfrm>
          </p:grpSpPr>
          <p:grpSp>
            <p:nvGrpSpPr>
              <p:cNvPr id="893" name="Google Shape;893;p69"/>
              <p:cNvGrpSpPr/>
              <p:nvPr/>
            </p:nvGrpSpPr>
            <p:grpSpPr>
              <a:xfrm>
                <a:off x="462600" y="2867340"/>
                <a:ext cx="11422500" cy="1536900"/>
                <a:chOff x="462600" y="2867340"/>
                <a:chExt cx="11422500" cy="1536900"/>
              </a:xfrm>
            </p:grpSpPr>
            <p:sp>
              <p:nvSpPr>
                <p:cNvPr id="894" name="Google Shape;894;p69"/>
                <p:cNvSpPr/>
                <p:nvPr/>
              </p:nvSpPr>
              <p:spPr>
                <a:xfrm rot="-5400000">
                  <a:off x="5405400" y="-20754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95" name="Google Shape;895;p69"/>
                <p:cNvSpPr/>
                <p:nvPr/>
              </p:nvSpPr>
              <p:spPr>
                <a:xfrm>
                  <a:off x="1698480" y="2999160"/>
                  <a:ext cx="77052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Stopping APTs/malware from using DNS</a:t>
                  </a:r>
                  <a:endParaRPr b="0" i="0" sz="2400" u="none" cap="none" strike="noStrike">
                    <a:solidFill>
                      <a:srgbClr val="000000"/>
                    </a:solidFill>
                    <a:latin typeface="Arial"/>
                    <a:ea typeface="Arial"/>
                    <a:cs typeface="Arial"/>
                    <a:sym typeface="Arial"/>
                  </a:endParaRPr>
                </a:p>
              </p:txBody>
            </p:sp>
          </p:grpSp>
          <p:sp>
            <p:nvSpPr>
              <p:cNvPr id="896" name="Google Shape;896;p69"/>
              <p:cNvSpPr/>
              <p:nvPr/>
            </p:nvSpPr>
            <p:spPr>
              <a:xfrm>
                <a:off x="755640" y="3188880"/>
                <a:ext cx="811500" cy="832200"/>
              </a:xfrm>
              <a:prstGeom prst="ellipse">
                <a:avLst/>
              </a:prstGeom>
              <a:solidFill>
                <a:schemeClr val="accent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2</a:t>
                </a:r>
                <a:endParaRPr b="0" i="0" sz="1800" u="none" cap="none" strike="noStrike">
                  <a:solidFill>
                    <a:srgbClr val="000000"/>
                  </a:solidFill>
                  <a:latin typeface="Arial"/>
                  <a:ea typeface="Arial"/>
                  <a:cs typeface="Arial"/>
                  <a:sym typeface="Arial"/>
                </a:endParaRPr>
              </a:p>
            </p:txBody>
          </p:sp>
        </p:grpSp>
        <p:pic>
          <p:nvPicPr>
            <p:cNvPr id="897" name="Google Shape;897;p69"/>
            <p:cNvPicPr preferRelativeResize="0"/>
            <p:nvPr/>
          </p:nvPicPr>
          <p:blipFill rotWithShape="1">
            <a:blip r:embed="rId3">
              <a:alphaModFix/>
            </a:blip>
            <a:srcRect b="0" l="0" r="0" t="0"/>
            <a:stretch/>
          </p:blipFill>
          <p:spPr>
            <a:xfrm>
              <a:off x="9216000" y="3482280"/>
              <a:ext cx="795600" cy="795600"/>
            </a:xfrm>
            <a:prstGeom prst="rect">
              <a:avLst/>
            </a:prstGeom>
            <a:noFill/>
            <a:ln>
              <a:noFill/>
            </a:ln>
          </p:spPr>
        </p:pic>
        <p:pic>
          <p:nvPicPr>
            <p:cNvPr id="898" name="Google Shape;898;p69"/>
            <p:cNvPicPr preferRelativeResize="0"/>
            <p:nvPr/>
          </p:nvPicPr>
          <p:blipFill rotWithShape="1">
            <a:blip r:embed="rId4">
              <a:alphaModFix/>
            </a:blip>
            <a:srcRect b="0" l="0" r="0" t="0"/>
            <a:stretch/>
          </p:blipFill>
          <p:spPr>
            <a:xfrm>
              <a:off x="9767160" y="2999160"/>
              <a:ext cx="1170720" cy="1170720"/>
            </a:xfrm>
            <a:prstGeom prst="rect">
              <a:avLst/>
            </a:prstGeom>
            <a:noFill/>
            <a:ln>
              <a:noFill/>
            </a:ln>
          </p:spPr>
        </p:pic>
        <p:pic>
          <p:nvPicPr>
            <p:cNvPr id="899" name="Google Shape;899;p69"/>
            <p:cNvPicPr preferRelativeResize="0"/>
            <p:nvPr/>
          </p:nvPicPr>
          <p:blipFill rotWithShape="1">
            <a:blip r:embed="rId5">
              <a:alphaModFix/>
            </a:blip>
            <a:srcRect b="0" l="0" r="0" t="0"/>
            <a:stretch/>
          </p:blipFill>
          <p:spPr>
            <a:xfrm>
              <a:off x="10597680" y="2999160"/>
              <a:ext cx="698400" cy="698400"/>
            </a:xfrm>
            <a:prstGeom prst="rect">
              <a:avLst/>
            </a:prstGeom>
            <a:noFill/>
            <a:ln>
              <a:noFill/>
            </a:ln>
          </p:spPr>
        </p:pic>
      </p:grpSp>
      <p:grpSp>
        <p:nvGrpSpPr>
          <p:cNvPr id="900" name="Google Shape;900;p69"/>
          <p:cNvGrpSpPr/>
          <p:nvPr/>
        </p:nvGrpSpPr>
        <p:grpSpPr>
          <a:xfrm>
            <a:off x="339660" y="3208410"/>
            <a:ext cx="8566875" cy="1796850"/>
            <a:chOff x="452880" y="4277880"/>
            <a:chExt cx="11422500" cy="2395800"/>
          </a:xfrm>
        </p:grpSpPr>
        <p:grpSp>
          <p:nvGrpSpPr>
            <p:cNvPr id="901" name="Google Shape;901;p69"/>
            <p:cNvGrpSpPr/>
            <p:nvPr/>
          </p:nvGrpSpPr>
          <p:grpSpPr>
            <a:xfrm>
              <a:off x="452880" y="4699740"/>
              <a:ext cx="11422500" cy="1536900"/>
              <a:chOff x="452880" y="4699740"/>
              <a:chExt cx="11422500" cy="1536900"/>
            </a:xfrm>
          </p:grpSpPr>
          <p:grpSp>
            <p:nvGrpSpPr>
              <p:cNvPr id="902" name="Google Shape;902;p69"/>
              <p:cNvGrpSpPr/>
              <p:nvPr/>
            </p:nvGrpSpPr>
            <p:grpSpPr>
              <a:xfrm>
                <a:off x="452880" y="4699740"/>
                <a:ext cx="11422500" cy="1536900"/>
                <a:chOff x="452880" y="4699740"/>
                <a:chExt cx="11422500" cy="1536900"/>
              </a:xfrm>
            </p:grpSpPr>
            <p:sp>
              <p:nvSpPr>
                <p:cNvPr id="903" name="Google Shape;903;p69"/>
                <p:cNvSpPr/>
                <p:nvPr/>
              </p:nvSpPr>
              <p:spPr>
                <a:xfrm rot="-5400000">
                  <a:off x="5395680" y="-243060"/>
                  <a:ext cx="1536900" cy="114225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04" name="Google Shape;904;p69"/>
                <p:cNvSpPr/>
                <p:nvPr/>
              </p:nvSpPr>
              <p:spPr>
                <a:xfrm>
                  <a:off x="1699200" y="4820400"/>
                  <a:ext cx="7298700" cy="12378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Defending DNS Infrastructure</a:t>
                  </a:r>
                  <a:endParaRPr b="0" i="0" sz="2400" u="none" cap="none" strike="noStrike">
                    <a:solidFill>
                      <a:srgbClr val="000000"/>
                    </a:solidFill>
                    <a:latin typeface="Arial"/>
                    <a:ea typeface="Arial"/>
                    <a:cs typeface="Arial"/>
                    <a:sym typeface="Arial"/>
                  </a:endParaRPr>
                </a:p>
              </p:txBody>
            </p:sp>
          </p:grpSp>
          <p:sp>
            <p:nvSpPr>
              <p:cNvPr id="905" name="Google Shape;905;p69"/>
              <p:cNvSpPr/>
              <p:nvPr/>
            </p:nvSpPr>
            <p:spPr>
              <a:xfrm>
                <a:off x="756360" y="5028120"/>
                <a:ext cx="811500" cy="832200"/>
              </a:xfrm>
              <a:prstGeom prst="ellipse">
                <a:avLst/>
              </a:prstGeom>
              <a:solidFill>
                <a:schemeClr val="accent4"/>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3</a:t>
                </a:r>
                <a:endParaRPr b="0" i="0" sz="1800" u="none" cap="none" strike="noStrike">
                  <a:solidFill>
                    <a:srgbClr val="000000"/>
                  </a:solidFill>
                  <a:latin typeface="Arial"/>
                  <a:ea typeface="Arial"/>
                  <a:cs typeface="Arial"/>
                  <a:sym typeface="Arial"/>
                </a:endParaRPr>
              </a:p>
            </p:txBody>
          </p:sp>
        </p:grpSp>
        <p:pic>
          <p:nvPicPr>
            <p:cNvPr id="906" name="Google Shape;906;p69"/>
            <p:cNvPicPr preferRelativeResize="0"/>
            <p:nvPr/>
          </p:nvPicPr>
          <p:blipFill rotWithShape="1">
            <a:blip r:embed="rId6">
              <a:alphaModFix/>
            </a:blip>
            <a:srcRect b="0" l="0" r="0" t="0"/>
            <a:stretch/>
          </p:blipFill>
          <p:spPr>
            <a:xfrm>
              <a:off x="9129600" y="4277880"/>
              <a:ext cx="2395800" cy="2395800"/>
            </a:xfrm>
            <a:prstGeom prst="rect">
              <a:avLst/>
            </a:prstGeom>
            <a:noFill/>
            <a:ln>
              <a:noFill/>
            </a:ln>
          </p:spPr>
        </p:pic>
      </p:grpSp>
      <p:sp>
        <p:nvSpPr>
          <p:cNvPr id="907" name="Google Shape;907;p69"/>
          <p:cNvSpPr/>
          <p:nvPr/>
        </p:nvSpPr>
        <p:spPr>
          <a:xfrm>
            <a:off x="346950" y="78030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08" name="Google Shape;908;p69"/>
          <p:cNvSpPr txBox="1"/>
          <p:nvPr>
            <p:ph idx="4294967295" type="title"/>
          </p:nvPr>
        </p:nvSpPr>
        <p:spPr>
          <a:xfrm>
            <a:off x="414188" y="258488"/>
            <a:ext cx="7688700" cy="53527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1900"/>
              <a:buNone/>
            </a:pPr>
            <a:r>
              <a:rPr lang="fr" sz="1100"/>
              <a:t>DNS &amp; CyberSecurity</a:t>
            </a:r>
            <a:endParaRPr sz="1100"/>
          </a:p>
        </p:txBody>
      </p:sp>
      <p:grpSp>
        <p:nvGrpSpPr>
          <p:cNvPr id="909" name="Google Shape;909;p69"/>
          <p:cNvGrpSpPr/>
          <p:nvPr/>
        </p:nvGrpSpPr>
        <p:grpSpPr>
          <a:xfrm>
            <a:off x="333450" y="214110"/>
            <a:ext cx="8566875" cy="2344680"/>
            <a:chOff x="444600" y="285480"/>
            <a:chExt cx="11422500" cy="3126240"/>
          </a:xfrm>
        </p:grpSpPr>
        <p:grpSp>
          <p:nvGrpSpPr>
            <p:cNvPr id="910" name="Google Shape;910;p69"/>
            <p:cNvGrpSpPr/>
            <p:nvPr/>
          </p:nvGrpSpPr>
          <p:grpSpPr>
            <a:xfrm>
              <a:off x="444600" y="1040700"/>
              <a:ext cx="11422500" cy="1543740"/>
              <a:chOff x="444600" y="1040700"/>
              <a:chExt cx="11422500" cy="1543740"/>
            </a:xfrm>
          </p:grpSpPr>
          <p:sp>
            <p:nvSpPr>
              <p:cNvPr id="911" name="Google Shape;911;p69"/>
              <p:cNvSpPr/>
              <p:nvPr/>
            </p:nvSpPr>
            <p:spPr>
              <a:xfrm rot="-5400000">
                <a:off x="5387400" y="-3902100"/>
                <a:ext cx="1536900" cy="11422500"/>
              </a:xfrm>
              <a:prstGeom prst="rect">
                <a:avLst/>
              </a:prstGeom>
              <a:solidFill>
                <a:srgbClr val="D9D9D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12" name="Google Shape;912;p69"/>
              <p:cNvSpPr/>
              <p:nvPr/>
            </p:nvSpPr>
            <p:spPr>
              <a:xfrm>
                <a:off x="1713600" y="1047240"/>
                <a:ext cx="7294200" cy="1537200"/>
              </a:xfrm>
              <a:prstGeom prst="rect">
                <a:avLst/>
              </a:prstGeom>
              <a:noFill/>
              <a:ln>
                <a:noFill/>
              </a:ln>
            </p:spPr>
            <p:txBody>
              <a:bodyPr anchorCtr="0" anchor="ctr" bIns="33750" lIns="67500" spcFirstLastPara="1" rIns="67500" wrap="square" tIns="33750">
                <a:noAutofit/>
              </a:bodyPr>
              <a:lstStyle/>
              <a:p>
                <a:pPr indent="0" lvl="0" marL="0" marR="0" rtl="0" algn="l">
                  <a:lnSpc>
                    <a:spcPct val="100000"/>
                  </a:lnSpc>
                  <a:spcBef>
                    <a:spcPts val="0"/>
                  </a:spcBef>
                  <a:spcAft>
                    <a:spcPts val="0"/>
                  </a:spcAft>
                  <a:buClr>
                    <a:srgbClr val="323232"/>
                  </a:buClr>
                  <a:buSzPts val="2400"/>
                  <a:buFont typeface="Arial"/>
                  <a:buNone/>
                </a:pPr>
                <a:r>
                  <a:rPr b="0" i="0" lang="fr" sz="2400" u="none" cap="none" strike="noStrike">
                    <a:solidFill>
                      <a:srgbClr val="323232"/>
                    </a:solidFill>
                    <a:latin typeface="Arial"/>
                    <a:ea typeface="Arial"/>
                    <a:cs typeface="Arial"/>
                    <a:sym typeface="Arial"/>
                  </a:rPr>
                  <a:t>Preventing communication over DNS</a:t>
                </a:r>
                <a:endParaRPr b="0" i="0" sz="2400" u="none" cap="none" strike="noStrike">
                  <a:solidFill>
                    <a:srgbClr val="000000"/>
                  </a:solidFill>
                  <a:latin typeface="Arial"/>
                  <a:ea typeface="Arial"/>
                  <a:cs typeface="Arial"/>
                  <a:sym typeface="Arial"/>
                </a:endParaRPr>
              </a:p>
            </p:txBody>
          </p:sp>
        </p:grpSp>
        <p:pic>
          <p:nvPicPr>
            <p:cNvPr id="913" name="Google Shape;913;p69"/>
            <p:cNvPicPr preferRelativeResize="0"/>
            <p:nvPr/>
          </p:nvPicPr>
          <p:blipFill rotWithShape="1">
            <a:blip r:embed="rId7">
              <a:alphaModFix/>
            </a:blip>
            <a:srcRect b="0" l="0" r="0" t="0"/>
            <a:stretch/>
          </p:blipFill>
          <p:spPr>
            <a:xfrm>
              <a:off x="8740800" y="285480"/>
              <a:ext cx="3126240" cy="3126240"/>
            </a:xfrm>
            <a:prstGeom prst="rect">
              <a:avLst/>
            </a:prstGeom>
            <a:noFill/>
            <a:ln>
              <a:noFill/>
            </a:ln>
          </p:spPr>
        </p:pic>
        <p:sp>
          <p:nvSpPr>
            <p:cNvPr id="914" name="Google Shape;914;p69"/>
            <p:cNvSpPr/>
            <p:nvPr/>
          </p:nvSpPr>
          <p:spPr>
            <a:xfrm>
              <a:off x="750960" y="1397880"/>
              <a:ext cx="811500" cy="832200"/>
            </a:xfrm>
            <a:prstGeom prst="ellipse">
              <a:avLst/>
            </a:prstGeom>
            <a:solidFill>
              <a:schemeClr val="dk2"/>
            </a:solidFill>
            <a:ln>
              <a:noFill/>
            </a:ln>
            <a:effectLst>
              <a:outerShdw blurRad="39960" rotWithShape="0" dir="5400000" dist="23040">
                <a:srgbClr val="000000">
                  <a:alpha val="34510"/>
                </a:srgbClr>
              </a:outerShdw>
            </a:effectLst>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FFFFFF"/>
                </a:buClr>
                <a:buSzPts val="1800"/>
                <a:buFont typeface="Arial"/>
                <a:buNone/>
              </a:pPr>
              <a:r>
                <a:rPr b="1" i="0" lang="fr" sz="1800" u="none" cap="none" strike="noStrike">
                  <a:solidFill>
                    <a:srgbClr val="FFFFFF"/>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grpSp>
      <p:sp>
        <p:nvSpPr>
          <p:cNvPr id="915" name="Google Shape;915;p69"/>
          <p:cNvSpPr/>
          <p:nvPr/>
        </p:nvSpPr>
        <p:spPr>
          <a:xfrm>
            <a:off x="353700" y="2145825"/>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16" name="Google Shape;916;p69"/>
          <p:cNvSpPr/>
          <p:nvPr/>
        </p:nvSpPr>
        <p:spPr>
          <a:xfrm>
            <a:off x="353700" y="780300"/>
            <a:ext cx="8553375" cy="1158300"/>
          </a:xfrm>
          <a:prstGeom prst="rect">
            <a:avLst/>
          </a:prstGeom>
          <a:solidFill>
            <a:schemeClr val="lt2">
              <a:alpha val="69412"/>
            </a:schemeClr>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70"/>
          <p:cNvSpPr/>
          <p:nvPr/>
        </p:nvSpPr>
        <p:spPr>
          <a:xfrm>
            <a:off x="359569" y="4344215"/>
            <a:ext cx="8499300" cy="5007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3" name="Google Shape;923;p70"/>
          <p:cNvSpPr/>
          <p:nvPr/>
        </p:nvSpPr>
        <p:spPr>
          <a:xfrm>
            <a:off x="366521" y="2247126"/>
            <a:ext cx="8499300" cy="3390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4" name="Google Shape;924;p70"/>
          <p:cNvSpPr/>
          <p:nvPr/>
        </p:nvSpPr>
        <p:spPr>
          <a:xfrm>
            <a:off x="363044" y="4060445"/>
            <a:ext cx="8499300" cy="339000"/>
          </a:xfrm>
          <a:prstGeom prst="rect">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5" name="Google Shape;925;p70"/>
          <p:cNvSpPr/>
          <p:nvPr/>
        </p:nvSpPr>
        <p:spPr>
          <a:xfrm>
            <a:off x="363044" y="3697835"/>
            <a:ext cx="8499300" cy="3390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6" name="Google Shape;926;p70"/>
          <p:cNvSpPr/>
          <p:nvPr/>
        </p:nvSpPr>
        <p:spPr>
          <a:xfrm>
            <a:off x="366521" y="1884517"/>
            <a:ext cx="8499300" cy="339000"/>
          </a:xfrm>
          <a:prstGeom prst="rect">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7" name="Google Shape;927;p70"/>
          <p:cNvSpPr/>
          <p:nvPr/>
        </p:nvSpPr>
        <p:spPr>
          <a:xfrm>
            <a:off x="366521" y="1521907"/>
            <a:ext cx="8499300" cy="3390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8" name="Google Shape;928;p70"/>
          <p:cNvSpPr/>
          <p:nvPr/>
        </p:nvSpPr>
        <p:spPr>
          <a:xfrm>
            <a:off x="366521" y="796688"/>
            <a:ext cx="8499300" cy="3390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9" name="Google Shape;929;p70"/>
          <p:cNvSpPr/>
          <p:nvPr/>
        </p:nvSpPr>
        <p:spPr>
          <a:xfrm>
            <a:off x="366521" y="1159298"/>
            <a:ext cx="8499300" cy="339000"/>
          </a:xfrm>
          <a:prstGeom prst="rect">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0" name="Google Shape;930;p70"/>
          <p:cNvSpPr/>
          <p:nvPr/>
        </p:nvSpPr>
        <p:spPr>
          <a:xfrm>
            <a:off x="366521" y="2609736"/>
            <a:ext cx="8499300" cy="339000"/>
          </a:xfrm>
          <a:prstGeom prst="rect">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1" name="Google Shape;931;p70"/>
          <p:cNvSpPr/>
          <p:nvPr/>
        </p:nvSpPr>
        <p:spPr>
          <a:xfrm>
            <a:off x="366521" y="2972615"/>
            <a:ext cx="8499300" cy="339000"/>
          </a:xfrm>
          <a:prstGeom prst="rect">
            <a:avLst/>
          </a:prstGeom>
          <a:solidFill>
            <a:srgbClr val="D8D8D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2" name="Google Shape;932;p70"/>
          <p:cNvSpPr/>
          <p:nvPr/>
        </p:nvSpPr>
        <p:spPr>
          <a:xfrm>
            <a:off x="366521" y="3335225"/>
            <a:ext cx="8499300" cy="339000"/>
          </a:xfrm>
          <a:prstGeom prst="rect">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3" name="Google Shape;933;p70"/>
          <p:cNvSpPr/>
          <p:nvPr/>
        </p:nvSpPr>
        <p:spPr>
          <a:xfrm>
            <a:off x="497741" y="884275"/>
            <a:ext cx="26415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3E0"/>
              </a:buClr>
              <a:buSzPts val="1100"/>
              <a:buFont typeface="Arial"/>
              <a:buNone/>
            </a:pPr>
            <a:r>
              <a:rPr b="1" i="0" lang="fr" sz="1400" u="none" cap="none" strike="noStrike">
                <a:solidFill>
                  <a:srgbClr val="0073E0"/>
                </a:solidFill>
                <a:latin typeface="Arial"/>
                <a:ea typeface="Arial"/>
                <a:cs typeface="Arial"/>
                <a:sym typeface="Arial"/>
              </a:rPr>
              <a:t>DNS reflection/DrDoS attacks</a:t>
            </a:r>
            <a:endParaRPr b="0" i="0" sz="1400" u="none" cap="none" strike="noStrike">
              <a:solidFill>
                <a:srgbClr val="000000"/>
              </a:solidFill>
              <a:latin typeface="Arial"/>
              <a:ea typeface="Arial"/>
              <a:cs typeface="Arial"/>
              <a:sym typeface="Arial"/>
            </a:endParaRPr>
          </a:p>
        </p:txBody>
      </p:sp>
      <p:sp>
        <p:nvSpPr>
          <p:cNvPr id="934" name="Google Shape;934;p70"/>
          <p:cNvSpPr/>
          <p:nvPr/>
        </p:nvSpPr>
        <p:spPr>
          <a:xfrm>
            <a:off x="3151657" y="798038"/>
            <a:ext cx="53007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Using third-party DNS servers (mostly open resolvers) to propagate a DoS or DDoS attack </a:t>
            </a:r>
            <a:endParaRPr b="0" i="0" sz="1200" u="none" cap="none" strike="noStrike">
              <a:solidFill>
                <a:srgbClr val="000000"/>
              </a:solidFill>
              <a:latin typeface="Arial"/>
              <a:ea typeface="Arial"/>
              <a:cs typeface="Arial"/>
              <a:sym typeface="Arial"/>
            </a:endParaRPr>
          </a:p>
        </p:txBody>
      </p:sp>
      <p:sp>
        <p:nvSpPr>
          <p:cNvPr id="935" name="Google Shape;935;p70"/>
          <p:cNvSpPr/>
          <p:nvPr/>
        </p:nvSpPr>
        <p:spPr>
          <a:xfrm>
            <a:off x="493552" y="1242563"/>
            <a:ext cx="16149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3E0"/>
              </a:buClr>
              <a:buSzPts val="1100"/>
              <a:buFont typeface="Arial"/>
              <a:buNone/>
            </a:pPr>
            <a:r>
              <a:rPr b="1" i="0" lang="fr" sz="1400" u="none" cap="none" strike="noStrike">
                <a:solidFill>
                  <a:srgbClr val="0073E0"/>
                </a:solidFill>
                <a:latin typeface="Arial"/>
                <a:ea typeface="Arial"/>
                <a:cs typeface="Arial"/>
                <a:sym typeface="Arial"/>
              </a:rPr>
              <a:t>DNS amplification</a:t>
            </a:r>
            <a:endParaRPr b="0" i="0" sz="1400" u="none" cap="none" strike="noStrike">
              <a:solidFill>
                <a:srgbClr val="000000"/>
              </a:solidFill>
              <a:latin typeface="Arial"/>
              <a:ea typeface="Arial"/>
              <a:cs typeface="Arial"/>
              <a:sym typeface="Arial"/>
            </a:endParaRPr>
          </a:p>
        </p:txBody>
      </p:sp>
      <p:sp>
        <p:nvSpPr>
          <p:cNvPr id="936" name="Google Shape;936;p70"/>
          <p:cNvSpPr/>
          <p:nvPr/>
        </p:nvSpPr>
        <p:spPr>
          <a:xfrm>
            <a:off x="3151657" y="1143638"/>
            <a:ext cx="53178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Using a specially crafted query to create an amplified response to flood the victim with traffic</a:t>
            </a:r>
            <a:endParaRPr b="0" i="0" sz="1200" u="none" cap="none" strike="noStrike">
              <a:solidFill>
                <a:srgbClr val="000000"/>
              </a:solidFill>
              <a:latin typeface="Arial"/>
              <a:ea typeface="Arial"/>
              <a:cs typeface="Arial"/>
              <a:sym typeface="Arial"/>
            </a:endParaRPr>
          </a:p>
        </p:txBody>
      </p:sp>
      <p:sp>
        <p:nvSpPr>
          <p:cNvPr id="937" name="Google Shape;937;p70"/>
          <p:cNvSpPr/>
          <p:nvPr/>
        </p:nvSpPr>
        <p:spPr>
          <a:xfrm>
            <a:off x="496598" y="1598691"/>
            <a:ext cx="19647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3E0"/>
              </a:buClr>
              <a:buSzPts val="1100"/>
              <a:buFont typeface="Arial"/>
              <a:buNone/>
            </a:pPr>
            <a:r>
              <a:rPr b="1" i="0" lang="fr" sz="1400" u="none" cap="none" strike="noStrike">
                <a:solidFill>
                  <a:srgbClr val="0073E0"/>
                </a:solidFill>
                <a:latin typeface="Arial"/>
                <a:ea typeface="Arial"/>
                <a:cs typeface="Arial"/>
                <a:sym typeface="Arial"/>
              </a:rPr>
              <a:t>TCP/UDP/ICMP floods</a:t>
            </a:r>
            <a:endParaRPr b="0" i="0" sz="1400" u="none" cap="none" strike="noStrike">
              <a:solidFill>
                <a:srgbClr val="000000"/>
              </a:solidFill>
              <a:latin typeface="Arial"/>
              <a:ea typeface="Arial"/>
              <a:cs typeface="Arial"/>
              <a:sym typeface="Arial"/>
            </a:endParaRPr>
          </a:p>
        </p:txBody>
      </p:sp>
      <p:sp>
        <p:nvSpPr>
          <p:cNvPr id="938" name="Google Shape;938;p70"/>
          <p:cNvSpPr/>
          <p:nvPr/>
        </p:nvSpPr>
        <p:spPr>
          <a:xfrm>
            <a:off x="3151657" y="1502467"/>
            <a:ext cx="55785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Denial of service on layer 3 or 4 by bringing a network or service down by flooding it with large amounts of traffic </a:t>
            </a:r>
            <a:endParaRPr b="0" i="0" sz="1200" u="none" cap="none" strike="noStrike">
              <a:solidFill>
                <a:srgbClr val="000000"/>
              </a:solidFill>
              <a:latin typeface="Arial"/>
              <a:ea typeface="Arial"/>
              <a:cs typeface="Arial"/>
              <a:sym typeface="Arial"/>
            </a:endParaRPr>
          </a:p>
        </p:txBody>
      </p:sp>
      <p:sp>
        <p:nvSpPr>
          <p:cNvPr id="939" name="Google Shape;939;p70"/>
          <p:cNvSpPr/>
          <p:nvPr/>
        </p:nvSpPr>
        <p:spPr>
          <a:xfrm>
            <a:off x="495456" y="2710995"/>
            <a:ext cx="17694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00"/>
              </a:buClr>
              <a:buSzPts val="1100"/>
              <a:buFont typeface="Arial"/>
              <a:buNone/>
            </a:pPr>
            <a:r>
              <a:rPr b="1" i="0" lang="fr" sz="1400" u="none" cap="none" strike="noStrike">
                <a:solidFill>
                  <a:srgbClr val="FF0000"/>
                </a:solidFill>
                <a:latin typeface="Arial"/>
                <a:ea typeface="Arial"/>
                <a:cs typeface="Arial"/>
                <a:sym typeface="Arial"/>
              </a:rPr>
              <a:t>DNS-based exploits</a:t>
            </a:r>
            <a:endParaRPr b="0" i="0" sz="1400" u="none" cap="none" strike="noStrike">
              <a:solidFill>
                <a:srgbClr val="000000"/>
              </a:solidFill>
              <a:latin typeface="Arial"/>
              <a:ea typeface="Arial"/>
              <a:cs typeface="Arial"/>
              <a:sym typeface="Arial"/>
            </a:endParaRPr>
          </a:p>
        </p:txBody>
      </p:sp>
      <p:sp>
        <p:nvSpPr>
          <p:cNvPr id="940" name="Google Shape;940;p70"/>
          <p:cNvSpPr/>
          <p:nvPr/>
        </p:nvSpPr>
        <p:spPr>
          <a:xfrm>
            <a:off x="3151657" y="2681737"/>
            <a:ext cx="5578500" cy="2277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Attacks that exploit bugs or vulnerabilities in the DNS software</a:t>
            </a:r>
            <a:endParaRPr b="0" i="0" sz="1200" u="none" cap="none" strike="noStrike">
              <a:solidFill>
                <a:srgbClr val="000000"/>
              </a:solidFill>
              <a:latin typeface="Arial"/>
              <a:ea typeface="Arial"/>
              <a:cs typeface="Arial"/>
              <a:sym typeface="Arial"/>
            </a:endParaRPr>
          </a:p>
        </p:txBody>
      </p:sp>
      <p:sp>
        <p:nvSpPr>
          <p:cNvPr id="941" name="Google Shape;941;p70"/>
          <p:cNvSpPr/>
          <p:nvPr/>
        </p:nvSpPr>
        <p:spPr>
          <a:xfrm>
            <a:off x="496980" y="3066583"/>
            <a:ext cx="19356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00"/>
              </a:buClr>
              <a:buSzPts val="1100"/>
              <a:buFont typeface="Arial"/>
              <a:buNone/>
            </a:pPr>
            <a:r>
              <a:rPr b="1" i="0" lang="fr" sz="1400" u="none" cap="none" strike="noStrike">
                <a:solidFill>
                  <a:srgbClr val="FF0000"/>
                </a:solidFill>
                <a:latin typeface="Arial"/>
                <a:ea typeface="Arial"/>
                <a:cs typeface="Arial"/>
                <a:sym typeface="Arial"/>
              </a:rPr>
              <a:t>DNS cache poisoning</a:t>
            </a:r>
            <a:endParaRPr b="0" i="0" sz="1400" u="none" cap="none" strike="noStrike">
              <a:solidFill>
                <a:srgbClr val="000000"/>
              </a:solidFill>
              <a:latin typeface="Arial"/>
              <a:ea typeface="Arial"/>
              <a:cs typeface="Arial"/>
              <a:sym typeface="Arial"/>
            </a:endParaRPr>
          </a:p>
        </p:txBody>
      </p:sp>
      <p:sp>
        <p:nvSpPr>
          <p:cNvPr id="942" name="Google Shape;942;p70"/>
          <p:cNvSpPr/>
          <p:nvPr/>
        </p:nvSpPr>
        <p:spPr>
          <a:xfrm>
            <a:off x="3151657" y="3042996"/>
            <a:ext cx="5443800" cy="2277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Corruption of DNS server cache data with a rogue domain or IP </a:t>
            </a:r>
            <a:endParaRPr b="0" i="0" sz="1200" u="none" cap="none" strike="noStrike">
              <a:solidFill>
                <a:srgbClr val="000000"/>
              </a:solidFill>
              <a:latin typeface="Arial"/>
              <a:ea typeface="Arial"/>
              <a:cs typeface="Arial"/>
              <a:sym typeface="Arial"/>
            </a:endParaRPr>
          </a:p>
        </p:txBody>
      </p:sp>
      <p:sp>
        <p:nvSpPr>
          <p:cNvPr id="943" name="Google Shape;943;p70"/>
          <p:cNvSpPr/>
          <p:nvPr/>
        </p:nvSpPr>
        <p:spPr>
          <a:xfrm>
            <a:off x="494314" y="3441611"/>
            <a:ext cx="17403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00"/>
              </a:buClr>
              <a:buSzPts val="1100"/>
              <a:buFont typeface="Arial"/>
              <a:buNone/>
            </a:pPr>
            <a:r>
              <a:rPr b="1" i="0" lang="fr" sz="1400" u="none" cap="none" strike="noStrike">
                <a:solidFill>
                  <a:srgbClr val="FF0000"/>
                </a:solidFill>
                <a:latin typeface="Arial"/>
                <a:ea typeface="Arial"/>
                <a:cs typeface="Arial"/>
                <a:sym typeface="Arial"/>
              </a:rPr>
              <a:t>Protocol anomalies</a:t>
            </a:r>
            <a:endParaRPr b="0" i="0" sz="1400" u="none" cap="none" strike="noStrike">
              <a:solidFill>
                <a:srgbClr val="000000"/>
              </a:solidFill>
              <a:latin typeface="Arial"/>
              <a:ea typeface="Arial"/>
              <a:cs typeface="Arial"/>
              <a:sym typeface="Arial"/>
            </a:endParaRPr>
          </a:p>
        </p:txBody>
      </p:sp>
      <p:sp>
        <p:nvSpPr>
          <p:cNvPr id="944" name="Google Shape;944;p70"/>
          <p:cNvSpPr/>
          <p:nvPr/>
        </p:nvSpPr>
        <p:spPr>
          <a:xfrm>
            <a:off x="3151657" y="3334866"/>
            <a:ext cx="51495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Causing the server to crash by sending malformed DNS packets and queries</a:t>
            </a:r>
            <a:endParaRPr b="0" i="0" sz="1200" u="none" cap="none" strike="noStrike">
              <a:solidFill>
                <a:srgbClr val="000000"/>
              </a:solidFill>
              <a:latin typeface="Arial"/>
              <a:ea typeface="Arial"/>
              <a:cs typeface="Arial"/>
              <a:sym typeface="Arial"/>
            </a:endParaRPr>
          </a:p>
        </p:txBody>
      </p:sp>
      <p:sp>
        <p:nvSpPr>
          <p:cNvPr id="945" name="Google Shape;945;p70"/>
          <p:cNvSpPr/>
          <p:nvPr/>
        </p:nvSpPr>
        <p:spPr>
          <a:xfrm>
            <a:off x="498502" y="3787478"/>
            <a:ext cx="14862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00"/>
              </a:buClr>
              <a:buSzPts val="1100"/>
              <a:buFont typeface="Arial"/>
              <a:buNone/>
            </a:pPr>
            <a:r>
              <a:rPr b="1" i="0" lang="fr" sz="1400" u="none" cap="none" strike="noStrike">
                <a:solidFill>
                  <a:srgbClr val="FF0000"/>
                </a:solidFill>
                <a:latin typeface="Arial"/>
                <a:ea typeface="Arial"/>
                <a:cs typeface="Arial"/>
                <a:sym typeface="Arial"/>
              </a:rPr>
              <a:t>Reconnaissance</a:t>
            </a:r>
            <a:endParaRPr b="0" i="0" sz="1400" u="none" cap="none" strike="noStrike">
              <a:solidFill>
                <a:srgbClr val="000000"/>
              </a:solidFill>
              <a:latin typeface="Arial"/>
              <a:ea typeface="Arial"/>
              <a:cs typeface="Arial"/>
              <a:sym typeface="Arial"/>
            </a:endParaRPr>
          </a:p>
        </p:txBody>
      </p:sp>
      <p:sp>
        <p:nvSpPr>
          <p:cNvPr id="946" name="Google Shape;946;p70"/>
          <p:cNvSpPr/>
          <p:nvPr/>
        </p:nvSpPr>
        <p:spPr>
          <a:xfrm>
            <a:off x="3151657" y="3706385"/>
            <a:ext cx="53262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Attempts by hackers to get information on the network environment before launching a DDoS or other type of attack via DNS queries or Zone Transfers</a:t>
            </a:r>
            <a:endParaRPr b="0" i="0" sz="1200" u="none" cap="none" strike="noStrike">
              <a:solidFill>
                <a:srgbClr val="000000"/>
              </a:solidFill>
              <a:latin typeface="Arial"/>
              <a:ea typeface="Arial"/>
              <a:cs typeface="Arial"/>
              <a:sym typeface="Arial"/>
            </a:endParaRPr>
          </a:p>
        </p:txBody>
      </p:sp>
      <p:sp>
        <p:nvSpPr>
          <p:cNvPr id="947" name="Google Shape;947;p70"/>
          <p:cNvSpPr/>
          <p:nvPr/>
        </p:nvSpPr>
        <p:spPr>
          <a:xfrm>
            <a:off x="493933" y="4156297"/>
            <a:ext cx="12972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00"/>
              </a:buClr>
              <a:buSzPts val="1100"/>
              <a:buFont typeface="Arial"/>
              <a:buNone/>
            </a:pPr>
            <a:r>
              <a:rPr b="1" i="0" lang="fr" sz="1400" u="none" cap="none" strike="noStrike">
                <a:solidFill>
                  <a:srgbClr val="FF0000"/>
                </a:solidFill>
                <a:latin typeface="Arial"/>
                <a:ea typeface="Arial"/>
                <a:cs typeface="Arial"/>
                <a:sym typeface="Arial"/>
              </a:rPr>
              <a:t>DNS tunneling</a:t>
            </a:r>
            <a:endParaRPr b="0" i="0" sz="1400" u="none" cap="none" strike="noStrike">
              <a:solidFill>
                <a:srgbClr val="000000"/>
              </a:solidFill>
              <a:latin typeface="Arial"/>
              <a:ea typeface="Arial"/>
              <a:cs typeface="Arial"/>
              <a:sym typeface="Arial"/>
            </a:endParaRPr>
          </a:p>
        </p:txBody>
      </p:sp>
      <p:sp>
        <p:nvSpPr>
          <p:cNvPr id="948" name="Google Shape;948;p70"/>
          <p:cNvSpPr/>
          <p:nvPr/>
        </p:nvSpPr>
        <p:spPr>
          <a:xfrm>
            <a:off x="3151657" y="4074665"/>
            <a:ext cx="55785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Tunneling of another protocol through DNS port 53 for malware insertion and/or data exfiltration</a:t>
            </a:r>
            <a:endParaRPr b="0" i="0" sz="1200" u="none" cap="none" strike="noStrike">
              <a:solidFill>
                <a:srgbClr val="000000"/>
              </a:solidFill>
              <a:latin typeface="Arial"/>
              <a:ea typeface="Arial"/>
              <a:cs typeface="Arial"/>
              <a:sym typeface="Arial"/>
            </a:endParaRPr>
          </a:p>
        </p:txBody>
      </p:sp>
      <p:cxnSp>
        <p:nvCxnSpPr>
          <p:cNvPr id="949" name="Google Shape;949;p70"/>
          <p:cNvCxnSpPr/>
          <p:nvPr/>
        </p:nvCxnSpPr>
        <p:spPr>
          <a:xfrm>
            <a:off x="3069976" y="817747"/>
            <a:ext cx="300" cy="3957300"/>
          </a:xfrm>
          <a:prstGeom prst="straightConnector1">
            <a:avLst/>
          </a:prstGeom>
          <a:noFill/>
          <a:ln cap="flat" cmpd="sng" w="12700">
            <a:solidFill>
              <a:srgbClr val="7F7F7F"/>
            </a:solidFill>
            <a:prstDash val="dot"/>
            <a:round/>
            <a:headEnd len="sm" w="sm" type="none"/>
            <a:tailEnd len="sm" w="sm" type="none"/>
          </a:ln>
        </p:spPr>
      </p:cxnSp>
      <p:sp>
        <p:nvSpPr>
          <p:cNvPr id="950" name="Google Shape;950;p70"/>
          <p:cNvSpPr/>
          <p:nvPr/>
        </p:nvSpPr>
        <p:spPr>
          <a:xfrm>
            <a:off x="2699272" y="4871794"/>
            <a:ext cx="16392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23232"/>
              </a:buClr>
              <a:buSzPts val="900"/>
              <a:buFont typeface="Arial"/>
              <a:buNone/>
            </a:pPr>
            <a:r>
              <a:rPr b="0" i="0" lang="fr" sz="1000" u="none" cap="none" strike="noStrike">
                <a:solidFill>
                  <a:srgbClr val="323232"/>
                </a:solidFill>
                <a:latin typeface="Arial"/>
                <a:ea typeface="Arial"/>
                <a:cs typeface="Arial"/>
                <a:sym typeface="Arial"/>
              </a:rPr>
              <a:t>Volumetric/DDoS Attacks</a:t>
            </a:r>
            <a:endParaRPr b="0" i="0" sz="1000" u="none" cap="none" strike="noStrike">
              <a:solidFill>
                <a:srgbClr val="000000"/>
              </a:solidFill>
              <a:latin typeface="Arial"/>
              <a:ea typeface="Arial"/>
              <a:cs typeface="Arial"/>
              <a:sym typeface="Arial"/>
            </a:endParaRPr>
          </a:p>
        </p:txBody>
      </p:sp>
      <p:sp>
        <p:nvSpPr>
          <p:cNvPr id="951" name="Google Shape;951;p70"/>
          <p:cNvSpPr/>
          <p:nvPr/>
        </p:nvSpPr>
        <p:spPr>
          <a:xfrm>
            <a:off x="493171" y="4523494"/>
            <a:ext cx="12681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00"/>
              </a:buClr>
              <a:buSzPts val="1100"/>
              <a:buFont typeface="Arial"/>
              <a:buNone/>
            </a:pPr>
            <a:r>
              <a:rPr b="1" i="0" lang="fr" sz="1400" u="none" cap="none" strike="noStrike">
                <a:solidFill>
                  <a:srgbClr val="FF0000"/>
                </a:solidFill>
                <a:latin typeface="Arial"/>
                <a:ea typeface="Arial"/>
                <a:cs typeface="Arial"/>
                <a:sym typeface="Arial"/>
              </a:rPr>
              <a:t>DNS hijacking</a:t>
            </a:r>
            <a:endParaRPr b="0" i="0" sz="1400" u="none" cap="none" strike="noStrike">
              <a:solidFill>
                <a:srgbClr val="000000"/>
              </a:solidFill>
              <a:latin typeface="Arial"/>
              <a:ea typeface="Arial"/>
              <a:cs typeface="Arial"/>
              <a:sym typeface="Arial"/>
            </a:endParaRPr>
          </a:p>
        </p:txBody>
      </p:sp>
      <p:sp>
        <p:nvSpPr>
          <p:cNvPr id="952" name="Google Shape;952;p70"/>
          <p:cNvSpPr/>
          <p:nvPr/>
        </p:nvSpPr>
        <p:spPr>
          <a:xfrm>
            <a:off x="3151657" y="4429445"/>
            <a:ext cx="49983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Modifying the DNS record settings to point to a rogue DNS server or domain</a:t>
            </a:r>
            <a:endParaRPr b="0" i="0" sz="1200" u="none" cap="none" strike="noStrike">
              <a:solidFill>
                <a:srgbClr val="000000"/>
              </a:solidFill>
              <a:latin typeface="Arial"/>
              <a:ea typeface="Arial"/>
              <a:cs typeface="Arial"/>
              <a:sym typeface="Arial"/>
            </a:endParaRPr>
          </a:p>
        </p:txBody>
      </p:sp>
      <p:sp>
        <p:nvSpPr>
          <p:cNvPr id="953" name="Google Shape;953;p70"/>
          <p:cNvSpPr/>
          <p:nvPr/>
        </p:nvSpPr>
        <p:spPr>
          <a:xfrm>
            <a:off x="481096" y="1950902"/>
            <a:ext cx="15501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3E0"/>
              </a:buClr>
              <a:buSzPts val="1100"/>
              <a:buFont typeface="Arial"/>
              <a:buNone/>
            </a:pPr>
            <a:r>
              <a:rPr b="1" i="0" lang="fr" sz="1400" u="none" cap="none" strike="noStrike">
                <a:solidFill>
                  <a:srgbClr val="0073E0"/>
                </a:solidFill>
                <a:latin typeface="Arial"/>
                <a:ea typeface="Arial"/>
                <a:cs typeface="Arial"/>
                <a:sym typeface="Arial"/>
              </a:rPr>
              <a:t>NXDomain attack</a:t>
            </a:r>
            <a:endParaRPr b="0" i="0" sz="1400" u="none" cap="none" strike="noStrike">
              <a:solidFill>
                <a:srgbClr val="000000"/>
              </a:solidFill>
              <a:latin typeface="Arial"/>
              <a:ea typeface="Arial"/>
              <a:cs typeface="Arial"/>
              <a:sym typeface="Arial"/>
            </a:endParaRPr>
          </a:p>
        </p:txBody>
      </p:sp>
      <p:sp>
        <p:nvSpPr>
          <p:cNvPr id="954" name="Google Shape;954;p70"/>
          <p:cNvSpPr/>
          <p:nvPr/>
        </p:nvSpPr>
        <p:spPr>
          <a:xfrm>
            <a:off x="3139244" y="1852250"/>
            <a:ext cx="5494200" cy="3552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Attacks that flood DNS server with requests for non-existent domains, causing it to send NXDomain (non-existent domain) responses</a:t>
            </a:r>
            <a:endParaRPr b="0" i="0" sz="1200" u="none" cap="none" strike="noStrike">
              <a:solidFill>
                <a:srgbClr val="000000"/>
              </a:solidFill>
              <a:latin typeface="Arial"/>
              <a:ea typeface="Arial"/>
              <a:cs typeface="Arial"/>
              <a:sym typeface="Arial"/>
            </a:endParaRPr>
          </a:p>
        </p:txBody>
      </p:sp>
      <p:sp>
        <p:nvSpPr>
          <p:cNvPr id="955" name="Google Shape;955;p70"/>
          <p:cNvSpPr/>
          <p:nvPr/>
        </p:nvSpPr>
        <p:spPr>
          <a:xfrm>
            <a:off x="483761" y="2310540"/>
            <a:ext cx="2126100" cy="16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3E0"/>
              </a:buClr>
              <a:buSzPts val="1100"/>
              <a:buFont typeface="Arial"/>
              <a:buNone/>
            </a:pPr>
            <a:r>
              <a:rPr b="1" i="0" lang="fr" sz="1400" u="none" cap="none" strike="noStrike">
                <a:solidFill>
                  <a:srgbClr val="0073E0"/>
                </a:solidFill>
                <a:latin typeface="Arial"/>
                <a:ea typeface="Arial"/>
                <a:cs typeface="Arial"/>
                <a:sym typeface="Arial"/>
              </a:rPr>
              <a:t>Phantom domain attack</a:t>
            </a:r>
            <a:endParaRPr b="0" i="0" sz="1400" u="none" cap="none" strike="noStrike">
              <a:solidFill>
                <a:srgbClr val="000000"/>
              </a:solidFill>
              <a:latin typeface="Arial"/>
              <a:ea typeface="Arial"/>
              <a:cs typeface="Arial"/>
              <a:sym typeface="Arial"/>
            </a:endParaRPr>
          </a:p>
        </p:txBody>
      </p:sp>
      <p:sp>
        <p:nvSpPr>
          <p:cNvPr id="956" name="Google Shape;956;p70"/>
          <p:cNvSpPr/>
          <p:nvPr/>
        </p:nvSpPr>
        <p:spPr>
          <a:xfrm>
            <a:off x="3139244" y="2233760"/>
            <a:ext cx="5578500" cy="498300"/>
          </a:xfrm>
          <a:prstGeom prst="rect">
            <a:avLst/>
          </a:prstGeom>
          <a:noFill/>
          <a:ln>
            <a:noFill/>
          </a:ln>
        </p:spPr>
        <p:txBody>
          <a:bodyPr anchorCtr="0" anchor="t" bIns="33750" lIns="67500" spcFirstLastPara="1" rIns="67500" wrap="square" tIns="33750">
            <a:noAutofit/>
          </a:bodyPr>
          <a:lstStyle/>
          <a:p>
            <a:pPr indent="0" lvl="0" marL="0" marR="0" rtl="0" algn="l">
              <a:lnSpc>
                <a:spcPct val="90000"/>
              </a:lnSpc>
              <a:spcBef>
                <a:spcPts val="0"/>
              </a:spcBef>
              <a:spcAft>
                <a:spcPts val="0"/>
              </a:spcAft>
              <a:buClr>
                <a:srgbClr val="323232"/>
              </a:buClr>
              <a:buSzPts val="1100"/>
              <a:buFont typeface="Arial"/>
              <a:buNone/>
            </a:pPr>
            <a:r>
              <a:rPr b="0" i="0" lang="fr" sz="1200" u="none" cap="none" strike="noStrike">
                <a:solidFill>
                  <a:srgbClr val="323232"/>
                </a:solidFill>
                <a:latin typeface="Arial"/>
                <a:ea typeface="Arial"/>
                <a:cs typeface="Arial"/>
                <a:sym typeface="Arial"/>
              </a:rPr>
              <a:t>Attacks where a DNS resolver is forced to resolve multiple non-existent domains, causing it to consume resources while waiting for responses</a:t>
            </a:r>
            <a:endParaRPr b="0" i="0" sz="1200" u="none" cap="none" strike="noStrike">
              <a:solidFill>
                <a:srgbClr val="000000"/>
              </a:solidFill>
              <a:latin typeface="Arial"/>
              <a:ea typeface="Arial"/>
              <a:cs typeface="Arial"/>
              <a:sym typeface="Arial"/>
            </a:endParaRPr>
          </a:p>
        </p:txBody>
      </p:sp>
      <p:sp>
        <p:nvSpPr>
          <p:cNvPr id="957" name="Google Shape;957;p70"/>
          <p:cNvSpPr/>
          <p:nvPr/>
        </p:nvSpPr>
        <p:spPr>
          <a:xfrm>
            <a:off x="658833" y="4864774"/>
            <a:ext cx="14091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23232"/>
              </a:buClr>
              <a:buSzPts val="900"/>
              <a:buFont typeface="Arial"/>
              <a:buNone/>
            </a:pPr>
            <a:r>
              <a:rPr b="0" i="0" lang="fr" sz="1000" u="none" cap="none" strike="noStrike">
                <a:solidFill>
                  <a:srgbClr val="323232"/>
                </a:solidFill>
                <a:latin typeface="Arial"/>
                <a:ea typeface="Arial"/>
                <a:cs typeface="Arial"/>
                <a:sym typeface="Arial"/>
              </a:rPr>
              <a:t>DNS-specific Exploits</a:t>
            </a:r>
            <a:endParaRPr b="0" i="0" sz="1000" u="none" cap="none" strike="noStrike">
              <a:solidFill>
                <a:srgbClr val="000000"/>
              </a:solidFill>
              <a:latin typeface="Arial"/>
              <a:ea typeface="Arial"/>
              <a:cs typeface="Arial"/>
              <a:sym typeface="Arial"/>
            </a:endParaRPr>
          </a:p>
        </p:txBody>
      </p:sp>
      <p:sp>
        <p:nvSpPr>
          <p:cNvPr id="958" name="Google Shape;958;p70"/>
          <p:cNvSpPr/>
          <p:nvPr/>
        </p:nvSpPr>
        <p:spPr>
          <a:xfrm>
            <a:off x="407874" y="4880426"/>
            <a:ext cx="176700" cy="125400"/>
          </a:xfrm>
          <a:prstGeom prst="rect">
            <a:avLst/>
          </a:prstGeom>
          <a:solidFill>
            <a:srgbClr val="FF000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59" name="Google Shape;959;p70"/>
          <p:cNvSpPr/>
          <p:nvPr/>
        </p:nvSpPr>
        <p:spPr>
          <a:xfrm>
            <a:off x="2468721" y="4880426"/>
            <a:ext cx="176700" cy="125400"/>
          </a:xfrm>
          <a:prstGeom prst="rect">
            <a:avLst/>
          </a:prstGeom>
          <a:solidFill>
            <a:srgbClr val="0070C0"/>
          </a:solidFill>
          <a:ln>
            <a:noFill/>
          </a:ln>
          <a:effectLst>
            <a:outerShdw blurRad="39960" rotWithShape="0" dir="5400000" dist="23040">
              <a:srgbClr val="000000">
                <a:alpha val="3451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0" name="Google Shape;960;p70"/>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2800">
                <a:solidFill>
                  <a:srgbClr val="434343"/>
                </a:solidFill>
                <a:latin typeface="Helvetica Neue"/>
                <a:ea typeface="Helvetica Neue"/>
                <a:cs typeface="Helvetica Neue"/>
                <a:sym typeface="Helvetica Neue"/>
              </a:rPr>
              <a:t>Type of DNS attacks</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800">
              <a:solidFill>
                <a:srgbClr val="434343"/>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5" name="Shape 965"/>
        <p:cNvGrpSpPr/>
        <p:nvPr/>
      </p:nvGrpSpPr>
      <p:grpSpPr>
        <a:xfrm>
          <a:off x="0" y="0"/>
          <a:ext cx="0" cy="0"/>
          <a:chOff x="0" y="0"/>
          <a:chExt cx="0" cy="0"/>
        </a:xfrm>
      </p:grpSpPr>
      <p:sp>
        <p:nvSpPr>
          <p:cNvPr id="966" name="Google Shape;966;p71"/>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SzPts val="2600"/>
              <a:buNone/>
            </a:pPr>
            <a:r>
              <a:rPr lang="fr" sz="1900">
                <a:solidFill>
                  <a:srgbClr val="006A7E"/>
                </a:solidFill>
              </a:rPr>
              <a:t>Lab: DNS Reconnaissance</a:t>
            </a:r>
            <a:endParaRPr b="1" sz="1100"/>
          </a:p>
        </p:txBody>
      </p:sp>
      <p:pic>
        <p:nvPicPr>
          <p:cNvPr id="967" name="Google Shape;967;p71"/>
          <p:cNvPicPr preferRelativeResize="0"/>
          <p:nvPr/>
        </p:nvPicPr>
        <p:blipFill rotWithShape="1">
          <a:blip r:embed="rId3">
            <a:alphaModFix/>
          </a:blip>
          <a:srcRect b="0" l="0" r="0" t="0"/>
          <a:stretch/>
        </p:blipFill>
        <p:spPr>
          <a:xfrm>
            <a:off x="689656" y="1168013"/>
            <a:ext cx="1294106" cy="1010494"/>
          </a:xfrm>
          <a:prstGeom prst="rect">
            <a:avLst/>
          </a:prstGeom>
          <a:noFill/>
          <a:ln>
            <a:noFill/>
          </a:ln>
        </p:spPr>
      </p:pic>
      <p:sp>
        <p:nvSpPr>
          <p:cNvPr id="968" name="Google Shape;968;p71"/>
          <p:cNvSpPr txBox="1"/>
          <p:nvPr/>
        </p:nvSpPr>
        <p:spPr>
          <a:xfrm>
            <a:off x="2214900" y="1490350"/>
            <a:ext cx="6003000" cy="446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rgbClr val="000000"/>
                </a:solidFill>
                <a:latin typeface="Arial"/>
                <a:ea typeface="Arial"/>
                <a:cs typeface="Arial"/>
                <a:sym typeface="Arial"/>
              </a:rPr>
              <a:t>Practical Exercise: </a:t>
            </a:r>
            <a:r>
              <a:rPr b="1" lang="fr" sz="2000"/>
              <a:t>Reconnaissance of a domain</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72"/>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sp>
        <p:nvSpPr>
          <p:cNvPr id="975" name="Google Shape;975;p72"/>
          <p:cNvSpPr txBox="1"/>
          <p:nvPr>
            <p:ph idx="1" type="body"/>
          </p:nvPr>
        </p:nvSpPr>
        <p:spPr>
          <a:xfrm>
            <a:off x="291225" y="1814550"/>
            <a:ext cx="7688700" cy="2106450"/>
          </a:xfrm>
          <a:prstGeom prst="rect">
            <a:avLst/>
          </a:prstGeom>
          <a:noFill/>
          <a:ln>
            <a:noFill/>
          </a:ln>
        </p:spPr>
        <p:txBody>
          <a:bodyPr anchorCtr="0" anchor="t" bIns="0" lIns="0" spcFirstLastPara="1" rIns="0" wrap="square" tIns="0">
            <a:noAutofit/>
          </a:bodyPr>
          <a:lstStyle/>
          <a:p>
            <a:pPr indent="-273050" lvl="0" marL="342900" rtl="0" algn="l">
              <a:lnSpc>
                <a:spcPct val="115000"/>
              </a:lnSpc>
              <a:spcBef>
                <a:spcPts val="90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 </a:t>
            </a:r>
            <a:r>
              <a:rPr b="1" lang="fr" sz="1700">
                <a:solidFill>
                  <a:schemeClr val="dk1"/>
                </a:solidFill>
                <a:latin typeface="Helvetica Neue"/>
                <a:ea typeface="Helvetica Neue"/>
                <a:cs typeface="Helvetica Neue"/>
                <a:sym typeface="Helvetica Neue"/>
              </a:rPr>
              <a:t>Transport</a:t>
            </a:r>
            <a:r>
              <a:rPr lang="fr" sz="1700">
                <a:solidFill>
                  <a:schemeClr val="dk1"/>
                </a:solidFill>
                <a:latin typeface="Helvetica Neue"/>
                <a:ea typeface="Helvetica Neue"/>
                <a:cs typeface="Helvetica Neue"/>
                <a:sym typeface="Helvetica Neue"/>
              </a:rPr>
              <a:t> mechanisms</a:t>
            </a:r>
            <a:endParaRPr sz="1700">
              <a:solidFill>
                <a:schemeClr val="dk1"/>
              </a:solidFill>
              <a:latin typeface="Helvetica Neue"/>
              <a:ea typeface="Helvetica Neue"/>
              <a:cs typeface="Helvetica Neue"/>
              <a:sym typeface="Helvetica Neue"/>
            </a:endParaRPr>
          </a:p>
          <a:p>
            <a:pPr indent="-273050" lvl="1" marL="6858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 over TLS (DoT): use DNS over TLS encryption on TCP port 853 (RFC 7858)</a:t>
            </a:r>
            <a:endParaRPr sz="1700">
              <a:solidFill>
                <a:schemeClr val="dk1"/>
              </a:solidFill>
              <a:latin typeface="Helvetica Neue"/>
              <a:ea typeface="Helvetica Neue"/>
              <a:cs typeface="Helvetica Neue"/>
              <a:sym typeface="Helvetica Neue"/>
            </a:endParaRPr>
          </a:p>
          <a:p>
            <a:pPr indent="-273050" lvl="1" marL="6858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 over HTTPs  (DoH/DoH3) : use HTTP2 or 3 for encrypting requests</a:t>
            </a:r>
            <a:endParaRPr sz="1700">
              <a:solidFill>
                <a:schemeClr val="dk1"/>
              </a:solidFill>
              <a:latin typeface="Helvetica Neue"/>
              <a:ea typeface="Helvetica Neue"/>
              <a:cs typeface="Helvetica Neue"/>
              <a:sym typeface="Helvetica Neue"/>
            </a:endParaRPr>
          </a:p>
          <a:p>
            <a:pPr indent="-273050" lvl="1" marL="6858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DNS-over-QUIC (DoQ): use </a:t>
            </a:r>
            <a:r>
              <a:rPr lang="fr" sz="1700" u="sng">
                <a:solidFill>
                  <a:schemeClr val="hlink"/>
                </a:solidFill>
                <a:latin typeface="Helvetica Neue"/>
                <a:ea typeface="Helvetica Neue"/>
                <a:cs typeface="Helvetica Neue"/>
                <a:sym typeface="Helvetica Neue"/>
                <a:hlinkClick r:id="rId3"/>
              </a:rPr>
              <a:t>QUIC</a:t>
            </a:r>
            <a:r>
              <a:rPr lang="fr" sz="1700">
                <a:solidFill>
                  <a:schemeClr val="dk1"/>
                </a:solidFill>
                <a:latin typeface="Helvetica Neue"/>
                <a:ea typeface="Helvetica Neue"/>
                <a:cs typeface="Helvetica Neue"/>
                <a:sym typeface="Helvetica Neue"/>
              </a:rPr>
              <a:t> for data transport and encryption (UDP port 853 (also port used for DNS over DTLS)</a:t>
            </a:r>
            <a:endParaRPr sz="1700">
              <a:solidFill>
                <a:schemeClr val="dk1"/>
              </a:solidFill>
              <a:latin typeface="Helvetica Neue"/>
              <a:ea typeface="Helvetica Neue"/>
              <a:cs typeface="Helvetica Neue"/>
              <a:sym typeface="Helvetica Neue"/>
            </a:endParaRPr>
          </a:p>
          <a:p>
            <a:pPr indent="0" lvl="0" marL="0" rtl="0" algn="l">
              <a:lnSpc>
                <a:spcPct val="115000"/>
              </a:lnSpc>
              <a:spcBef>
                <a:spcPts val="900"/>
              </a:spcBef>
              <a:spcAft>
                <a:spcPts val="0"/>
              </a:spcAft>
              <a:buSzPts val="600"/>
              <a:buNone/>
            </a:pPr>
            <a:r>
              <a:t/>
            </a:r>
            <a:endParaRPr sz="500">
              <a:solidFill>
                <a:schemeClr val="dk1"/>
              </a:solidFill>
              <a:latin typeface="Helvetica Neue"/>
              <a:ea typeface="Helvetica Neue"/>
              <a:cs typeface="Helvetica Neue"/>
              <a:sym typeface="Helvetica Neue"/>
            </a:endParaRPr>
          </a:p>
          <a:p>
            <a:pPr indent="-273050" lvl="0" marL="342900" rtl="0" algn="l">
              <a:lnSpc>
                <a:spcPct val="115000"/>
              </a:lnSpc>
              <a:spcBef>
                <a:spcPts val="90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 </a:t>
            </a:r>
            <a:r>
              <a:rPr b="1" lang="fr" sz="1700">
                <a:solidFill>
                  <a:schemeClr val="dk1"/>
                </a:solidFill>
                <a:latin typeface="Helvetica Neue"/>
                <a:ea typeface="Helvetica Neue"/>
                <a:cs typeface="Helvetica Neue"/>
                <a:sym typeface="Helvetica Neue"/>
              </a:rPr>
              <a:t>Data</a:t>
            </a:r>
            <a:r>
              <a:rPr lang="fr" sz="1700">
                <a:solidFill>
                  <a:schemeClr val="dk1"/>
                </a:solidFill>
                <a:latin typeface="Helvetica Neue"/>
                <a:ea typeface="Helvetica Neue"/>
                <a:cs typeface="Helvetica Neue"/>
                <a:sym typeface="Helvetica Neue"/>
              </a:rPr>
              <a:t> authentication:</a:t>
            </a:r>
            <a:endParaRPr sz="1700">
              <a:solidFill>
                <a:schemeClr val="dk1"/>
              </a:solidFill>
              <a:latin typeface="Helvetica Neue"/>
              <a:ea typeface="Helvetica Neue"/>
              <a:cs typeface="Helvetica Neue"/>
              <a:sym typeface="Helvetica Neue"/>
            </a:endParaRPr>
          </a:p>
          <a:p>
            <a:pPr indent="-273050" lvl="1" marL="685800" rtl="0" algn="l">
              <a:lnSpc>
                <a:spcPct val="115000"/>
              </a:lnSpc>
              <a:spcBef>
                <a:spcPts val="0"/>
              </a:spcBef>
              <a:spcAft>
                <a:spcPts val="0"/>
              </a:spcAft>
              <a:buClr>
                <a:schemeClr val="dk1"/>
              </a:buClr>
              <a:buSzPts val="1700"/>
              <a:buFont typeface="Helvetica Neue"/>
              <a:buChar char="○"/>
            </a:pPr>
            <a:r>
              <a:rPr lang="fr" sz="1700">
                <a:solidFill>
                  <a:schemeClr val="dk1"/>
                </a:solidFill>
                <a:latin typeface="Helvetica Neue"/>
                <a:ea typeface="Helvetica Neue"/>
                <a:cs typeface="Helvetica Neue"/>
                <a:sym typeface="Helvetica Neue"/>
              </a:rPr>
              <a:t>DNSSEC: use specific DNS records to ensure that the answer given is the authorized one</a:t>
            </a:r>
            <a:endParaRPr sz="1700">
              <a:solidFill>
                <a:schemeClr val="dk1"/>
              </a:solidFill>
              <a:latin typeface="Helvetica Neue"/>
              <a:ea typeface="Helvetica Neue"/>
              <a:cs typeface="Helvetica Neue"/>
              <a:sym typeface="Helvetica Neue"/>
            </a:endParaRPr>
          </a:p>
        </p:txBody>
      </p:sp>
      <p:grpSp>
        <p:nvGrpSpPr>
          <p:cNvPr id="976" name="Google Shape;976;p72"/>
          <p:cNvGrpSpPr/>
          <p:nvPr/>
        </p:nvGrpSpPr>
        <p:grpSpPr>
          <a:xfrm>
            <a:off x="4616693" y="89224"/>
            <a:ext cx="2837132" cy="1981984"/>
            <a:chOff x="4433300" y="1003745"/>
            <a:chExt cx="7246826" cy="5276850"/>
          </a:xfrm>
        </p:grpSpPr>
        <p:pic>
          <p:nvPicPr>
            <p:cNvPr id="977" name="Google Shape;977;p72"/>
            <p:cNvPicPr preferRelativeResize="0"/>
            <p:nvPr/>
          </p:nvPicPr>
          <p:blipFill rotWithShape="1">
            <a:blip r:embed="rId4">
              <a:alphaModFix/>
            </a:blip>
            <a:srcRect b="0" l="0" r="0" t="0"/>
            <a:stretch/>
          </p:blipFill>
          <p:spPr>
            <a:xfrm>
              <a:off x="7974901" y="1003745"/>
              <a:ext cx="3705225" cy="5276850"/>
            </a:xfrm>
            <a:prstGeom prst="rect">
              <a:avLst/>
            </a:prstGeom>
            <a:noFill/>
            <a:ln>
              <a:noFill/>
            </a:ln>
          </p:spPr>
        </p:pic>
        <p:pic>
          <p:nvPicPr>
            <p:cNvPr id="978" name="Google Shape;978;p72"/>
            <p:cNvPicPr preferRelativeResize="0"/>
            <p:nvPr/>
          </p:nvPicPr>
          <p:blipFill rotWithShape="1">
            <a:blip r:embed="rId5">
              <a:alphaModFix/>
            </a:blip>
            <a:srcRect b="0" l="0" r="4177" t="0"/>
            <a:stretch/>
          </p:blipFill>
          <p:spPr>
            <a:xfrm>
              <a:off x="4433300" y="1052236"/>
              <a:ext cx="3660075" cy="5076825"/>
            </a:xfrm>
            <a:prstGeom prst="rect">
              <a:avLst/>
            </a:prstGeom>
            <a:noFill/>
            <a:ln>
              <a:noFill/>
            </a:ln>
          </p:spPr>
        </p:pic>
      </p:grpSp>
      <p:sp>
        <p:nvSpPr>
          <p:cNvPr id="979" name="Google Shape;979;p72"/>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Improvements of DNS</a:t>
            </a:r>
            <a:endParaRPr sz="2800">
              <a:solidFill>
                <a:srgbClr val="434343"/>
              </a:solidFill>
              <a:latin typeface="Helvetica Neue"/>
              <a:ea typeface="Helvetica Neue"/>
              <a:cs typeface="Helvetica Neue"/>
              <a:sym typeface="Helvetica Neue"/>
            </a:endParaRPr>
          </a:p>
        </p:txBody>
      </p:sp>
      <p:sp>
        <p:nvSpPr>
          <p:cNvPr id="980" name="Google Shape;980;p72"/>
          <p:cNvSpPr/>
          <p:nvPr/>
        </p:nvSpPr>
        <p:spPr>
          <a:xfrm>
            <a:off x="6113400" y="868275"/>
            <a:ext cx="549000" cy="162000"/>
          </a:xfrm>
          <a:prstGeom prst="roundRect">
            <a:avLst>
              <a:gd fmla="val 16667" name="adj"/>
            </a:avLst>
          </a:prstGeom>
          <a:solidFill>
            <a:srgbClr val="F1793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800"/>
              <a:t>TLS1.3</a:t>
            </a:r>
            <a:endParaRPr sz="800"/>
          </a:p>
        </p:txBody>
      </p:sp>
      <p:sp>
        <p:nvSpPr>
          <p:cNvPr id="981" name="Google Shape;981;p72"/>
          <p:cNvSpPr/>
          <p:nvPr/>
        </p:nvSpPr>
        <p:spPr>
          <a:xfrm>
            <a:off x="6812500" y="868275"/>
            <a:ext cx="549000" cy="162000"/>
          </a:xfrm>
          <a:prstGeom prst="roundRect">
            <a:avLst>
              <a:gd fmla="val 16667" name="adj"/>
            </a:avLst>
          </a:prstGeom>
          <a:solidFill>
            <a:srgbClr val="F1793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800"/>
              <a:t>TLS1.3</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3"/>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graphicFrame>
        <p:nvGraphicFramePr>
          <p:cNvPr id="988" name="Google Shape;988;p73"/>
          <p:cNvGraphicFramePr/>
          <p:nvPr/>
        </p:nvGraphicFramePr>
        <p:xfrm>
          <a:off x="714375" y="1714500"/>
          <a:ext cx="3000000" cy="3000000"/>
        </p:xfrm>
        <a:graphic>
          <a:graphicData uri="http://schemas.openxmlformats.org/drawingml/2006/table">
            <a:tbl>
              <a:tblPr>
                <a:noFill/>
                <a:tableStyleId>{814B28DB-4BC7-46AB-893A-5D1E6F475B14}</a:tableStyleId>
              </a:tblPr>
              <a:tblGrid>
                <a:gridCol w="3857625"/>
                <a:gridCol w="3857625"/>
              </a:tblGrid>
              <a:tr h="285750">
                <a:tc>
                  <a:txBody>
                    <a:bodyPr/>
                    <a:lstStyle/>
                    <a:p>
                      <a:pPr indent="0" lvl="0" marL="0" marR="0" rtl="0" algn="l">
                        <a:lnSpc>
                          <a:spcPct val="100000"/>
                        </a:lnSpc>
                        <a:spcBef>
                          <a:spcPts val="0"/>
                        </a:spcBef>
                        <a:spcAft>
                          <a:spcPts val="0"/>
                        </a:spcAft>
                        <a:buClr>
                          <a:srgbClr val="000000"/>
                        </a:buClr>
                        <a:buSzPts val="800"/>
                        <a:buFont typeface="Arial"/>
                        <a:buNone/>
                      </a:pPr>
                      <a:r>
                        <a:rPr b="1" lang="fr" sz="2400" u="none" cap="none" strike="noStrike">
                          <a:solidFill>
                            <a:schemeClr val="dk1"/>
                          </a:solidFill>
                        </a:rPr>
                        <a:t>DoT</a:t>
                      </a:r>
                      <a:endParaRPr b="1" sz="24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1" lang="fr" sz="2400" u="none" cap="none" strike="noStrike"/>
                        <a:t>DoH</a:t>
                      </a:r>
                      <a:endParaRPr b="1" sz="2400" u="none" cap="none" strike="noStrike"/>
                    </a:p>
                  </a:txBody>
                  <a:tcPr marT="68575" marB="68575" marR="68575" marL="68575"/>
                </a:tc>
              </a:tr>
              <a:tr h="285750">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RFC 7858</a:t>
                      </a:r>
                      <a:endParaRPr sz="19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RFC 8484</a:t>
                      </a:r>
                      <a:endParaRPr sz="1900" u="none" cap="none" strike="noStrike"/>
                    </a:p>
                  </a:txBody>
                  <a:tcPr marT="68575" marB="68575" marR="68575" marL="68575"/>
                </a:tc>
              </a:tr>
              <a:tr h="285750">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New Port 853</a:t>
                      </a:r>
                      <a:endParaRPr sz="19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Port 443 (HTTPS)</a:t>
                      </a:r>
                      <a:endParaRPr sz="1900" u="none" cap="none" strike="noStrike"/>
                    </a:p>
                  </a:txBody>
                  <a:tcPr marT="68575" marB="68575" marR="68575" marL="68575"/>
                </a:tc>
              </a:tr>
              <a:tr h="285750">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Traffic can easily be blocked and not open normally by default in enterprise</a:t>
                      </a:r>
                      <a:endParaRPr sz="19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Traffic looks like every other encrypted web traffic</a:t>
                      </a:r>
                      <a:endParaRPr sz="1900" u="none" cap="none" strike="noStrike"/>
                    </a:p>
                  </a:txBody>
                  <a:tcPr marT="68575" marB="68575" marR="68575" marL="68575"/>
                </a:tc>
              </a:tr>
              <a:tr h="285750">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No API capabilities</a:t>
                      </a:r>
                      <a:endParaRPr sz="19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API capabilities</a:t>
                      </a:r>
                      <a:endParaRPr sz="1900" u="none" cap="none" strike="noStrike"/>
                    </a:p>
                  </a:txBody>
                  <a:tcPr marT="68575" marB="68575" marR="68575" marL="68575"/>
                </a:tc>
              </a:tr>
              <a:tr h="285750">
                <a:tc>
                  <a:txBody>
                    <a:bodyPr/>
                    <a:lstStyle/>
                    <a:p>
                      <a:pPr indent="0" lvl="0" marL="0" marR="0" rtl="0" algn="l">
                        <a:lnSpc>
                          <a:spcPct val="100000"/>
                        </a:lnSpc>
                        <a:spcBef>
                          <a:spcPts val="0"/>
                        </a:spcBef>
                        <a:spcAft>
                          <a:spcPts val="0"/>
                        </a:spcAft>
                        <a:buClr>
                          <a:srgbClr val="000000"/>
                        </a:buClr>
                        <a:buSzPts val="1100"/>
                        <a:buFont typeface="Arial"/>
                        <a:buNone/>
                      </a:pPr>
                      <a:r>
                        <a:t/>
                      </a:r>
                      <a:endParaRPr sz="1900" u="none" cap="none" strike="noStrike"/>
                    </a:p>
                  </a:txBody>
                  <a:tcPr marT="68575" marB="68575"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fr" sz="1900" u="none" cap="none" strike="noStrike"/>
                        <a:t>Built-in browser support</a:t>
                      </a:r>
                      <a:endParaRPr sz="1900" u="none" cap="none" strike="noStrike"/>
                    </a:p>
                  </a:txBody>
                  <a:tcPr marT="68575" marB="68575" marR="68575" marL="68575"/>
                </a:tc>
              </a:tr>
            </a:tbl>
          </a:graphicData>
        </a:graphic>
      </p:graphicFrame>
      <p:sp>
        <p:nvSpPr>
          <p:cNvPr id="989" name="Google Shape;989;p73"/>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2800">
                <a:solidFill>
                  <a:srgbClr val="434343"/>
                </a:solidFill>
                <a:latin typeface="Helvetica Neue"/>
                <a:ea typeface="Helvetica Neue"/>
                <a:cs typeface="Helvetica Neue"/>
                <a:sym typeface="Helvetica Neue"/>
              </a:rPr>
              <a:t>Comparing DoT/DoQ and DoH/DoH3</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800">
              <a:solidFill>
                <a:srgbClr val="434343"/>
              </a:solidFill>
              <a:latin typeface="Helvetica Neue"/>
              <a:ea typeface="Helvetica Neue"/>
              <a:cs typeface="Helvetica Neue"/>
              <a:sym typeface="Helvetica Neue"/>
            </a:endParaRPr>
          </a:p>
        </p:txBody>
      </p:sp>
      <p:grpSp>
        <p:nvGrpSpPr>
          <p:cNvPr id="990" name="Google Shape;990;p73"/>
          <p:cNvGrpSpPr/>
          <p:nvPr/>
        </p:nvGrpSpPr>
        <p:grpSpPr>
          <a:xfrm>
            <a:off x="6592538" y="66160"/>
            <a:ext cx="2239269" cy="1564058"/>
            <a:chOff x="4433300" y="1003745"/>
            <a:chExt cx="7246826" cy="5276850"/>
          </a:xfrm>
        </p:grpSpPr>
        <p:pic>
          <p:nvPicPr>
            <p:cNvPr id="991" name="Google Shape;991;p73"/>
            <p:cNvPicPr preferRelativeResize="0"/>
            <p:nvPr/>
          </p:nvPicPr>
          <p:blipFill rotWithShape="1">
            <a:blip r:embed="rId3">
              <a:alphaModFix/>
            </a:blip>
            <a:srcRect b="0" l="0" r="0" t="0"/>
            <a:stretch/>
          </p:blipFill>
          <p:spPr>
            <a:xfrm>
              <a:off x="7974901" y="1003745"/>
              <a:ext cx="3705225" cy="5276850"/>
            </a:xfrm>
            <a:prstGeom prst="rect">
              <a:avLst/>
            </a:prstGeom>
            <a:noFill/>
            <a:ln>
              <a:noFill/>
            </a:ln>
          </p:spPr>
        </p:pic>
        <p:pic>
          <p:nvPicPr>
            <p:cNvPr id="992" name="Google Shape;992;p73"/>
            <p:cNvPicPr preferRelativeResize="0"/>
            <p:nvPr/>
          </p:nvPicPr>
          <p:blipFill rotWithShape="1">
            <a:blip r:embed="rId4">
              <a:alphaModFix/>
            </a:blip>
            <a:srcRect b="0" l="0" r="4178" t="0"/>
            <a:stretch/>
          </p:blipFill>
          <p:spPr>
            <a:xfrm>
              <a:off x="4433300" y="1052236"/>
              <a:ext cx="3660075" cy="5076825"/>
            </a:xfrm>
            <a:prstGeom prst="rect">
              <a:avLst/>
            </a:prstGeom>
            <a:noFill/>
            <a:ln>
              <a:noFill/>
            </a:ln>
          </p:spPr>
        </p:pic>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74"/>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sp>
        <p:nvSpPr>
          <p:cNvPr id="999" name="Google Shape;999;p74"/>
          <p:cNvSpPr txBox="1"/>
          <p:nvPr/>
        </p:nvSpPr>
        <p:spPr>
          <a:xfrm>
            <a:off x="311700" y="877775"/>
            <a:ext cx="8615400" cy="3321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400"/>
              <a:buFont typeface="Arial"/>
              <a:buNone/>
            </a:pPr>
            <a:r>
              <a:rPr b="0" i="0" lang="fr" sz="1600" u="none" cap="none" strike="noStrike">
                <a:solidFill>
                  <a:schemeClr val="dk1"/>
                </a:solidFill>
                <a:latin typeface="Arial"/>
                <a:ea typeface="Arial"/>
                <a:cs typeface="Arial"/>
                <a:sym typeface="Arial"/>
              </a:rPr>
              <a:t>The original design of the Domain Name System (DNS) did not include security and allowed false DNS data to be returned.</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900"/>
              </a:spcBef>
              <a:spcAft>
                <a:spcPts val="0"/>
              </a:spcAft>
              <a:buClr>
                <a:srgbClr val="000000"/>
              </a:buClr>
              <a:buSzPts val="1400"/>
              <a:buFont typeface="Arial"/>
              <a:buNone/>
            </a:pPr>
            <a:r>
              <a:rPr b="0" i="0" lang="fr" sz="1600" u="none" cap="none" strike="noStrike">
                <a:solidFill>
                  <a:schemeClr val="dk1"/>
                </a:solidFill>
                <a:latin typeface="Arial"/>
                <a:ea typeface="Arial"/>
                <a:cs typeface="Arial"/>
                <a:sym typeface="Arial"/>
              </a:rPr>
              <a:t>This required trust that the DNS answers were authentic and not modified.			</a:t>
            </a:r>
            <a:endParaRPr sz="1600">
              <a:solidFill>
                <a:schemeClr val="dk1"/>
              </a:solidFill>
            </a:endParaRPr>
          </a:p>
          <a:p>
            <a:pPr indent="0" lvl="0" marL="0" marR="0" rtl="0" algn="l">
              <a:lnSpc>
                <a:spcPct val="115000"/>
              </a:lnSpc>
              <a:spcBef>
                <a:spcPts val="900"/>
              </a:spcBef>
              <a:spcAft>
                <a:spcPts val="0"/>
              </a:spcAft>
              <a:buClr>
                <a:srgbClr val="000000"/>
              </a:buClr>
              <a:buSzPts val="1400"/>
              <a:buFont typeface="Arial"/>
              <a:buNone/>
            </a:pPr>
            <a:r>
              <a:rPr b="0" i="0" lang="fr" sz="1600" u="none" cap="none" strike="noStrike">
                <a:solidFill>
                  <a:schemeClr val="dk1"/>
                </a:solidFill>
                <a:latin typeface="Arial"/>
                <a:ea typeface="Arial"/>
                <a:cs typeface="Arial"/>
                <a:sym typeface="Arial"/>
              </a:rPr>
              <a:t>Domain Name System Security Extensions (DNSSEC) is a set of extensions to DNS that provide DNS clients via a </a:t>
            </a:r>
            <a:r>
              <a:rPr b="1" i="0" lang="fr" sz="1600" u="none" cap="none" strike="noStrike">
                <a:solidFill>
                  <a:schemeClr val="dk1"/>
                </a:solidFill>
                <a:latin typeface="Arial"/>
                <a:ea typeface="Arial"/>
                <a:cs typeface="Arial"/>
                <a:sym typeface="Arial"/>
              </a:rPr>
              <a:t>digital signature </a:t>
            </a:r>
            <a:r>
              <a:rPr b="0" i="0" lang="fr" sz="1600" u="none" cap="none" strike="noStrike">
                <a:solidFill>
                  <a:schemeClr val="dk1"/>
                </a:solidFill>
                <a:latin typeface="Arial"/>
                <a:ea typeface="Arial"/>
                <a:cs typeface="Arial"/>
                <a:sym typeface="Arial"/>
              </a:rPr>
              <a:t>(resolvers) </a:t>
            </a:r>
            <a:r>
              <a:rPr b="1" i="0" lang="fr" sz="1600" u="none" cap="none" strike="noStrike">
                <a:solidFill>
                  <a:schemeClr val="dk1"/>
                </a:solidFill>
                <a:latin typeface="Arial"/>
                <a:ea typeface="Arial"/>
                <a:cs typeface="Arial"/>
                <a:sym typeface="Arial"/>
              </a:rPr>
              <a:t>origin authentication </a:t>
            </a:r>
            <a:r>
              <a:rPr b="0" i="0" lang="fr" sz="1600" u="none" cap="none" strike="noStrike">
                <a:solidFill>
                  <a:schemeClr val="dk1"/>
                </a:solidFill>
                <a:latin typeface="Arial"/>
                <a:ea typeface="Arial"/>
                <a:cs typeface="Arial"/>
                <a:sym typeface="Arial"/>
              </a:rPr>
              <a:t>of DNS data.</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900"/>
              </a:spcBef>
              <a:spcAft>
                <a:spcPts val="0"/>
              </a:spcAft>
              <a:buClr>
                <a:srgbClr val="000000"/>
              </a:buClr>
              <a:buSzPts val="1400"/>
              <a:buFont typeface="Arial"/>
              <a:buNone/>
            </a:pPr>
            <a:r>
              <a:rPr b="0" i="0" lang="fr" sz="1600" u="none" cap="none" strike="noStrike">
                <a:solidFill>
                  <a:schemeClr val="dk1"/>
                </a:solidFill>
                <a:latin typeface="Arial"/>
                <a:ea typeface="Arial"/>
                <a:cs typeface="Arial"/>
                <a:sym typeface="Arial"/>
              </a:rPr>
              <a:t>By validating the digital signature, a DNS resolver can check if the information is identical to the data published by the zone owner and served on an authoritative DNS server and thereby mitigate, such as ‘man-in-the-middle attacks’ </a:t>
            </a:r>
            <a:endParaRPr sz="1600">
              <a:solidFill>
                <a:schemeClr val="dk1"/>
              </a:solidFill>
            </a:endParaRPr>
          </a:p>
          <a:p>
            <a:pPr indent="0" lvl="0" marL="0" marR="0" rtl="0" algn="l">
              <a:lnSpc>
                <a:spcPct val="115000"/>
              </a:lnSpc>
              <a:spcBef>
                <a:spcPts val="900"/>
              </a:spcBef>
              <a:spcAft>
                <a:spcPts val="0"/>
              </a:spcAft>
              <a:buClr>
                <a:srgbClr val="000000"/>
              </a:buClr>
              <a:buSzPts val="1400"/>
              <a:buFont typeface="Arial"/>
              <a:buNone/>
            </a:pPr>
            <a:r>
              <a:rPr b="0" i="0" lang="fr" sz="1600" u="none" cap="none" strike="noStrike">
                <a:solidFill>
                  <a:schemeClr val="dk1"/>
                </a:solidFill>
                <a:latin typeface="Arial"/>
                <a:ea typeface="Arial"/>
                <a:cs typeface="Arial"/>
                <a:sym typeface="Arial"/>
              </a:rPr>
              <a:t>DNSSEC doesn’t provide confidentiality of data, and the responses are </a:t>
            </a:r>
            <a:r>
              <a:rPr b="1" i="0" lang="fr" sz="1600" u="none" cap="none" strike="noStrike">
                <a:solidFill>
                  <a:schemeClr val="dk1"/>
                </a:solidFill>
                <a:latin typeface="Arial"/>
                <a:ea typeface="Arial"/>
                <a:cs typeface="Arial"/>
                <a:sym typeface="Arial"/>
              </a:rPr>
              <a:t>authenticated </a:t>
            </a:r>
            <a:r>
              <a:rPr b="0" i="0" lang="fr" sz="1600" u="none" cap="none" strike="noStrike">
                <a:solidFill>
                  <a:schemeClr val="dk1"/>
                </a:solidFill>
                <a:latin typeface="Arial"/>
                <a:ea typeface="Arial"/>
                <a:cs typeface="Arial"/>
                <a:sym typeface="Arial"/>
              </a:rPr>
              <a:t>but not </a:t>
            </a:r>
            <a:r>
              <a:rPr b="1" i="0" lang="fr" sz="1600" u="none" cap="none" strike="noStrike">
                <a:solidFill>
                  <a:schemeClr val="dk1"/>
                </a:solidFill>
                <a:latin typeface="Arial"/>
                <a:ea typeface="Arial"/>
                <a:cs typeface="Arial"/>
                <a:sym typeface="Arial"/>
              </a:rPr>
              <a:t>encrypted</a:t>
            </a:r>
            <a:r>
              <a:rPr b="0" i="0" lang="fr" sz="1600" u="none" cap="none" strike="noStrike">
                <a:solidFill>
                  <a:schemeClr val="dk1"/>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000" name="Google Shape;1000;p74"/>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DNSSEC</a:t>
            </a:r>
            <a:endParaRPr sz="2800">
              <a:solidFill>
                <a:srgbClr val="434343"/>
              </a:solidFill>
              <a:latin typeface="Helvetica Neue"/>
              <a:ea typeface="Helvetica Neue"/>
              <a:cs typeface="Helvetica Neue"/>
              <a:sym typeface="Helvetica Neue"/>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75"/>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fr"/>
              <a:t>‹#›</a:t>
            </a:fld>
            <a:endParaRPr/>
          </a:p>
        </p:txBody>
      </p:sp>
      <p:pic>
        <p:nvPicPr>
          <p:cNvPr id="1007" name="Google Shape;1007;p75"/>
          <p:cNvPicPr preferRelativeResize="0"/>
          <p:nvPr/>
        </p:nvPicPr>
        <p:blipFill rotWithShape="1">
          <a:blip r:embed="rId3">
            <a:alphaModFix/>
          </a:blip>
          <a:srcRect b="0" l="0" r="0" t="0"/>
          <a:stretch/>
        </p:blipFill>
        <p:spPr>
          <a:xfrm>
            <a:off x="858460" y="934650"/>
            <a:ext cx="7150894" cy="3900487"/>
          </a:xfrm>
          <a:prstGeom prst="rect">
            <a:avLst/>
          </a:prstGeom>
          <a:noFill/>
          <a:ln>
            <a:noFill/>
          </a:ln>
        </p:spPr>
      </p:pic>
      <p:sp>
        <p:nvSpPr>
          <p:cNvPr id="1008" name="Google Shape;1008;p75"/>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fr" sz="2800">
                <a:solidFill>
                  <a:srgbClr val="434343"/>
                </a:solidFill>
                <a:latin typeface="Helvetica Neue"/>
                <a:ea typeface="Helvetica Neue"/>
                <a:cs typeface="Helvetica Neue"/>
                <a:sym typeface="Helvetica Neue"/>
              </a:rPr>
              <a:t>DNSSEC</a:t>
            </a:r>
            <a:endParaRPr sz="2800">
              <a:solidFill>
                <a:srgbClr val="434343"/>
              </a:solidFill>
              <a:latin typeface="Helvetica Neue"/>
              <a:ea typeface="Helvetica Neue"/>
              <a:cs typeface="Helvetica Neue"/>
              <a:sym typeface="Helvetica Neue"/>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76"/>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0"/>
              </a:spcAft>
              <a:buSzPts val="1100"/>
              <a:buNone/>
            </a:pPr>
            <a:r>
              <a:rPr lang="fr" sz="1900" u="sng">
                <a:solidFill>
                  <a:schemeClr val="hlink"/>
                </a:solidFill>
                <a:hlinkClick r:id="rId3"/>
              </a:rPr>
              <a:t>DNS RFCs</a:t>
            </a:r>
            <a:endParaRPr sz="1900"/>
          </a:p>
          <a:p>
            <a:pPr indent="0" lvl="0" marL="0" rtl="0" algn="l">
              <a:lnSpc>
                <a:spcPct val="115000"/>
              </a:lnSpc>
              <a:spcBef>
                <a:spcPts val="1400"/>
              </a:spcBef>
              <a:spcAft>
                <a:spcPts val="0"/>
              </a:spcAft>
              <a:buClr>
                <a:schemeClr val="dk1"/>
              </a:buClr>
              <a:buSzPts val="800"/>
              <a:buFont typeface="Arial"/>
              <a:buNone/>
            </a:pPr>
            <a:r>
              <a:rPr lang="fr" sz="1900" u="sng">
                <a:solidFill>
                  <a:schemeClr val="hlink"/>
                </a:solidFill>
                <a:hlinkClick r:id="rId4"/>
              </a:rPr>
              <a:t>An Illustrated Guide to the Kaminsky DNS Vulnerability</a:t>
            </a:r>
            <a:endParaRPr b="1" sz="2000">
              <a:solidFill>
                <a:schemeClr val="dk1"/>
              </a:solidFill>
              <a:latin typeface="Arial"/>
              <a:ea typeface="Arial"/>
              <a:cs typeface="Arial"/>
              <a:sym typeface="Arial"/>
            </a:endParaRPr>
          </a:p>
          <a:p>
            <a:pPr indent="0" lvl="0" marL="0" rtl="0" algn="l">
              <a:lnSpc>
                <a:spcPct val="115000"/>
              </a:lnSpc>
              <a:spcBef>
                <a:spcPts val="1400"/>
              </a:spcBef>
              <a:spcAft>
                <a:spcPts val="0"/>
              </a:spcAft>
              <a:buClr>
                <a:schemeClr val="dk1"/>
              </a:buClr>
              <a:buSzPts val="800"/>
              <a:buFont typeface="Arial"/>
              <a:buNone/>
            </a:pPr>
            <a:r>
              <a:rPr lang="fr" sz="1900" u="sng">
                <a:solidFill>
                  <a:schemeClr val="hlink"/>
                </a:solidFill>
                <a:hlinkClick r:id="rId5"/>
              </a:rPr>
              <a:t>DNS for Rocket Scientists</a:t>
            </a:r>
            <a:endParaRPr b="1" sz="2000">
              <a:solidFill>
                <a:schemeClr val="dk1"/>
              </a:solidFill>
              <a:latin typeface="Arial"/>
              <a:ea typeface="Arial"/>
              <a:cs typeface="Arial"/>
              <a:sym typeface="Arial"/>
            </a:endParaRPr>
          </a:p>
          <a:p>
            <a:pPr indent="0" lvl="0" marL="0" rtl="0" algn="l">
              <a:lnSpc>
                <a:spcPct val="113000"/>
              </a:lnSpc>
              <a:spcBef>
                <a:spcPts val="300"/>
              </a:spcBef>
              <a:spcAft>
                <a:spcPts val="0"/>
              </a:spcAft>
              <a:buSzPts val="1100"/>
              <a:buNone/>
            </a:pPr>
            <a:r>
              <a:t/>
            </a:r>
            <a:endParaRPr sz="1100"/>
          </a:p>
        </p:txBody>
      </p:sp>
      <p:sp>
        <p:nvSpPr>
          <p:cNvPr id="1015" name="Google Shape;1015;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
        <p:nvSpPr>
          <p:cNvPr id="1016" name="Google Shape;1016;p76"/>
          <p:cNvSpPr txBox="1"/>
          <p:nvPr/>
        </p:nvSpPr>
        <p:spPr>
          <a:xfrm>
            <a:off x="311700" y="217450"/>
            <a:ext cx="8520600" cy="5727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dk1"/>
              </a:buClr>
              <a:buSzPts val="1100"/>
              <a:buFont typeface="Arial"/>
              <a:buNone/>
            </a:pPr>
            <a:r>
              <a:rPr lang="fr" sz="2800">
                <a:solidFill>
                  <a:srgbClr val="434343"/>
                </a:solidFill>
                <a:latin typeface="Helvetica Neue"/>
                <a:ea typeface="Helvetica Neue"/>
                <a:cs typeface="Helvetica Neue"/>
                <a:sym typeface="Helvetica Neue"/>
              </a:rPr>
              <a:t>Ressources</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Clr>
                <a:schemeClr val="dk1"/>
              </a:buClr>
              <a:buSzPts val="1100"/>
              <a:buFont typeface="Arial"/>
              <a:buNone/>
            </a:pPr>
            <a:r>
              <a:t/>
            </a:r>
            <a:endParaRPr sz="2800">
              <a:solidFill>
                <a:srgbClr val="434343"/>
              </a:solidFill>
              <a:latin typeface="Helvetica Neue"/>
              <a:ea typeface="Helvetica Neue"/>
              <a:cs typeface="Helvetica Neue"/>
              <a:sym typeface="Helvetica Neue"/>
            </a:endParaRPr>
          </a:p>
          <a:p>
            <a:pPr indent="0" lvl="0" marL="0" rtl="0" algn="l">
              <a:lnSpc>
                <a:spcPct val="110000"/>
              </a:lnSpc>
              <a:spcBef>
                <a:spcPts val="0"/>
              </a:spcBef>
              <a:spcAft>
                <a:spcPts val="0"/>
              </a:spcAft>
              <a:buNone/>
            </a:pPr>
            <a:r>
              <a:t/>
            </a:r>
            <a:endParaRPr sz="2800">
              <a:solidFill>
                <a:srgbClr val="434343"/>
              </a:solidFill>
              <a:latin typeface="Helvetica Neue"/>
              <a:ea typeface="Helvetica Neue"/>
              <a:cs typeface="Helvetica Neue"/>
              <a:sym typeface="Helvetica Neue"/>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pic>
        <p:nvPicPr>
          <p:cNvPr id="1021" name="Google Shape;1021;p77"/>
          <p:cNvPicPr preferRelativeResize="0"/>
          <p:nvPr/>
        </p:nvPicPr>
        <p:blipFill rotWithShape="1">
          <a:blip r:embed="rId3">
            <a:alphaModFix/>
          </a:blip>
          <a:srcRect b="0" l="0" r="0" t="0"/>
          <a:stretch/>
        </p:blipFill>
        <p:spPr>
          <a:xfrm>
            <a:off x="211856" y="413729"/>
            <a:ext cx="2377107" cy="3479455"/>
          </a:xfrm>
          <a:prstGeom prst="rect">
            <a:avLst/>
          </a:prstGeom>
          <a:noFill/>
          <a:ln>
            <a:noFill/>
          </a:ln>
        </p:spPr>
      </p:pic>
      <p:sp>
        <p:nvSpPr>
          <p:cNvPr id="1022" name="Google Shape;1022;p77"/>
          <p:cNvSpPr txBox="1"/>
          <p:nvPr/>
        </p:nvSpPr>
        <p:spPr>
          <a:xfrm>
            <a:off x="3119231" y="514631"/>
            <a:ext cx="5244000" cy="1985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2000"/>
              <a:buFont typeface="Arial"/>
              <a:buNone/>
            </a:pPr>
            <a:r>
              <a:rPr i="0" lang="fr" sz="2000" u="none" cap="none" strike="noStrike">
                <a:latin typeface="Roboto Mono ExtraLight"/>
                <a:ea typeface="Roboto Mono ExtraLight"/>
                <a:cs typeface="Roboto Mono ExtraLight"/>
                <a:sym typeface="Roboto Mono ExtraLight"/>
              </a:rPr>
              <a:t>❯ dig -x 8.8.8.8 +short</a:t>
            </a:r>
            <a:endParaRPr i="0" sz="2000" u="none" cap="none" strike="noStrike">
              <a:latin typeface="Roboto Mono ExtraLight"/>
              <a:ea typeface="Roboto Mono ExtraLight"/>
              <a:cs typeface="Roboto Mono ExtraLight"/>
              <a:sym typeface="Roboto Mono ExtraLight"/>
            </a:endParaRPr>
          </a:p>
          <a:p>
            <a:pPr indent="0" lvl="0" marL="0" marR="0" rtl="0" algn="l">
              <a:lnSpc>
                <a:spcPct val="100000"/>
              </a:lnSpc>
              <a:spcBef>
                <a:spcPts val="0"/>
              </a:spcBef>
              <a:spcAft>
                <a:spcPts val="0"/>
              </a:spcAft>
              <a:buClr>
                <a:srgbClr val="000000"/>
              </a:buClr>
              <a:buSzPts val="2000"/>
              <a:buFont typeface="Arial"/>
              <a:buNone/>
            </a:pPr>
            <a:r>
              <a:rPr i="0" lang="fr" sz="2000" u="none" cap="none" strike="noStrike">
                <a:latin typeface="Roboto Mono ExtraLight"/>
                <a:ea typeface="Roboto Mono ExtraLight"/>
                <a:cs typeface="Roboto Mono ExtraLight"/>
                <a:sym typeface="Roboto Mono ExtraLight"/>
              </a:rPr>
              <a:t>dns.google.</a:t>
            </a:r>
            <a:endParaRPr i="0" sz="2000" u="none" cap="none" strike="noStrike">
              <a:latin typeface="Roboto Mono ExtraLight"/>
              <a:ea typeface="Roboto Mono ExtraLight"/>
              <a:cs typeface="Roboto Mono ExtraLight"/>
              <a:sym typeface="Roboto Mono ExtraLight"/>
            </a:endParaRPr>
          </a:p>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latin typeface="Roboto Mono ExtraLight"/>
              <a:ea typeface="Roboto Mono ExtraLight"/>
              <a:cs typeface="Roboto Mono ExtraLight"/>
              <a:sym typeface="Roboto Mono ExtraLight"/>
            </a:endParaRPr>
          </a:p>
          <a:p>
            <a:pPr indent="0" lvl="0" marL="0" marR="0" rtl="0" algn="l">
              <a:lnSpc>
                <a:spcPct val="100000"/>
              </a:lnSpc>
              <a:spcBef>
                <a:spcPts val="0"/>
              </a:spcBef>
              <a:spcAft>
                <a:spcPts val="0"/>
              </a:spcAft>
              <a:buClr>
                <a:srgbClr val="000000"/>
              </a:buClr>
              <a:buSzPts val="2000"/>
              <a:buFont typeface="Arial"/>
              <a:buNone/>
            </a:pPr>
            <a:r>
              <a:rPr i="0" lang="fr" sz="2000" u="none" cap="none" strike="noStrike">
                <a:latin typeface="Roboto Mono ExtraLight"/>
                <a:ea typeface="Roboto Mono ExtraLight"/>
                <a:cs typeface="Roboto Mono ExtraLight"/>
                <a:sym typeface="Roboto Mono ExtraLight"/>
              </a:rPr>
              <a:t>❯ dig txt dns.google. +short</a:t>
            </a:r>
            <a:endParaRPr i="0" sz="2000" u="none" cap="none" strike="noStrike">
              <a:latin typeface="Roboto Mono ExtraLight"/>
              <a:ea typeface="Roboto Mono ExtraLight"/>
              <a:cs typeface="Roboto Mono ExtraLight"/>
              <a:sym typeface="Roboto Mono ExtraLight"/>
            </a:endParaRPr>
          </a:p>
          <a:p>
            <a:pPr indent="0" lvl="0" marL="0" marR="0" rtl="0" algn="l">
              <a:lnSpc>
                <a:spcPct val="100000"/>
              </a:lnSpc>
              <a:spcBef>
                <a:spcPts val="0"/>
              </a:spcBef>
              <a:spcAft>
                <a:spcPts val="0"/>
              </a:spcAft>
              <a:buClr>
                <a:srgbClr val="000000"/>
              </a:buClr>
              <a:buSzPts val="2000"/>
              <a:buFont typeface="Arial"/>
              <a:buNone/>
            </a:pPr>
            <a:r>
              <a:rPr i="0" lang="fr" sz="2000" u="none" cap="none" strike="noStrike">
                <a:latin typeface="Roboto Mono ExtraLight"/>
                <a:ea typeface="Roboto Mono ExtraLight"/>
                <a:cs typeface="Roboto Mono ExtraLight"/>
                <a:sym typeface="Roboto Mono ExtraLight"/>
              </a:rPr>
              <a:t>"https://xkcd.com/1361/"</a:t>
            </a:r>
            <a:endParaRPr i="0" sz="2000" u="none" cap="none" strike="noStrike">
              <a:latin typeface="Roboto Mono ExtraLight"/>
              <a:ea typeface="Roboto Mono ExtraLight"/>
              <a:cs typeface="Roboto Mono ExtraLight"/>
              <a:sym typeface="Roboto Mono ExtraLight"/>
            </a:endParaRPr>
          </a:p>
          <a:p>
            <a:pPr indent="0" lvl="0" marL="0" marR="0" rtl="0" algn="l">
              <a:lnSpc>
                <a:spcPct val="100000"/>
              </a:lnSpc>
              <a:spcBef>
                <a:spcPts val="0"/>
              </a:spcBef>
              <a:spcAft>
                <a:spcPts val="0"/>
              </a:spcAft>
              <a:buClr>
                <a:srgbClr val="000000"/>
              </a:buClr>
              <a:buSzPts val="2000"/>
              <a:buFont typeface="Arial"/>
              <a:buNone/>
            </a:pPr>
            <a:r>
              <a:rPr i="0" lang="fr" sz="2000" u="none" cap="none" strike="noStrike">
                <a:latin typeface="Roboto Mono ExtraLight"/>
                <a:ea typeface="Roboto Mono ExtraLight"/>
                <a:cs typeface="Roboto Mono ExtraLight"/>
                <a:sym typeface="Roboto Mono ExtraLight"/>
              </a:rPr>
              <a:t>"v=spf1 -all"</a:t>
            </a:r>
            <a:endParaRPr i="0" sz="2000" u="none" cap="none" strike="noStrike">
              <a:latin typeface="Roboto Mono ExtraLight"/>
              <a:ea typeface="Roboto Mono ExtraLight"/>
              <a:cs typeface="Roboto Mono ExtraLight"/>
              <a:sym typeface="Roboto Mono Extra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